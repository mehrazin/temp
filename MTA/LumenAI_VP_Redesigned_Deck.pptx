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Manager
Core message:
Open with the business outcome, not the model details. Lumen AI is a decisioning framework that learns from past customer journeys and uses that learning to guide future channel decisions.
Suggested talk track:
“The reason we are bringing this to the VP level is simple: today, channel assignment is still largely rule-based. We already have strong product-propensity capabilities through PRISM, but the channel decision — how to reach the customer — has not been optimized to the same degree. Lumen AI fills that gap. It has two connected lenses. First, it learns from historical touchpoints to understand channel contribution. Second, it turns that learning into next-best-channel recommendations for channels we can actually control. In historical simulation, the optimized mix is different from BAU and shows model-estimated conversion opportunity. We will frame that carefully as expected uplift, not realized lift, because live validation is still required.”
Transition:
“Before we show the recommendation engine, we first need to explain what the system learns from historical journeys.”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Nozenin
Core message:
This slide explains the diagnostic modeling value without going too technical. It also prepares the audience for why Paid Search, SEO, Display, and other journey signals may belong in diagnostic learning even if they are not recommended as outbound actions.
Suggested talk track:
“The first lens of Lumen AI is diagnostic. It helps us understand what happened historically across the full customer journey. This is important because raw channel performance can be misleading. For example, if Leads has a high conversion rate, that may partly be because Leads was assigned to customers who were already high-propensity. So we should not simply compare raw response rates and call that channel impact. Lumen AI combines customer context, PRISM propensity, historical touchpoints, and outcomes to build a more credible view of channel contribution. This diagnostic view can include signals like Paid Search, SEO, Display, Web, and other touchpoints. Some of these are not channels we would assign to an individual customer in an outbound campaign, but they are still valuable signals for understanding the journey.”
Transition:
“Once we learn from the full historical journey, the second question becomes: which channels can we actually control and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Vandot
Core message:
This slide makes the predictive scope clear. The model may learn from many touchpoints, but the optimizer should recommend only controllable customer-level actions. This directly addresses why Paid Search is useful diagnostically but not usually a next-best outbound channel.
Suggested talk track:
“The second lens is the decision lens. Here, we have to separate signals we observe from actions we can choose. Paid Search, SEO, Display, Web visits, and customer reactions can help the model understand historical journeys. But they are not always customer-level actions that TD can assign in the same way as email, direct mail, Leads, phone, mobile placements, or branch prompts. So the recommendation layer focuses on controllable channels. For each customer, we score the candidate channels, then the optimizer assigns channels while respecting business constraints, such as a Leads capacity cap. The output is a customer-level recommended channel, a constrained channel plan, and an expected impact versus BAU.”
Transition:
“Now that the scope is clear, the last slide shows what changes when we apply this logic to historical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Mehrazin
Core message:
This is the results and impact slide. Keep it business-focused: the channel mix changes, the constrained optimizer makes the output operationally usable, and the expected conversion impact is model-estimated from historical data.
Suggested talk track:
“This is the main results slide. On the left, we compare the current BAU channel mix against the optimizer output. The unconstrained scenario shows the model’s preferred allocation when we do not impose operational limits. The constrained scenario shows the more practical version where we respect business constraints, such as a Leads cap. The key message is that Lumen AI does not simply copy BAU; it recommends a different, more personalized channel mix. On the right, we translate the model-estimated lift into expected conversion impact. We should be careful with the wording here: this is not a live A/B-test result yet. It is a historical simulation. So the correct statement is that the optimized allocation is expected to improve conversion based on model-estimated lift, and it should be validated through live deployment or a champion/challenger test.”
Close:
“The ask from leadership is to support moving this from prototype to controlled validation, focused on controllable channels where TD can take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19456"/>
            <a:ext cx="11430000" cy="438912"/>
          </a:xfrm>
          <a:prstGeom prst="rect">
            <a:avLst/>
          </a:prstGeom>
          <a:noFill/>
          <a:ln/>
        </p:spPr>
        <p:txBody>
          <a:bodyPr wrap="square" lIns="0" tIns="0" rIns="0" bIns="0" rtlCol="0" anchor="ctr">
            <a:normAutofit/>
          </a:bodyPr>
          <a:lstStyle/>
          <a:p>
            <a:pPr indent="0" marL="0">
              <a:buNone/>
            </a:pPr>
            <a:r>
              <a:rPr lang="en-US" sz="2800" b="1" dirty="0">
                <a:solidFill>
                  <a:srgbClr val="004225"/>
                </a:solidFill>
                <a:latin typeface="Arial" pitchFamily="34" charset="0"/>
                <a:ea typeface="Arial" pitchFamily="34" charset="-122"/>
                <a:cs typeface="Arial" pitchFamily="34" charset="-120"/>
              </a:rPr>
              <a:t>Lumen AI: From Attribution to Channel Decisioning</a:t>
            </a:r>
            <a:endParaRPr lang="en-US" sz="2800" dirty="0"/>
          </a:p>
        </p:txBody>
      </p:sp>
      <p:sp>
        <p:nvSpPr>
          <p:cNvPr id="3" name="Text 1"/>
          <p:cNvSpPr/>
          <p:nvPr/>
        </p:nvSpPr>
        <p:spPr>
          <a:xfrm>
            <a:off x="329184" y="768096"/>
            <a:ext cx="9601200" cy="228600"/>
          </a:xfrm>
          <a:prstGeom prst="rect">
            <a:avLst/>
          </a:prstGeom>
          <a:noFill/>
          <a:ln/>
        </p:spPr>
        <p:txBody>
          <a:bodyPr wrap="square" lIns="0" tIns="0" rIns="0" bIns="0" rtlCol="0" anchor="ctr"/>
          <a:lstStyle/>
          <a:p>
            <a:pPr indent="0" marL="0">
              <a:buNone/>
            </a:pPr>
            <a:r>
              <a:rPr lang="en-US" sz="1400" dirty="0">
                <a:solidFill>
                  <a:srgbClr val="6B7280"/>
                </a:solidFill>
              </a:rPr>
              <a:t>Executive overview</a:t>
            </a:r>
            <a:endParaRPr lang="en-US" sz="1400" dirty="0"/>
          </a:p>
        </p:txBody>
      </p:sp>
      <p:sp>
        <p:nvSpPr>
          <p:cNvPr id="4" name="Shape 2"/>
          <p:cNvSpPr/>
          <p:nvPr/>
        </p:nvSpPr>
        <p:spPr>
          <a:xfrm>
            <a:off x="320040" y="1078992"/>
            <a:ext cx="11567160" cy="0"/>
          </a:xfrm>
          <a:prstGeom prst="line">
            <a:avLst/>
          </a:prstGeom>
          <a:noFill/>
          <a:ln w="12700">
            <a:solidFill>
              <a:srgbClr val="D7DED9"/>
            </a:solidFill>
            <a:prstDash val="solid"/>
          </a:ln>
        </p:spPr>
      </p:sp>
      <p:sp>
        <p:nvSpPr>
          <p:cNvPr id="5" name="Text 3"/>
          <p:cNvSpPr/>
          <p:nvPr/>
        </p:nvSpPr>
        <p:spPr>
          <a:xfrm>
            <a:off x="329184" y="6510528"/>
            <a:ext cx="3657600" cy="182880"/>
          </a:xfrm>
          <a:prstGeom prst="rect">
            <a:avLst/>
          </a:prstGeom>
          <a:noFill/>
          <a:ln/>
        </p:spPr>
        <p:txBody>
          <a:bodyPr wrap="square" lIns="0" tIns="0" rIns="0" bIns="0" rtlCol="0" anchor="ctr"/>
          <a:lstStyle/>
          <a:p>
            <a:pPr indent="0" marL="0">
              <a:buNone/>
            </a:pPr>
            <a:r>
              <a:rPr lang="en-US" sz="850" dirty="0">
                <a:solidFill>
                  <a:srgbClr val="6B7280"/>
                </a:solidFill>
              </a:rPr>
              <a:t>Presenter: Manager</a:t>
            </a:r>
            <a:endParaRPr lang="en-US" sz="850" dirty="0"/>
          </a:p>
        </p:txBody>
      </p:sp>
      <p:sp>
        <p:nvSpPr>
          <p:cNvPr id="6" name="Text 4"/>
          <p:cNvSpPr/>
          <p:nvPr/>
        </p:nvSpPr>
        <p:spPr>
          <a:xfrm>
            <a:off x="10927080" y="6510528"/>
            <a:ext cx="914400" cy="182880"/>
          </a:xfrm>
          <a:prstGeom prst="rect">
            <a:avLst/>
          </a:prstGeom>
          <a:noFill/>
          <a:ln/>
        </p:spPr>
        <p:txBody>
          <a:bodyPr wrap="square" lIns="0" tIns="0" rIns="0" bIns="0" rtlCol="0" anchor="ctr"/>
          <a:lstStyle/>
          <a:p>
            <a:pPr algn="r" indent="0" marL="0">
              <a:buNone/>
            </a:pPr>
            <a:r>
              <a:rPr lang="en-US" sz="850" dirty="0">
                <a:solidFill>
                  <a:srgbClr val="6B7280"/>
                </a:solidFill>
              </a:rPr>
              <a:t>Slide 1 of 4</a:t>
            </a:r>
            <a:endParaRPr lang="en-US" sz="850" dirty="0"/>
          </a:p>
        </p:txBody>
      </p:sp>
      <p:sp>
        <p:nvSpPr>
          <p:cNvPr id="7" name="Shape 5"/>
          <p:cNvSpPr/>
          <p:nvPr/>
        </p:nvSpPr>
        <p:spPr>
          <a:xfrm>
            <a:off x="384048" y="1417320"/>
            <a:ext cx="3063240" cy="3566160"/>
          </a:xfrm>
          <a:prstGeom prst="roundRect">
            <a:avLst>
              <a:gd name="adj" fmla="val 3582"/>
            </a:avLst>
          </a:prstGeom>
          <a:solidFill>
            <a:srgbClr val="FAFAFA"/>
          </a:solidFill>
          <a:ln w="12700">
            <a:solidFill>
              <a:srgbClr val="D7DED9"/>
            </a:solidFill>
            <a:prstDash val="solid"/>
          </a:ln>
          <a:effectLst>
            <a:outerShdw sx="100000" sy="100000" kx="0" ky="0" algn="bl" rotWithShape="0" blurRad="12700" dist="50800" dir="2700000">
              <a:srgbClr val="B9C5BE">
                <a:alpha val="12000"/>
              </a:srgbClr>
            </a:outerShdw>
          </a:effectLst>
        </p:spPr>
      </p:sp>
      <p:sp>
        <p:nvSpPr>
          <p:cNvPr id="8" name="Shape 6"/>
          <p:cNvSpPr/>
          <p:nvPr/>
        </p:nvSpPr>
        <p:spPr>
          <a:xfrm>
            <a:off x="658368" y="1627632"/>
            <a:ext cx="411480" cy="411480"/>
          </a:xfrm>
          <a:prstGeom prst="ellipse">
            <a:avLst/>
          </a:prstGeom>
          <a:solidFill>
            <a:srgbClr val="ECEFED"/>
          </a:solidFill>
          <a:ln w="12700">
            <a:solidFill>
              <a:srgbClr val="6B7280"/>
            </a:solidFill>
            <a:prstDash val="solid"/>
          </a:ln>
        </p:spPr>
      </p:sp>
      <p:sp>
        <p:nvSpPr>
          <p:cNvPr id="9" name="Text 7"/>
          <p:cNvSpPr/>
          <p:nvPr/>
        </p:nvSpPr>
        <p:spPr>
          <a:xfrm>
            <a:off x="658368" y="1664665"/>
            <a:ext cx="411480" cy="329184"/>
          </a:xfrm>
          <a:prstGeom prst="rect">
            <a:avLst/>
          </a:prstGeom>
          <a:noFill/>
          <a:ln/>
        </p:spPr>
        <p:txBody>
          <a:bodyPr wrap="square" lIns="0" tIns="0" rIns="0" bIns="0" rtlCol="0" anchor="ctr"/>
          <a:lstStyle/>
          <a:p>
            <a:pPr algn="ctr" indent="0" marL="0">
              <a:buNone/>
            </a:pPr>
            <a:r>
              <a:rPr lang="en-US" sz="990" b="1" dirty="0">
                <a:solidFill>
                  <a:srgbClr val="6B7280"/>
                </a:solidFill>
              </a:rPr>
              <a:t>1</a:t>
            </a:r>
            <a:endParaRPr lang="en-US" sz="990" dirty="0"/>
          </a:p>
        </p:txBody>
      </p:sp>
      <p:sp>
        <p:nvSpPr>
          <p:cNvPr id="10" name="Text 8"/>
          <p:cNvSpPr/>
          <p:nvPr/>
        </p:nvSpPr>
        <p:spPr>
          <a:xfrm>
            <a:off x="1143000" y="1673352"/>
            <a:ext cx="1828800" cy="201168"/>
          </a:xfrm>
          <a:prstGeom prst="rect">
            <a:avLst/>
          </a:prstGeom>
          <a:noFill/>
          <a:ln/>
        </p:spPr>
        <p:txBody>
          <a:bodyPr wrap="square" lIns="0" tIns="0" rIns="0" bIns="0" rtlCol="0" anchor="ctr"/>
          <a:lstStyle/>
          <a:p>
            <a:pPr indent="0" marL="0">
              <a:buNone/>
            </a:pPr>
            <a:r>
              <a:rPr lang="en-US" sz="1400" b="1" dirty="0">
                <a:solidFill>
                  <a:srgbClr val="1D1D1F"/>
                </a:solidFill>
              </a:rPr>
              <a:t>Current state (BAU)</a:t>
            </a:r>
            <a:endParaRPr lang="en-US" sz="1400" dirty="0"/>
          </a:p>
        </p:txBody>
      </p:sp>
      <p:sp>
        <p:nvSpPr>
          <p:cNvPr id="11" name="Shape 9"/>
          <p:cNvSpPr/>
          <p:nvPr/>
        </p:nvSpPr>
        <p:spPr>
          <a:xfrm>
            <a:off x="640080" y="2103120"/>
            <a:ext cx="2560320" cy="0"/>
          </a:xfrm>
          <a:prstGeom prst="line">
            <a:avLst/>
          </a:prstGeom>
          <a:noFill/>
          <a:ln w="12700">
            <a:solidFill>
              <a:srgbClr val="D7DED9"/>
            </a:solidFill>
            <a:prstDash val="solid"/>
          </a:ln>
        </p:spPr>
      </p:sp>
      <p:sp>
        <p:nvSpPr>
          <p:cNvPr id="12" name="Shape 10"/>
          <p:cNvSpPr/>
          <p:nvPr/>
        </p:nvSpPr>
        <p:spPr>
          <a:xfrm>
            <a:off x="658368" y="2487168"/>
            <a:ext cx="64008" cy="64008"/>
          </a:xfrm>
          <a:prstGeom prst="ellipse">
            <a:avLst/>
          </a:prstGeom>
          <a:solidFill>
            <a:srgbClr val="6B7280"/>
          </a:solidFill>
          <a:ln w="12700">
            <a:solidFill>
              <a:srgbClr val="6B7280">
                <a:alpha val="0"/>
              </a:srgbClr>
            </a:solidFill>
            <a:prstDash val="solid"/>
          </a:ln>
        </p:spPr>
      </p:sp>
      <p:sp>
        <p:nvSpPr>
          <p:cNvPr id="13" name="Text 11"/>
          <p:cNvSpPr/>
          <p:nvPr/>
        </p:nvSpPr>
        <p:spPr>
          <a:xfrm>
            <a:off x="813816" y="2423160"/>
            <a:ext cx="2286000" cy="411480"/>
          </a:xfrm>
          <a:prstGeom prst="rect">
            <a:avLst/>
          </a:prstGeom>
          <a:noFill/>
          <a:ln/>
        </p:spPr>
        <p:txBody>
          <a:bodyPr wrap="square" lIns="0" tIns="0" rIns="0" bIns="0" rtlCol="0" anchor="ctr">
            <a:normAutofit/>
          </a:bodyPr>
          <a:lstStyle/>
          <a:p>
            <a:pPr indent="0" marL="0">
              <a:buNone/>
            </a:pPr>
            <a:r>
              <a:rPr lang="en-US" sz="1100" dirty="0">
                <a:solidFill>
                  <a:srgbClr val="1D1D1F"/>
                </a:solidFill>
              </a:rPr>
              <a:t>Channel assignment is largely rule-based</a:t>
            </a:r>
            <a:endParaRPr lang="en-US" sz="1100" dirty="0"/>
          </a:p>
        </p:txBody>
      </p:sp>
      <p:sp>
        <p:nvSpPr>
          <p:cNvPr id="14" name="Shape 12"/>
          <p:cNvSpPr/>
          <p:nvPr/>
        </p:nvSpPr>
        <p:spPr>
          <a:xfrm>
            <a:off x="658368" y="3218688"/>
            <a:ext cx="64008" cy="64008"/>
          </a:xfrm>
          <a:prstGeom prst="ellipse">
            <a:avLst/>
          </a:prstGeom>
          <a:solidFill>
            <a:srgbClr val="6B7280"/>
          </a:solidFill>
          <a:ln w="12700">
            <a:solidFill>
              <a:srgbClr val="6B7280">
                <a:alpha val="0"/>
              </a:srgbClr>
            </a:solidFill>
            <a:prstDash val="solid"/>
          </a:ln>
        </p:spPr>
      </p:sp>
      <p:sp>
        <p:nvSpPr>
          <p:cNvPr id="15" name="Text 13"/>
          <p:cNvSpPr/>
          <p:nvPr/>
        </p:nvSpPr>
        <p:spPr>
          <a:xfrm>
            <a:off x="813816" y="3154680"/>
            <a:ext cx="2331720" cy="411480"/>
          </a:xfrm>
          <a:prstGeom prst="rect">
            <a:avLst/>
          </a:prstGeom>
          <a:noFill/>
          <a:ln/>
        </p:spPr>
        <p:txBody>
          <a:bodyPr wrap="square" lIns="0" tIns="0" rIns="0" bIns="0" rtlCol="0" anchor="ctr">
            <a:normAutofit/>
          </a:bodyPr>
          <a:lstStyle/>
          <a:p>
            <a:pPr indent="0" marL="0">
              <a:buNone/>
            </a:pPr>
            <a:r>
              <a:rPr lang="en-US" sz="1100" dirty="0">
                <a:solidFill>
                  <a:srgbClr val="1D1D1F"/>
                </a:solidFill>
              </a:rPr>
              <a:t>Broad customer groups receive similar treatment</a:t>
            </a:r>
            <a:endParaRPr lang="en-US" sz="1100" dirty="0"/>
          </a:p>
        </p:txBody>
      </p:sp>
      <p:sp>
        <p:nvSpPr>
          <p:cNvPr id="16" name="Shape 14"/>
          <p:cNvSpPr/>
          <p:nvPr/>
        </p:nvSpPr>
        <p:spPr>
          <a:xfrm>
            <a:off x="658368" y="3950208"/>
            <a:ext cx="64008" cy="64008"/>
          </a:xfrm>
          <a:prstGeom prst="ellipse">
            <a:avLst/>
          </a:prstGeom>
          <a:solidFill>
            <a:srgbClr val="6B7280"/>
          </a:solidFill>
          <a:ln w="12700">
            <a:solidFill>
              <a:srgbClr val="6B7280">
                <a:alpha val="0"/>
              </a:srgbClr>
            </a:solidFill>
            <a:prstDash val="solid"/>
          </a:ln>
        </p:spPr>
      </p:sp>
      <p:sp>
        <p:nvSpPr>
          <p:cNvPr id="17" name="Text 15"/>
          <p:cNvSpPr/>
          <p:nvPr/>
        </p:nvSpPr>
        <p:spPr>
          <a:xfrm>
            <a:off x="813816" y="3886200"/>
            <a:ext cx="2331720" cy="411480"/>
          </a:xfrm>
          <a:prstGeom prst="rect">
            <a:avLst/>
          </a:prstGeom>
          <a:noFill/>
          <a:ln/>
        </p:spPr>
        <p:txBody>
          <a:bodyPr wrap="square" lIns="0" tIns="0" rIns="0" bIns="0" rtlCol="0" anchor="ctr">
            <a:normAutofit/>
          </a:bodyPr>
          <a:lstStyle/>
          <a:p>
            <a:pPr indent="0" marL="0">
              <a:buNone/>
            </a:pPr>
            <a:r>
              <a:rPr lang="en-US" sz="1100" dirty="0">
                <a:solidFill>
                  <a:srgbClr val="1D1D1F"/>
                </a:solidFill>
              </a:rPr>
              <a:t>Limited use of customer journey evidence</a:t>
            </a:r>
            <a:endParaRPr lang="en-US" sz="1100" dirty="0"/>
          </a:p>
        </p:txBody>
      </p:sp>
      <p:sp>
        <p:nvSpPr>
          <p:cNvPr id="18" name="Shape 16"/>
          <p:cNvSpPr/>
          <p:nvPr/>
        </p:nvSpPr>
        <p:spPr>
          <a:xfrm>
            <a:off x="3611880" y="2971800"/>
            <a:ext cx="411480" cy="365760"/>
          </a:xfrm>
          <a:prstGeom prst="rightArrow">
            <a:avLst/>
          </a:prstGeom>
          <a:solidFill>
            <a:srgbClr val="006A4E"/>
          </a:solidFill>
          <a:ln w="12700">
            <a:solidFill>
              <a:srgbClr val="006A4E">
                <a:alpha val="0"/>
              </a:srgbClr>
            </a:solidFill>
            <a:prstDash val="solid"/>
          </a:ln>
        </p:spPr>
      </p:sp>
      <p:sp>
        <p:nvSpPr>
          <p:cNvPr id="19" name="Shape 17"/>
          <p:cNvSpPr/>
          <p:nvPr/>
        </p:nvSpPr>
        <p:spPr>
          <a:xfrm>
            <a:off x="4251960" y="1261872"/>
            <a:ext cx="3703320" cy="3886200"/>
          </a:xfrm>
          <a:prstGeom prst="roundRect">
            <a:avLst>
              <a:gd name="adj" fmla="val 2963"/>
            </a:avLst>
          </a:prstGeom>
          <a:solidFill>
            <a:srgbClr val="F4FAF6"/>
          </a:solidFill>
          <a:ln w="12700">
            <a:solidFill>
              <a:srgbClr val="006A4E"/>
            </a:solidFill>
            <a:prstDash val="solid"/>
          </a:ln>
          <a:effectLst>
            <a:outerShdw sx="100000" sy="100000" kx="0" ky="0" algn="bl" rotWithShape="0" blurRad="12700" dist="50800" dir="2700000">
              <a:srgbClr val="B9C5BE">
                <a:alpha val="12000"/>
              </a:srgbClr>
            </a:outerShdw>
          </a:effectLst>
        </p:spPr>
      </p:sp>
      <p:sp>
        <p:nvSpPr>
          <p:cNvPr id="20" name="Shape 18"/>
          <p:cNvSpPr/>
          <p:nvPr/>
        </p:nvSpPr>
        <p:spPr>
          <a:xfrm>
            <a:off x="4617720" y="1481328"/>
            <a:ext cx="502920" cy="502920"/>
          </a:xfrm>
          <a:prstGeom prst="ellipse">
            <a:avLst/>
          </a:prstGeom>
          <a:solidFill>
            <a:srgbClr val="DDEFE4"/>
          </a:solidFill>
          <a:ln w="12700">
            <a:solidFill>
              <a:srgbClr val="006A4E"/>
            </a:solidFill>
            <a:prstDash val="solid"/>
          </a:ln>
        </p:spPr>
      </p:sp>
      <p:sp>
        <p:nvSpPr>
          <p:cNvPr id="21" name="Text 19"/>
          <p:cNvSpPr/>
          <p:nvPr/>
        </p:nvSpPr>
        <p:spPr>
          <a:xfrm>
            <a:off x="4617720" y="1526591"/>
            <a:ext cx="502920" cy="402336"/>
          </a:xfrm>
          <a:prstGeom prst="rect">
            <a:avLst/>
          </a:prstGeom>
          <a:noFill/>
          <a:ln/>
        </p:spPr>
        <p:txBody>
          <a:bodyPr wrap="square" lIns="0" tIns="0" rIns="0" bIns="0" rtlCol="0" anchor="ctr"/>
          <a:lstStyle/>
          <a:p>
            <a:pPr algn="ctr" indent="0" marL="0">
              <a:buNone/>
            </a:pPr>
            <a:r>
              <a:rPr lang="en-US" sz="1210" b="1" dirty="0">
                <a:solidFill>
                  <a:srgbClr val="006A4E"/>
                </a:solidFill>
              </a:rPr>
              <a:t>✦</a:t>
            </a:r>
            <a:endParaRPr lang="en-US" sz="1210" dirty="0"/>
          </a:p>
        </p:txBody>
      </p:sp>
      <p:sp>
        <p:nvSpPr>
          <p:cNvPr id="22" name="Text 20"/>
          <p:cNvSpPr/>
          <p:nvPr/>
        </p:nvSpPr>
        <p:spPr>
          <a:xfrm>
            <a:off x="5285232" y="1572768"/>
            <a:ext cx="1554480" cy="256032"/>
          </a:xfrm>
          <a:prstGeom prst="rect">
            <a:avLst/>
          </a:prstGeom>
          <a:noFill/>
          <a:ln/>
        </p:spPr>
        <p:txBody>
          <a:bodyPr wrap="square" lIns="0" tIns="0" rIns="0" bIns="0" rtlCol="0" anchor="ctr"/>
          <a:lstStyle/>
          <a:p>
            <a:pPr indent="0" marL="0">
              <a:buNone/>
            </a:pPr>
            <a:r>
              <a:rPr lang="en-US" sz="1800" b="1" dirty="0">
                <a:solidFill>
                  <a:srgbClr val="004225"/>
                </a:solidFill>
              </a:rPr>
              <a:t>Lumen AI</a:t>
            </a:r>
            <a:endParaRPr lang="en-US" sz="1800" dirty="0"/>
          </a:p>
        </p:txBody>
      </p:sp>
      <p:sp>
        <p:nvSpPr>
          <p:cNvPr id="23" name="Text 21"/>
          <p:cNvSpPr/>
          <p:nvPr/>
        </p:nvSpPr>
        <p:spPr>
          <a:xfrm>
            <a:off x="5285232" y="1901952"/>
            <a:ext cx="1920240" cy="164592"/>
          </a:xfrm>
          <a:prstGeom prst="rect">
            <a:avLst/>
          </a:prstGeom>
          <a:noFill/>
          <a:ln/>
        </p:spPr>
        <p:txBody>
          <a:bodyPr wrap="square" lIns="0" tIns="0" rIns="0" bIns="0" rtlCol="0" anchor="ctr"/>
          <a:lstStyle/>
          <a:p>
            <a:pPr indent="0" marL="0">
              <a:buNone/>
            </a:pPr>
            <a:r>
              <a:rPr lang="en-US" sz="950" dirty="0">
                <a:solidFill>
                  <a:srgbClr val="6B7280"/>
                </a:solidFill>
              </a:rPr>
              <a:t>Two connected lenses</a:t>
            </a:r>
            <a:endParaRPr lang="en-US" sz="950" dirty="0"/>
          </a:p>
        </p:txBody>
      </p:sp>
      <p:sp>
        <p:nvSpPr>
          <p:cNvPr id="24" name="Shape 22"/>
          <p:cNvSpPr/>
          <p:nvPr/>
        </p:nvSpPr>
        <p:spPr>
          <a:xfrm>
            <a:off x="4526280" y="2240280"/>
            <a:ext cx="1508760" cy="1298448"/>
          </a:xfrm>
          <a:prstGeom prst="roundRect">
            <a:avLst>
              <a:gd name="adj" fmla="val 8451"/>
            </a:avLst>
          </a:prstGeom>
          <a:solidFill>
            <a:srgbClr val="FFFFFF"/>
          </a:solidFill>
          <a:ln w="12700">
            <a:solidFill>
              <a:srgbClr val="B5D2BF"/>
            </a:solidFill>
            <a:prstDash val="solid"/>
          </a:ln>
        </p:spPr>
      </p:sp>
      <p:sp>
        <p:nvSpPr>
          <p:cNvPr id="25" name="Text 23"/>
          <p:cNvSpPr/>
          <p:nvPr/>
        </p:nvSpPr>
        <p:spPr>
          <a:xfrm>
            <a:off x="4617720" y="2395728"/>
            <a:ext cx="1325880" cy="137160"/>
          </a:xfrm>
          <a:prstGeom prst="rect">
            <a:avLst/>
          </a:prstGeom>
          <a:noFill/>
          <a:ln/>
        </p:spPr>
        <p:txBody>
          <a:bodyPr wrap="square" lIns="0" tIns="0" rIns="0" bIns="0" rtlCol="0" anchor="ctr"/>
          <a:lstStyle/>
          <a:p>
            <a:pPr algn="ctr" indent="0" marL="0">
              <a:buNone/>
            </a:pPr>
            <a:r>
              <a:rPr lang="en-US" sz="800" b="1" dirty="0">
                <a:solidFill>
                  <a:srgbClr val="6B7280"/>
                </a:solidFill>
              </a:rPr>
              <a:t>LEARN</a:t>
            </a:r>
            <a:endParaRPr lang="en-US" sz="800" dirty="0"/>
          </a:p>
        </p:txBody>
      </p:sp>
      <p:sp>
        <p:nvSpPr>
          <p:cNvPr id="26" name="Text 24"/>
          <p:cNvSpPr/>
          <p:nvPr/>
        </p:nvSpPr>
        <p:spPr>
          <a:xfrm>
            <a:off x="4617720" y="2670048"/>
            <a:ext cx="1325880" cy="228600"/>
          </a:xfrm>
          <a:prstGeom prst="rect">
            <a:avLst/>
          </a:prstGeom>
          <a:noFill/>
          <a:ln/>
        </p:spPr>
        <p:txBody>
          <a:bodyPr wrap="square" lIns="0" tIns="0" rIns="0" bIns="0" rtlCol="0" anchor="ctr">
            <a:normAutofit/>
          </a:bodyPr>
          <a:lstStyle/>
          <a:p>
            <a:pPr algn="ctr" indent="0" marL="0">
              <a:buNone/>
            </a:pPr>
            <a:r>
              <a:rPr lang="en-US" sz="1100" b="1" dirty="0">
                <a:solidFill>
                  <a:srgbClr val="006A4E"/>
                </a:solidFill>
              </a:rPr>
              <a:t>Diagnostic attribution</a:t>
            </a:r>
            <a:endParaRPr lang="en-US" sz="1100" dirty="0"/>
          </a:p>
        </p:txBody>
      </p:sp>
      <p:sp>
        <p:nvSpPr>
          <p:cNvPr id="27" name="Text 25"/>
          <p:cNvSpPr/>
          <p:nvPr/>
        </p:nvSpPr>
        <p:spPr>
          <a:xfrm>
            <a:off x="4617720" y="2990088"/>
            <a:ext cx="1325880" cy="320040"/>
          </a:xfrm>
          <a:prstGeom prst="rect">
            <a:avLst/>
          </a:prstGeom>
          <a:noFill/>
          <a:ln/>
        </p:spPr>
        <p:txBody>
          <a:bodyPr wrap="square" lIns="0" tIns="0" rIns="0" bIns="0" rtlCol="0" anchor="ctr">
            <a:normAutofit/>
          </a:bodyPr>
          <a:lstStyle/>
          <a:p>
            <a:pPr algn="ctr" indent="0" marL="0">
              <a:buNone/>
            </a:pPr>
            <a:r>
              <a:rPr lang="en-US" sz="750" dirty="0">
                <a:solidFill>
                  <a:srgbClr val="1D1D1F"/>
                </a:solidFill>
              </a:rPr>
              <a:t>Understand historical touchpoints and channel contribution</a:t>
            </a:r>
            <a:endParaRPr lang="en-US" sz="750" dirty="0"/>
          </a:p>
        </p:txBody>
      </p:sp>
      <p:sp>
        <p:nvSpPr>
          <p:cNvPr id="28" name="Shape 26"/>
          <p:cNvSpPr/>
          <p:nvPr/>
        </p:nvSpPr>
        <p:spPr>
          <a:xfrm>
            <a:off x="6144768" y="2697480"/>
            <a:ext cx="320040" cy="256032"/>
          </a:xfrm>
          <a:prstGeom prst="rightArrow">
            <a:avLst/>
          </a:prstGeom>
          <a:solidFill>
            <a:srgbClr val="006A4E"/>
          </a:solidFill>
          <a:ln w="12700">
            <a:solidFill>
              <a:srgbClr val="006A4E">
                <a:alpha val="0"/>
              </a:srgbClr>
            </a:solidFill>
            <a:prstDash val="solid"/>
          </a:ln>
        </p:spPr>
      </p:sp>
      <p:sp>
        <p:nvSpPr>
          <p:cNvPr id="29" name="Shape 27"/>
          <p:cNvSpPr/>
          <p:nvPr/>
        </p:nvSpPr>
        <p:spPr>
          <a:xfrm>
            <a:off x="6537960" y="2240280"/>
            <a:ext cx="1143000" cy="1298448"/>
          </a:xfrm>
          <a:prstGeom prst="roundRect">
            <a:avLst>
              <a:gd name="adj" fmla="val 9600"/>
            </a:avLst>
          </a:prstGeom>
          <a:solidFill>
            <a:srgbClr val="FFFFFF"/>
          </a:solidFill>
          <a:ln w="12700">
            <a:solidFill>
              <a:srgbClr val="B5D2BF"/>
            </a:solidFill>
            <a:prstDash val="solid"/>
          </a:ln>
        </p:spPr>
      </p:sp>
      <p:sp>
        <p:nvSpPr>
          <p:cNvPr id="30" name="Text 28"/>
          <p:cNvSpPr/>
          <p:nvPr/>
        </p:nvSpPr>
        <p:spPr>
          <a:xfrm>
            <a:off x="6629400" y="2395728"/>
            <a:ext cx="960120" cy="137160"/>
          </a:xfrm>
          <a:prstGeom prst="rect">
            <a:avLst/>
          </a:prstGeom>
          <a:noFill/>
          <a:ln/>
        </p:spPr>
        <p:txBody>
          <a:bodyPr wrap="square" lIns="0" tIns="0" rIns="0" bIns="0" rtlCol="0" anchor="ctr"/>
          <a:lstStyle/>
          <a:p>
            <a:pPr algn="ctr" indent="0" marL="0">
              <a:buNone/>
            </a:pPr>
            <a:r>
              <a:rPr lang="en-US" sz="800" b="1" dirty="0">
                <a:solidFill>
                  <a:srgbClr val="6B7280"/>
                </a:solidFill>
              </a:rPr>
              <a:t>GUIDE</a:t>
            </a:r>
            <a:endParaRPr lang="en-US" sz="800" dirty="0"/>
          </a:p>
        </p:txBody>
      </p:sp>
      <p:sp>
        <p:nvSpPr>
          <p:cNvPr id="31" name="Text 29"/>
          <p:cNvSpPr/>
          <p:nvPr/>
        </p:nvSpPr>
        <p:spPr>
          <a:xfrm>
            <a:off x="6629400" y="2633472"/>
            <a:ext cx="960120" cy="320040"/>
          </a:xfrm>
          <a:prstGeom prst="rect">
            <a:avLst/>
          </a:prstGeom>
          <a:noFill/>
          <a:ln/>
        </p:spPr>
        <p:txBody>
          <a:bodyPr wrap="square" lIns="0" tIns="0" rIns="0" bIns="0" rtlCol="0" anchor="ctr">
            <a:normAutofit/>
          </a:bodyPr>
          <a:lstStyle/>
          <a:p>
            <a:pPr algn="ctr" indent="0" marL="0">
              <a:buNone/>
            </a:pPr>
            <a:r>
              <a:rPr lang="en-US" sz="1050" b="1" dirty="0">
                <a:solidFill>
                  <a:srgbClr val="006A4E"/>
                </a:solidFill>
              </a:rPr>
              <a:t>Decision optimization</a:t>
            </a:r>
            <a:endParaRPr lang="en-US" sz="1050" dirty="0"/>
          </a:p>
        </p:txBody>
      </p:sp>
      <p:sp>
        <p:nvSpPr>
          <p:cNvPr id="32" name="Text 30"/>
          <p:cNvSpPr/>
          <p:nvPr/>
        </p:nvSpPr>
        <p:spPr>
          <a:xfrm>
            <a:off x="6629400" y="3017520"/>
            <a:ext cx="960120" cy="320040"/>
          </a:xfrm>
          <a:prstGeom prst="rect">
            <a:avLst/>
          </a:prstGeom>
          <a:noFill/>
          <a:ln/>
        </p:spPr>
        <p:txBody>
          <a:bodyPr wrap="square" lIns="0" tIns="0" rIns="0" bIns="0" rtlCol="0" anchor="ctr">
            <a:normAutofit/>
          </a:bodyPr>
          <a:lstStyle/>
          <a:p>
            <a:pPr algn="ctr" indent="0" marL="0">
              <a:buNone/>
            </a:pPr>
            <a:r>
              <a:rPr lang="en-US" sz="750" dirty="0">
                <a:solidFill>
                  <a:srgbClr val="1D1D1F"/>
                </a:solidFill>
              </a:rPr>
              <a:t>Recommend controllable channels under constraints</a:t>
            </a:r>
            <a:endParaRPr lang="en-US" sz="750" dirty="0"/>
          </a:p>
        </p:txBody>
      </p:sp>
      <p:sp>
        <p:nvSpPr>
          <p:cNvPr id="33" name="Shape 31"/>
          <p:cNvSpPr/>
          <p:nvPr/>
        </p:nvSpPr>
        <p:spPr>
          <a:xfrm>
            <a:off x="4709160" y="3858768"/>
            <a:ext cx="2697480" cy="0"/>
          </a:xfrm>
          <a:prstGeom prst="line">
            <a:avLst/>
          </a:prstGeom>
          <a:noFill/>
          <a:ln w="16510">
            <a:solidFill>
              <a:srgbClr val="006A4E"/>
            </a:solidFill>
            <a:prstDash val="solid"/>
            <a:headEnd type="none"/>
            <a:tailEnd type="triangle"/>
          </a:ln>
        </p:spPr>
      </p:sp>
      <p:sp>
        <p:nvSpPr>
          <p:cNvPr id="34" name="Shape 32"/>
          <p:cNvSpPr/>
          <p:nvPr/>
        </p:nvSpPr>
        <p:spPr>
          <a:xfrm>
            <a:off x="4645152" y="3685032"/>
            <a:ext cx="347472" cy="347472"/>
          </a:xfrm>
          <a:prstGeom prst="ellipse">
            <a:avLst/>
          </a:prstGeom>
          <a:solidFill>
            <a:srgbClr val="006A4E"/>
          </a:solidFill>
          <a:ln w="12700">
            <a:solidFill>
              <a:srgbClr val="006A4E"/>
            </a:solidFill>
            <a:prstDash val="solid"/>
          </a:ln>
        </p:spPr>
      </p:sp>
      <p:sp>
        <p:nvSpPr>
          <p:cNvPr id="35" name="Text 33"/>
          <p:cNvSpPr/>
          <p:nvPr/>
        </p:nvSpPr>
        <p:spPr>
          <a:xfrm>
            <a:off x="4480560" y="4096512"/>
            <a:ext cx="685800" cy="137160"/>
          </a:xfrm>
          <a:prstGeom prst="rect">
            <a:avLst/>
          </a:prstGeom>
          <a:noFill/>
          <a:ln/>
        </p:spPr>
        <p:txBody>
          <a:bodyPr wrap="square" lIns="0" tIns="0" rIns="0" bIns="0" rtlCol="0" anchor="ctr"/>
          <a:lstStyle/>
          <a:p>
            <a:pPr algn="ctr" indent="0" marL="0">
              <a:buNone/>
            </a:pPr>
            <a:r>
              <a:rPr lang="en-US" sz="750" dirty="0">
                <a:solidFill>
                  <a:srgbClr val="6B7280"/>
                </a:solidFill>
              </a:rPr>
              <a:t>Data</a:t>
            </a:r>
            <a:endParaRPr lang="en-US" sz="750" dirty="0"/>
          </a:p>
        </p:txBody>
      </p:sp>
      <p:sp>
        <p:nvSpPr>
          <p:cNvPr id="36" name="Shape 34"/>
          <p:cNvSpPr/>
          <p:nvPr/>
        </p:nvSpPr>
        <p:spPr>
          <a:xfrm>
            <a:off x="5806440" y="3685032"/>
            <a:ext cx="347472" cy="347472"/>
          </a:xfrm>
          <a:prstGeom prst="ellipse">
            <a:avLst/>
          </a:prstGeom>
          <a:solidFill>
            <a:srgbClr val="006A4E"/>
          </a:solidFill>
          <a:ln w="12700">
            <a:solidFill>
              <a:srgbClr val="006A4E"/>
            </a:solidFill>
            <a:prstDash val="solid"/>
          </a:ln>
        </p:spPr>
      </p:sp>
      <p:sp>
        <p:nvSpPr>
          <p:cNvPr id="37" name="Text 35"/>
          <p:cNvSpPr/>
          <p:nvPr/>
        </p:nvSpPr>
        <p:spPr>
          <a:xfrm>
            <a:off x="5641848" y="4096512"/>
            <a:ext cx="685800" cy="137160"/>
          </a:xfrm>
          <a:prstGeom prst="rect">
            <a:avLst/>
          </a:prstGeom>
          <a:noFill/>
          <a:ln/>
        </p:spPr>
        <p:txBody>
          <a:bodyPr wrap="square" lIns="0" tIns="0" rIns="0" bIns="0" rtlCol="0" anchor="ctr"/>
          <a:lstStyle/>
          <a:p>
            <a:pPr algn="ctr" indent="0" marL="0">
              <a:buNone/>
            </a:pPr>
            <a:r>
              <a:rPr lang="en-US" sz="750" dirty="0">
                <a:solidFill>
                  <a:srgbClr val="6B7280"/>
                </a:solidFill>
              </a:rPr>
              <a:t>Model</a:t>
            </a:r>
            <a:endParaRPr lang="en-US" sz="750" dirty="0"/>
          </a:p>
        </p:txBody>
      </p:sp>
      <p:sp>
        <p:nvSpPr>
          <p:cNvPr id="38" name="Shape 36"/>
          <p:cNvSpPr/>
          <p:nvPr/>
        </p:nvSpPr>
        <p:spPr>
          <a:xfrm>
            <a:off x="6995160" y="3685032"/>
            <a:ext cx="347472" cy="347472"/>
          </a:xfrm>
          <a:prstGeom prst="ellipse">
            <a:avLst/>
          </a:prstGeom>
          <a:solidFill>
            <a:srgbClr val="006A4E"/>
          </a:solidFill>
          <a:ln w="12700">
            <a:solidFill>
              <a:srgbClr val="006A4E"/>
            </a:solidFill>
            <a:prstDash val="solid"/>
          </a:ln>
        </p:spPr>
      </p:sp>
      <p:sp>
        <p:nvSpPr>
          <p:cNvPr id="39" name="Text 37"/>
          <p:cNvSpPr/>
          <p:nvPr/>
        </p:nvSpPr>
        <p:spPr>
          <a:xfrm>
            <a:off x="6830568" y="4096512"/>
            <a:ext cx="685800" cy="137160"/>
          </a:xfrm>
          <a:prstGeom prst="rect">
            <a:avLst/>
          </a:prstGeom>
          <a:noFill/>
          <a:ln/>
        </p:spPr>
        <p:txBody>
          <a:bodyPr wrap="square" lIns="0" tIns="0" rIns="0" bIns="0" rtlCol="0" anchor="ctr"/>
          <a:lstStyle/>
          <a:p>
            <a:pPr algn="ctr" indent="0" marL="0">
              <a:buNone/>
            </a:pPr>
            <a:r>
              <a:rPr lang="en-US" sz="750" dirty="0">
                <a:solidFill>
                  <a:srgbClr val="6B7280"/>
                </a:solidFill>
              </a:rPr>
              <a:t>Decision</a:t>
            </a:r>
            <a:endParaRPr lang="en-US" sz="750" dirty="0"/>
          </a:p>
        </p:txBody>
      </p:sp>
      <p:sp>
        <p:nvSpPr>
          <p:cNvPr id="40" name="Shape 38"/>
          <p:cNvSpPr/>
          <p:nvPr/>
        </p:nvSpPr>
        <p:spPr>
          <a:xfrm>
            <a:off x="8138160" y="2971800"/>
            <a:ext cx="411480" cy="365760"/>
          </a:xfrm>
          <a:prstGeom prst="rightArrow">
            <a:avLst/>
          </a:prstGeom>
          <a:solidFill>
            <a:srgbClr val="006A4E"/>
          </a:solidFill>
          <a:ln w="12700">
            <a:solidFill>
              <a:srgbClr val="006A4E">
                <a:alpha val="0"/>
              </a:srgbClr>
            </a:solidFill>
            <a:prstDash val="solid"/>
          </a:ln>
        </p:spPr>
      </p:sp>
      <p:sp>
        <p:nvSpPr>
          <p:cNvPr id="41" name="Shape 39"/>
          <p:cNvSpPr/>
          <p:nvPr/>
        </p:nvSpPr>
        <p:spPr>
          <a:xfrm>
            <a:off x="8796528" y="1417320"/>
            <a:ext cx="2999232" cy="3566160"/>
          </a:xfrm>
          <a:prstGeom prst="roundRect">
            <a:avLst>
              <a:gd name="adj" fmla="val 3659"/>
            </a:avLst>
          </a:prstGeom>
          <a:solidFill>
            <a:srgbClr val="F4FAF6"/>
          </a:solidFill>
          <a:ln w="12700">
            <a:solidFill>
              <a:srgbClr val="C6DACD"/>
            </a:solidFill>
            <a:prstDash val="solid"/>
          </a:ln>
          <a:effectLst>
            <a:outerShdw sx="100000" sy="100000" kx="0" ky="0" algn="bl" rotWithShape="0" blurRad="12700" dist="50800" dir="2700000">
              <a:srgbClr val="B9C5BE">
                <a:alpha val="12000"/>
              </a:srgbClr>
            </a:outerShdw>
          </a:effectLst>
        </p:spPr>
      </p:sp>
      <p:sp>
        <p:nvSpPr>
          <p:cNvPr id="42" name="Shape 40"/>
          <p:cNvSpPr/>
          <p:nvPr/>
        </p:nvSpPr>
        <p:spPr>
          <a:xfrm>
            <a:off x="9070848" y="1627632"/>
            <a:ext cx="411480" cy="411480"/>
          </a:xfrm>
          <a:prstGeom prst="ellipse">
            <a:avLst/>
          </a:prstGeom>
          <a:solidFill>
            <a:srgbClr val="DDEFE4"/>
          </a:solidFill>
          <a:ln w="12700">
            <a:solidFill>
              <a:srgbClr val="006A4E"/>
            </a:solidFill>
            <a:prstDash val="solid"/>
          </a:ln>
        </p:spPr>
      </p:sp>
      <p:sp>
        <p:nvSpPr>
          <p:cNvPr id="43" name="Text 41"/>
          <p:cNvSpPr/>
          <p:nvPr/>
        </p:nvSpPr>
        <p:spPr>
          <a:xfrm>
            <a:off x="9070848" y="1664665"/>
            <a:ext cx="411480" cy="329184"/>
          </a:xfrm>
          <a:prstGeom prst="rect">
            <a:avLst/>
          </a:prstGeom>
          <a:noFill/>
          <a:ln/>
        </p:spPr>
        <p:txBody>
          <a:bodyPr wrap="square" lIns="0" tIns="0" rIns="0" bIns="0" rtlCol="0" anchor="ctr"/>
          <a:lstStyle/>
          <a:p>
            <a:pPr algn="ctr" indent="0" marL="0">
              <a:buNone/>
            </a:pPr>
            <a:r>
              <a:rPr lang="en-US" sz="990" b="1" dirty="0">
                <a:solidFill>
                  <a:srgbClr val="006A4E"/>
                </a:solidFill>
              </a:rPr>
              <a:t>✓</a:t>
            </a:r>
            <a:endParaRPr lang="en-US" sz="990" dirty="0"/>
          </a:p>
        </p:txBody>
      </p:sp>
      <p:sp>
        <p:nvSpPr>
          <p:cNvPr id="44" name="Text 42"/>
          <p:cNvSpPr/>
          <p:nvPr/>
        </p:nvSpPr>
        <p:spPr>
          <a:xfrm>
            <a:off x="9555480" y="1673352"/>
            <a:ext cx="1737360" cy="201168"/>
          </a:xfrm>
          <a:prstGeom prst="rect">
            <a:avLst/>
          </a:prstGeom>
          <a:noFill/>
          <a:ln/>
        </p:spPr>
        <p:txBody>
          <a:bodyPr wrap="square" lIns="0" tIns="0" rIns="0" bIns="0" rtlCol="0" anchor="ctr"/>
          <a:lstStyle/>
          <a:p>
            <a:pPr indent="0" marL="0">
              <a:buNone/>
            </a:pPr>
            <a:r>
              <a:rPr lang="en-US" sz="1400" b="1" dirty="0">
                <a:solidFill>
                  <a:srgbClr val="006A4E"/>
                </a:solidFill>
              </a:rPr>
              <a:t>Future state</a:t>
            </a:r>
            <a:endParaRPr lang="en-US" sz="1400" dirty="0"/>
          </a:p>
        </p:txBody>
      </p:sp>
      <p:sp>
        <p:nvSpPr>
          <p:cNvPr id="45" name="Shape 43"/>
          <p:cNvSpPr/>
          <p:nvPr/>
        </p:nvSpPr>
        <p:spPr>
          <a:xfrm>
            <a:off x="9052560" y="2103120"/>
            <a:ext cx="2514600" cy="0"/>
          </a:xfrm>
          <a:prstGeom prst="line">
            <a:avLst/>
          </a:prstGeom>
          <a:noFill/>
          <a:ln w="12700">
            <a:solidFill>
              <a:srgbClr val="BAD5C3"/>
            </a:solidFill>
            <a:prstDash val="solid"/>
          </a:ln>
        </p:spPr>
      </p:sp>
      <p:sp>
        <p:nvSpPr>
          <p:cNvPr id="46" name="Shape 44"/>
          <p:cNvSpPr/>
          <p:nvPr/>
        </p:nvSpPr>
        <p:spPr>
          <a:xfrm>
            <a:off x="9098280" y="2459736"/>
            <a:ext cx="64008" cy="64008"/>
          </a:xfrm>
          <a:prstGeom prst="ellipse">
            <a:avLst/>
          </a:prstGeom>
          <a:solidFill>
            <a:srgbClr val="006A4E"/>
          </a:solidFill>
          <a:ln w="12700">
            <a:solidFill>
              <a:srgbClr val="006A4E">
                <a:alpha val="0"/>
              </a:srgbClr>
            </a:solidFill>
            <a:prstDash val="solid"/>
          </a:ln>
        </p:spPr>
      </p:sp>
      <p:sp>
        <p:nvSpPr>
          <p:cNvPr id="47" name="Text 45"/>
          <p:cNvSpPr/>
          <p:nvPr/>
        </p:nvSpPr>
        <p:spPr>
          <a:xfrm>
            <a:off x="9253728" y="2395728"/>
            <a:ext cx="2240280" cy="320040"/>
          </a:xfrm>
          <a:prstGeom prst="rect">
            <a:avLst/>
          </a:prstGeom>
          <a:noFill/>
          <a:ln/>
        </p:spPr>
        <p:txBody>
          <a:bodyPr wrap="square" lIns="0" tIns="0" rIns="0" bIns="0" rtlCol="0" anchor="ctr">
            <a:normAutofit/>
          </a:bodyPr>
          <a:lstStyle/>
          <a:p>
            <a:pPr indent="0" marL="0">
              <a:buNone/>
            </a:pPr>
            <a:r>
              <a:rPr lang="en-US" sz="1100" dirty="0">
                <a:solidFill>
                  <a:srgbClr val="1D1D1F"/>
                </a:solidFill>
              </a:rPr>
              <a:t>Personalized channel recommendations</a:t>
            </a:r>
            <a:endParaRPr lang="en-US" sz="1100" dirty="0"/>
          </a:p>
        </p:txBody>
      </p:sp>
      <p:sp>
        <p:nvSpPr>
          <p:cNvPr id="48" name="Shape 46"/>
          <p:cNvSpPr/>
          <p:nvPr/>
        </p:nvSpPr>
        <p:spPr>
          <a:xfrm>
            <a:off x="9098280" y="3108960"/>
            <a:ext cx="64008" cy="64008"/>
          </a:xfrm>
          <a:prstGeom prst="ellipse">
            <a:avLst/>
          </a:prstGeom>
          <a:solidFill>
            <a:srgbClr val="006A4E"/>
          </a:solidFill>
          <a:ln w="12700">
            <a:solidFill>
              <a:srgbClr val="006A4E">
                <a:alpha val="0"/>
              </a:srgbClr>
            </a:solidFill>
            <a:prstDash val="solid"/>
          </a:ln>
        </p:spPr>
      </p:sp>
      <p:sp>
        <p:nvSpPr>
          <p:cNvPr id="49" name="Text 47"/>
          <p:cNvSpPr/>
          <p:nvPr/>
        </p:nvSpPr>
        <p:spPr>
          <a:xfrm>
            <a:off x="9253728" y="3044952"/>
            <a:ext cx="2240280" cy="411480"/>
          </a:xfrm>
          <a:prstGeom prst="rect">
            <a:avLst/>
          </a:prstGeom>
          <a:noFill/>
          <a:ln/>
        </p:spPr>
        <p:txBody>
          <a:bodyPr wrap="square" lIns="0" tIns="0" rIns="0" bIns="0" rtlCol="0" anchor="ctr">
            <a:normAutofit/>
          </a:bodyPr>
          <a:lstStyle/>
          <a:p>
            <a:pPr indent="0" marL="0">
              <a:buNone/>
            </a:pPr>
            <a:r>
              <a:rPr lang="en-US" sz="1100" dirty="0">
                <a:solidFill>
                  <a:srgbClr val="1D1D1F"/>
                </a:solidFill>
              </a:rPr>
              <a:t>Channel allocation can respect business constraints</a:t>
            </a:r>
            <a:endParaRPr lang="en-US" sz="1100" dirty="0"/>
          </a:p>
        </p:txBody>
      </p:sp>
      <p:sp>
        <p:nvSpPr>
          <p:cNvPr id="50" name="Shape 48"/>
          <p:cNvSpPr/>
          <p:nvPr/>
        </p:nvSpPr>
        <p:spPr>
          <a:xfrm>
            <a:off x="9098280" y="3858768"/>
            <a:ext cx="64008" cy="64008"/>
          </a:xfrm>
          <a:prstGeom prst="ellipse">
            <a:avLst/>
          </a:prstGeom>
          <a:solidFill>
            <a:srgbClr val="006A4E"/>
          </a:solidFill>
          <a:ln w="12700">
            <a:solidFill>
              <a:srgbClr val="006A4E">
                <a:alpha val="0"/>
              </a:srgbClr>
            </a:solidFill>
            <a:prstDash val="solid"/>
          </a:ln>
        </p:spPr>
      </p:sp>
      <p:sp>
        <p:nvSpPr>
          <p:cNvPr id="51" name="Text 49"/>
          <p:cNvSpPr/>
          <p:nvPr/>
        </p:nvSpPr>
        <p:spPr>
          <a:xfrm>
            <a:off x="9253728" y="3794760"/>
            <a:ext cx="2240280" cy="411480"/>
          </a:xfrm>
          <a:prstGeom prst="rect">
            <a:avLst/>
          </a:prstGeom>
          <a:noFill/>
          <a:ln/>
        </p:spPr>
        <p:txBody>
          <a:bodyPr wrap="square" lIns="0" tIns="0" rIns="0" bIns="0" rtlCol="0" anchor="ctr">
            <a:normAutofit/>
          </a:bodyPr>
          <a:lstStyle/>
          <a:p>
            <a:pPr indent="0" marL="0">
              <a:buNone/>
            </a:pPr>
            <a:r>
              <a:rPr lang="en-US" sz="1100" dirty="0">
                <a:solidFill>
                  <a:srgbClr val="1D1D1F"/>
                </a:solidFill>
              </a:rPr>
              <a:t>Expected conversion opportunity from historical simulation</a:t>
            </a:r>
            <a:endParaRPr lang="en-US" sz="1100" dirty="0"/>
          </a:p>
        </p:txBody>
      </p:sp>
      <p:sp>
        <p:nvSpPr>
          <p:cNvPr id="52" name="Shape 50"/>
          <p:cNvSpPr/>
          <p:nvPr/>
        </p:nvSpPr>
        <p:spPr>
          <a:xfrm>
            <a:off x="384048" y="5212080"/>
            <a:ext cx="11411712" cy="457200"/>
          </a:xfrm>
          <a:prstGeom prst="roundRect">
            <a:avLst>
              <a:gd name="adj" fmla="val 24000"/>
            </a:avLst>
          </a:prstGeom>
          <a:solidFill>
            <a:srgbClr val="FFFFFF"/>
          </a:solidFill>
          <a:ln w="12700">
            <a:solidFill>
              <a:srgbClr val="006A4E"/>
            </a:solidFill>
            <a:prstDash val="solid"/>
          </a:ln>
        </p:spPr>
      </p:sp>
      <p:sp>
        <p:nvSpPr>
          <p:cNvPr id="53" name="Text 51"/>
          <p:cNvSpPr/>
          <p:nvPr/>
        </p:nvSpPr>
        <p:spPr>
          <a:xfrm>
            <a:off x="566928" y="5340096"/>
            <a:ext cx="1417320" cy="146304"/>
          </a:xfrm>
          <a:prstGeom prst="rect">
            <a:avLst/>
          </a:prstGeom>
          <a:noFill/>
          <a:ln/>
        </p:spPr>
        <p:txBody>
          <a:bodyPr wrap="square" lIns="0" tIns="0" rIns="0" bIns="0" rtlCol="0" anchor="ctr"/>
          <a:lstStyle/>
          <a:p>
            <a:pPr indent="0" marL="0">
              <a:buNone/>
            </a:pPr>
            <a:r>
              <a:rPr lang="en-US" sz="850" b="1" dirty="0">
                <a:solidFill>
                  <a:srgbClr val="6B7280"/>
                </a:solidFill>
              </a:rPr>
              <a:t>Executive headline</a:t>
            </a:r>
            <a:endParaRPr lang="en-US" sz="850" dirty="0"/>
          </a:p>
        </p:txBody>
      </p:sp>
      <p:sp>
        <p:nvSpPr>
          <p:cNvPr id="54" name="Text 52"/>
          <p:cNvSpPr/>
          <p:nvPr/>
        </p:nvSpPr>
        <p:spPr>
          <a:xfrm>
            <a:off x="2148840" y="5321808"/>
            <a:ext cx="9235440" cy="164592"/>
          </a:xfrm>
          <a:prstGeom prst="rect">
            <a:avLst/>
          </a:prstGeom>
          <a:noFill/>
          <a:ln/>
        </p:spPr>
        <p:txBody>
          <a:bodyPr wrap="square" lIns="0" tIns="0" rIns="0" bIns="0" rtlCol="0" anchor="ctr">
            <a:normAutofit/>
          </a:bodyPr>
          <a:lstStyle/>
          <a:p>
            <a:pPr indent="0" marL="0">
              <a:buNone/>
            </a:pPr>
            <a:r>
              <a:rPr lang="en-US" sz="1070" b="1" dirty="0">
                <a:solidFill>
                  <a:srgbClr val="004225"/>
                </a:solidFill>
              </a:rPr>
              <a:t>Historical simulation shows a different channel mix and model-estimated uplift vs BAU — subject to live validation.</a:t>
            </a:r>
            <a:endParaRPr lang="en-US" sz="1070" dirty="0"/>
          </a:p>
        </p:txBody>
      </p:sp>
      <p:sp>
        <p:nvSpPr>
          <p:cNvPr id="55" name="Shape 53"/>
          <p:cNvSpPr/>
          <p:nvPr/>
        </p:nvSpPr>
        <p:spPr>
          <a:xfrm>
            <a:off x="329184" y="5897880"/>
            <a:ext cx="11521440" cy="530352"/>
          </a:xfrm>
          <a:prstGeom prst="roundRect">
            <a:avLst>
              <a:gd name="adj" fmla="val 20690"/>
            </a:avLst>
          </a:prstGeom>
          <a:solidFill>
            <a:srgbClr val="004225"/>
          </a:solidFill>
          <a:ln w="12700">
            <a:solidFill>
              <a:srgbClr val="006A4E"/>
            </a:solidFill>
            <a:prstDash val="solid"/>
          </a:ln>
        </p:spPr>
      </p:sp>
      <p:sp>
        <p:nvSpPr>
          <p:cNvPr id="56" name="Text 54"/>
          <p:cNvSpPr/>
          <p:nvPr/>
        </p:nvSpPr>
        <p:spPr>
          <a:xfrm>
            <a:off x="530352" y="5998464"/>
            <a:ext cx="365760" cy="274320"/>
          </a:xfrm>
          <a:prstGeom prst="rect">
            <a:avLst/>
          </a:prstGeom>
          <a:noFill/>
          <a:ln/>
        </p:spPr>
        <p:txBody>
          <a:bodyPr wrap="square" lIns="0" tIns="0" rIns="0" bIns="0" rtlCol="0" anchor="ctr"/>
          <a:lstStyle/>
          <a:p>
            <a:pPr algn="ctr" indent="0" marL="0">
              <a:buNone/>
            </a:pPr>
            <a:r>
              <a:rPr lang="en-US" sz="1500" dirty="0">
                <a:solidFill>
                  <a:srgbClr val="FFFFFF"/>
                </a:solidFill>
              </a:rPr>
              <a:t>💡</a:t>
            </a:r>
            <a:endParaRPr lang="en-US" sz="1500" dirty="0"/>
          </a:p>
        </p:txBody>
      </p:sp>
      <p:sp>
        <p:nvSpPr>
          <p:cNvPr id="57" name="Shape 55"/>
          <p:cNvSpPr/>
          <p:nvPr/>
        </p:nvSpPr>
        <p:spPr>
          <a:xfrm>
            <a:off x="1051560" y="5980176"/>
            <a:ext cx="0" cy="365760"/>
          </a:xfrm>
          <a:prstGeom prst="line">
            <a:avLst/>
          </a:prstGeom>
          <a:noFill/>
          <a:ln w="12700">
            <a:solidFill>
              <a:srgbClr val="9CD5B4"/>
            </a:solidFill>
            <a:prstDash val="solid"/>
          </a:ln>
        </p:spPr>
      </p:sp>
      <p:sp>
        <p:nvSpPr>
          <p:cNvPr id="58" name="Text 56"/>
          <p:cNvSpPr/>
          <p:nvPr/>
        </p:nvSpPr>
        <p:spPr>
          <a:xfrm>
            <a:off x="1234440" y="6053328"/>
            <a:ext cx="10149840" cy="182880"/>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rPr>
              <a:t>PRISM helps decide what to offer. Lumen AI helps decide how to reach the customer.</a:t>
            </a:r>
            <a:endParaRPr lang="en-US" sz="1350" dirty="0"/>
          </a:p>
        </p:txBody>
      </p:sp>
      <p:sp>
        <p:nvSpPr>
          <p:cNvPr id="59" name="Shape 57"/>
          <p:cNvSpPr/>
          <p:nvPr/>
        </p:nvSpPr>
        <p:spPr>
          <a:xfrm>
            <a:off x="320040" y="6400800"/>
            <a:ext cx="11567160" cy="0"/>
          </a:xfrm>
          <a:prstGeom prst="line">
            <a:avLst/>
          </a:prstGeom>
          <a:noFill/>
          <a:ln w="10160">
            <a:solidFill>
              <a:srgbClr val="D7DED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19456"/>
            <a:ext cx="11430000" cy="438912"/>
          </a:xfrm>
          <a:prstGeom prst="rect">
            <a:avLst/>
          </a:prstGeom>
          <a:noFill/>
          <a:ln/>
        </p:spPr>
        <p:txBody>
          <a:bodyPr wrap="square" lIns="0" tIns="0" rIns="0" bIns="0" rtlCol="0" anchor="ctr">
            <a:normAutofit/>
          </a:bodyPr>
          <a:lstStyle/>
          <a:p>
            <a:pPr indent="0" marL="0">
              <a:buNone/>
            </a:pPr>
            <a:r>
              <a:rPr lang="en-US" sz="2800" b="1" dirty="0">
                <a:solidFill>
                  <a:srgbClr val="004225"/>
                </a:solidFill>
                <a:latin typeface="Arial" pitchFamily="34" charset="0"/>
                <a:ea typeface="Arial" pitchFamily="34" charset="-122"/>
                <a:cs typeface="Arial" pitchFamily="34" charset="-120"/>
              </a:rPr>
              <a:t>Diagnostic Lens: Understanding Historical Channel Impact</a:t>
            </a:r>
            <a:endParaRPr lang="en-US" sz="2800" dirty="0"/>
          </a:p>
        </p:txBody>
      </p:sp>
      <p:sp>
        <p:nvSpPr>
          <p:cNvPr id="3" name="Text 1"/>
          <p:cNvSpPr/>
          <p:nvPr/>
        </p:nvSpPr>
        <p:spPr>
          <a:xfrm>
            <a:off x="329184" y="768096"/>
            <a:ext cx="9601200" cy="228600"/>
          </a:xfrm>
          <a:prstGeom prst="rect">
            <a:avLst/>
          </a:prstGeom>
          <a:noFill/>
          <a:ln/>
        </p:spPr>
        <p:txBody>
          <a:bodyPr wrap="square" lIns="0" tIns="0" rIns="0" bIns="0" rtlCol="0" anchor="ctr"/>
          <a:lstStyle/>
          <a:p>
            <a:pPr indent="0" marL="0">
              <a:buNone/>
            </a:pPr>
            <a:r>
              <a:rPr lang="en-US" sz="1400" dirty="0">
                <a:solidFill>
                  <a:srgbClr val="6B7280"/>
                </a:solidFill>
              </a:rPr>
              <a:t>Learning from the full customer journey</a:t>
            </a:r>
            <a:endParaRPr lang="en-US" sz="1400" dirty="0"/>
          </a:p>
        </p:txBody>
      </p:sp>
      <p:sp>
        <p:nvSpPr>
          <p:cNvPr id="4" name="Shape 2"/>
          <p:cNvSpPr/>
          <p:nvPr/>
        </p:nvSpPr>
        <p:spPr>
          <a:xfrm>
            <a:off x="320040" y="1078992"/>
            <a:ext cx="11567160" cy="0"/>
          </a:xfrm>
          <a:prstGeom prst="line">
            <a:avLst/>
          </a:prstGeom>
          <a:noFill/>
          <a:ln w="12700">
            <a:solidFill>
              <a:srgbClr val="D7DED9"/>
            </a:solidFill>
            <a:prstDash val="solid"/>
          </a:ln>
        </p:spPr>
      </p:sp>
      <p:sp>
        <p:nvSpPr>
          <p:cNvPr id="5" name="Text 3"/>
          <p:cNvSpPr/>
          <p:nvPr/>
        </p:nvSpPr>
        <p:spPr>
          <a:xfrm>
            <a:off x="329184" y="6510528"/>
            <a:ext cx="3657600" cy="182880"/>
          </a:xfrm>
          <a:prstGeom prst="rect">
            <a:avLst/>
          </a:prstGeom>
          <a:noFill/>
          <a:ln/>
        </p:spPr>
        <p:txBody>
          <a:bodyPr wrap="square" lIns="0" tIns="0" rIns="0" bIns="0" rtlCol="0" anchor="ctr"/>
          <a:lstStyle/>
          <a:p>
            <a:pPr indent="0" marL="0">
              <a:buNone/>
            </a:pPr>
            <a:r>
              <a:rPr lang="en-US" sz="850" dirty="0">
                <a:solidFill>
                  <a:srgbClr val="6B7280"/>
                </a:solidFill>
              </a:rPr>
              <a:t>Presenter: Nozenin</a:t>
            </a:r>
            <a:endParaRPr lang="en-US" sz="850" dirty="0"/>
          </a:p>
        </p:txBody>
      </p:sp>
      <p:sp>
        <p:nvSpPr>
          <p:cNvPr id="6" name="Text 4"/>
          <p:cNvSpPr/>
          <p:nvPr/>
        </p:nvSpPr>
        <p:spPr>
          <a:xfrm>
            <a:off x="10927080" y="6510528"/>
            <a:ext cx="914400" cy="182880"/>
          </a:xfrm>
          <a:prstGeom prst="rect">
            <a:avLst/>
          </a:prstGeom>
          <a:noFill/>
          <a:ln/>
        </p:spPr>
        <p:txBody>
          <a:bodyPr wrap="square" lIns="0" tIns="0" rIns="0" bIns="0" rtlCol="0" anchor="ctr"/>
          <a:lstStyle/>
          <a:p>
            <a:pPr algn="r" indent="0" marL="0">
              <a:buNone/>
            </a:pPr>
            <a:r>
              <a:rPr lang="en-US" sz="850" dirty="0">
                <a:solidFill>
                  <a:srgbClr val="6B7280"/>
                </a:solidFill>
              </a:rPr>
              <a:t>Slide 2 of 4</a:t>
            </a:r>
            <a:endParaRPr lang="en-US" sz="850" dirty="0"/>
          </a:p>
        </p:txBody>
      </p:sp>
      <p:sp>
        <p:nvSpPr>
          <p:cNvPr id="7" name="Text 5"/>
          <p:cNvSpPr/>
          <p:nvPr/>
        </p:nvSpPr>
        <p:spPr>
          <a:xfrm>
            <a:off x="457200" y="1325880"/>
            <a:ext cx="2194560" cy="274320"/>
          </a:xfrm>
          <a:prstGeom prst="rect">
            <a:avLst/>
          </a:prstGeom>
          <a:noFill/>
          <a:ln/>
        </p:spPr>
        <p:txBody>
          <a:bodyPr wrap="square" lIns="0" tIns="0" rIns="0" bIns="0" rtlCol="0" anchor="ctr"/>
          <a:lstStyle/>
          <a:p>
            <a:pPr indent="0" marL="0">
              <a:buNone/>
            </a:pPr>
            <a:r>
              <a:rPr lang="en-US" sz="1600" b="1" dirty="0">
                <a:solidFill>
                  <a:srgbClr val="004225"/>
                </a:solidFill>
              </a:rPr>
              <a:t>Why this matters</a:t>
            </a:r>
            <a:endParaRPr lang="en-US" sz="1600" dirty="0"/>
          </a:p>
        </p:txBody>
      </p:sp>
      <p:sp>
        <p:nvSpPr>
          <p:cNvPr id="8" name="Shape 6"/>
          <p:cNvSpPr/>
          <p:nvPr/>
        </p:nvSpPr>
        <p:spPr>
          <a:xfrm>
            <a:off x="457200" y="1719072"/>
            <a:ext cx="3017520" cy="2788920"/>
          </a:xfrm>
          <a:prstGeom prst="roundRect">
            <a:avLst>
              <a:gd name="adj" fmla="val 3934"/>
            </a:avLst>
          </a:prstGeom>
          <a:solidFill>
            <a:srgbClr val="FAFAFA"/>
          </a:solidFill>
          <a:ln w="12700">
            <a:solidFill>
              <a:srgbClr val="D7DED9"/>
            </a:solidFill>
            <a:prstDash val="solid"/>
          </a:ln>
          <a:effectLst>
            <a:outerShdw sx="100000" sy="100000" kx="0" ky="0" algn="bl" rotWithShape="0" blurRad="12700" dist="50800" dir="2700000">
              <a:srgbClr val="B9C5BE">
                <a:alpha val="12000"/>
              </a:srgbClr>
            </a:outerShdw>
          </a:effectLst>
        </p:spPr>
      </p:sp>
      <p:sp>
        <p:nvSpPr>
          <p:cNvPr id="9" name="Shape 7"/>
          <p:cNvSpPr/>
          <p:nvPr/>
        </p:nvSpPr>
        <p:spPr>
          <a:xfrm>
            <a:off x="713232" y="1938528"/>
            <a:ext cx="411480" cy="411480"/>
          </a:xfrm>
          <a:prstGeom prst="ellipse">
            <a:avLst/>
          </a:prstGeom>
          <a:solidFill>
            <a:srgbClr val="FFF5DE"/>
          </a:solidFill>
          <a:ln w="12700">
            <a:solidFill>
              <a:srgbClr val="F2A900"/>
            </a:solidFill>
            <a:prstDash val="solid"/>
          </a:ln>
        </p:spPr>
      </p:sp>
      <p:sp>
        <p:nvSpPr>
          <p:cNvPr id="10" name="Text 8"/>
          <p:cNvSpPr/>
          <p:nvPr/>
        </p:nvSpPr>
        <p:spPr>
          <a:xfrm>
            <a:off x="713232" y="1975561"/>
            <a:ext cx="411480" cy="329184"/>
          </a:xfrm>
          <a:prstGeom prst="rect">
            <a:avLst/>
          </a:prstGeom>
          <a:noFill/>
          <a:ln/>
        </p:spPr>
        <p:txBody>
          <a:bodyPr wrap="square" lIns="0" tIns="0" rIns="0" bIns="0" rtlCol="0" anchor="ctr"/>
          <a:lstStyle/>
          <a:p>
            <a:pPr algn="ctr" indent="0" marL="0">
              <a:buNone/>
            </a:pPr>
            <a:r>
              <a:rPr lang="en-US" sz="990" b="1" dirty="0">
                <a:solidFill>
                  <a:srgbClr val="F2A900"/>
                </a:solidFill>
              </a:rPr>
              <a:t>!</a:t>
            </a:r>
            <a:endParaRPr lang="en-US" sz="990" dirty="0"/>
          </a:p>
        </p:txBody>
      </p:sp>
      <p:sp>
        <p:nvSpPr>
          <p:cNvPr id="11" name="Text 9"/>
          <p:cNvSpPr/>
          <p:nvPr/>
        </p:nvSpPr>
        <p:spPr>
          <a:xfrm>
            <a:off x="1234440" y="1947672"/>
            <a:ext cx="1920240" cy="320040"/>
          </a:xfrm>
          <a:prstGeom prst="rect">
            <a:avLst/>
          </a:prstGeom>
          <a:noFill/>
          <a:ln/>
        </p:spPr>
        <p:txBody>
          <a:bodyPr wrap="square" lIns="0" tIns="0" rIns="0" bIns="0" rtlCol="0" anchor="ctr">
            <a:normAutofit/>
          </a:bodyPr>
          <a:lstStyle/>
          <a:p>
            <a:pPr indent="0" marL="0">
              <a:buNone/>
            </a:pPr>
            <a:r>
              <a:rPr lang="en-US" sz="1220" b="1" dirty="0">
                <a:solidFill>
                  <a:srgbClr val="1D1D1F"/>
                </a:solidFill>
              </a:rPr>
              <a:t>Raw channel performance can be misleading</a:t>
            </a:r>
            <a:endParaRPr lang="en-US" sz="1220" dirty="0"/>
          </a:p>
        </p:txBody>
      </p:sp>
      <p:sp>
        <p:nvSpPr>
          <p:cNvPr id="12" name="Shape 10"/>
          <p:cNvSpPr/>
          <p:nvPr/>
        </p:nvSpPr>
        <p:spPr>
          <a:xfrm>
            <a:off x="713232" y="2670048"/>
            <a:ext cx="64008" cy="64008"/>
          </a:xfrm>
          <a:prstGeom prst="ellipse">
            <a:avLst/>
          </a:prstGeom>
          <a:solidFill>
            <a:srgbClr val="F2A900"/>
          </a:solidFill>
          <a:ln w="12700">
            <a:solidFill>
              <a:srgbClr val="F2A900">
                <a:alpha val="0"/>
              </a:srgbClr>
            </a:solidFill>
            <a:prstDash val="solid"/>
          </a:ln>
        </p:spPr>
      </p:sp>
      <p:sp>
        <p:nvSpPr>
          <p:cNvPr id="13" name="Text 11"/>
          <p:cNvSpPr/>
          <p:nvPr/>
        </p:nvSpPr>
        <p:spPr>
          <a:xfrm>
            <a:off x="868680" y="2606040"/>
            <a:ext cx="2331720" cy="320040"/>
          </a:xfrm>
          <a:prstGeom prst="rect">
            <a:avLst/>
          </a:prstGeom>
          <a:noFill/>
          <a:ln/>
        </p:spPr>
        <p:txBody>
          <a:bodyPr wrap="square" lIns="0" tIns="0" rIns="0" bIns="0" rtlCol="0" anchor="ctr">
            <a:normAutofit/>
          </a:bodyPr>
          <a:lstStyle/>
          <a:p>
            <a:pPr indent="0" marL="0">
              <a:buNone/>
            </a:pPr>
            <a:r>
              <a:rPr lang="en-US" sz="1020" dirty="0">
                <a:solidFill>
                  <a:srgbClr val="1D1D1F"/>
                </a:solidFill>
              </a:rPr>
              <a:t>Customers are not randomly assigned to channels</a:t>
            </a:r>
            <a:endParaRPr lang="en-US" sz="1020" dirty="0"/>
          </a:p>
        </p:txBody>
      </p:sp>
      <p:sp>
        <p:nvSpPr>
          <p:cNvPr id="14" name="Shape 12"/>
          <p:cNvSpPr/>
          <p:nvPr/>
        </p:nvSpPr>
        <p:spPr>
          <a:xfrm>
            <a:off x="713232" y="3191256"/>
            <a:ext cx="64008" cy="64008"/>
          </a:xfrm>
          <a:prstGeom prst="ellipse">
            <a:avLst/>
          </a:prstGeom>
          <a:solidFill>
            <a:srgbClr val="F2A900"/>
          </a:solidFill>
          <a:ln w="12700">
            <a:solidFill>
              <a:srgbClr val="F2A900">
                <a:alpha val="0"/>
              </a:srgbClr>
            </a:solidFill>
            <a:prstDash val="solid"/>
          </a:ln>
        </p:spPr>
      </p:sp>
      <p:sp>
        <p:nvSpPr>
          <p:cNvPr id="15" name="Text 13"/>
          <p:cNvSpPr/>
          <p:nvPr/>
        </p:nvSpPr>
        <p:spPr>
          <a:xfrm>
            <a:off x="868680" y="3127248"/>
            <a:ext cx="2331720" cy="411480"/>
          </a:xfrm>
          <a:prstGeom prst="rect">
            <a:avLst/>
          </a:prstGeom>
          <a:noFill/>
          <a:ln/>
        </p:spPr>
        <p:txBody>
          <a:bodyPr wrap="square" lIns="0" tIns="0" rIns="0" bIns="0" rtlCol="0" anchor="ctr">
            <a:normAutofit/>
          </a:bodyPr>
          <a:lstStyle/>
          <a:p>
            <a:pPr indent="0" marL="0">
              <a:buNone/>
            </a:pPr>
            <a:r>
              <a:rPr lang="en-US" sz="1020" dirty="0">
                <a:solidFill>
                  <a:srgbClr val="1D1D1F"/>
                </a:solidFill>
              </a:rPr>
              <a:t>High-propensity customers often receive more expensive treatment</a:t>
            </a:r>
            <a:endParaRPr lang="en-US" sz="1020" dirty="0"/>
          </a:p>
        </p:txBody>
      </p:sp>
      <p:sp>
        <p:nvSpPr>
          <p:cNvPr id="16" name="Shape 14"/>
          <p:cNvSpPr/>
          <p:nvPr/>
        </p:nvSpPr>
        <p:spPr>
          <a:xfrm>
            <a:off x="713232" y="3794760"/>
            <a:ext cx="64008" cy="64008"/>
          </a:xfrm>
          <a:prstGeom prst="ellipse">
            <a:avLst/>
          </a:prstGeom>
          <a:solidFill>
            <a:srgbClr val="F2A900"/>
          </a:solidFill>
          <a:ln w="12700">
            <a:solidFill>
              <a:srgbClr val="F2A900">
                <a:alpha val="0"/>
              </a:srgbClr>
            </a:solidFill>
            <a:prstDash val="solid"/>
          </a:ln>
        </p:spPr>
      </p:sp>
      <p:sp>
        <p:nvSpPr>
          <p:cNvPr id="17" name="Text 15"/>
          <p:cNvSpPr/>
          <p:nvPr/>
        </p:nvSpPr>
        <p:spPr>
          <a:xfrm>
            <a:off x="868680" y="3730752"/>
            <a:ext cx="2331720" cy="457200"/>
          </a:xfrm>
          <a:prstGeom prst="rect">
            <a:avLst/>
          </a:prstGeom>
          <a:noFill/>
          <a:ln/>
        </p:spPr>
        <p:txBody>
          <a:bodyPr wrap="square" lIns="0" tIns="0" rIns="0" bIns="0" rtlCol="0" anchor="ctr">
            <a:normAutofit/>
          </a:bodyPr>
          <a:lstStyle/>
          <a:p>
            <a:pPr indent="0" marL="0">
              <a:buNone/>
            </a:pPr>
            <a:r>
              <a:rPr lang="en-US" sz="1020" dirty="0">
                <a:solidFill>
                  <a:srgbClr val="1D1D1F"/>
                </a:solidFill>
              </a:rPr>
              <a:t>Diagnostic modeling separates customer selection from channel contribution</a:t>
            </a:r>
            <a:endParaRPr lang="en-US" sz="1020" dirty="0"/>
          </a:p>
        </p:txBody>
      </p:sp>
      <p:sp>
        <p:nvSpPr>
          <p:cNvPr id="18" name="Shape 16"/>
          <p:cNvSpPr/>
          <p:nvPr/>
        </p:nvSpPr>
        <p:spPr>
          <a:xfrm>
            <a:off x="3794760" y="1325880"/>
            <a:ext cx="4526280" cy="3182112"/>
          </a:xfrm>
          <a:prstGeom prst="roundRect">
            <a:avLst>
              <a:gd name="adj" fmla="val 3448"/>
            </a:avLst>
          </a:prstGeom>
          <a:solidFill>
            <a:srgbClr val="F4FAF6"/>
          </a:solidFill>
          <a:ln w="12700">
            <a:solidFill>
              <a:srgbClr val="B5D2BF"/>
            </a:solidFill>
            <a:prstDash val="solid"/>
          </a:ln>
          <a:effectLst>
            <a:outerShdw sx="100000" sy="100000" kx="0" ky="0" algn="bl" rotWithShape="0" blurRad="12700" dist="50800" dir="2700000">
              <a:srgbClr val="B9C5BE">
                <a:alpha val="12000"/>
              </a:srgbClr>
            </a:outerShdw>
          </a:effectLst>
        </p:spPr>
      </p:sp>
      <p:sp>
        <p:nvSpPr>
          <p:cNvPr id="19" name="Text 17"/>
          <p:cNvSpPr/>
          <p:nvPr/>
        </p:nvSpPr>
        <p:spPr>
          <a:xfrm>
            <a:off x="4069080" y="1572768"/>
            <a:ext cx="1828800" cy="201168"/>
          </a:xfrm>
          <a:prstGeom prst="rect">
            <a:avLst/>
          </a:prstGeom>
          <a:noFill/>
          <a:ln/>
        </p:spPr>
        <p:txBody>
          <a:bodyPr wrap="square" lIns="0" tIns="0" rIns="0" bIns="0" rtlCol="0" anchor="ctr"/>
          <a:lstStyle/>
          <a:p>
            <a:pPr indent="0" marL="0">
              <a:buNone/>
            </a:pPr>
            <a:r>
              <a:rPr lang="en-US" sz="1400" b="1" dirty="0">
                <a:solidFill>
                  <a:srgbClr val="006A4E"/>
                </a:solidFill>
              </a:rPr>
              <a:t>Historical learning flow</a:t>
            </a:r>
            <a:endParaRPr lang="en-US" sz="1400" dirty="0"/>
          </a:p>
        </p:txBody>
      </p:sp>
      <p:sp>
        <p:nvSpPr>
          <p:cNvPr id="20" name="Shape 18"/>
          <p:cNvSpPr/>
          <p:nvPr/>
        </p:nvSpPr>
        <p:spPr>
          <a:xfrm>
            <a:off x="4069080" y="2240280"/>
            <a:ext cx="731520" cy="731520"/>
          </a:xfrm>
          <a:prstGeom prst="ellipse">
            <a:avLst/>
          </a:prstGeom>
          <a:solidFill>
            <a:srgbClr val="FFFFFF"/>
          </a:solidFill>
          <a:ln w="13970">
            <a:solidFill>
              <a:srgbClr val="006A4E"/>
            </a:solidFill>
            <a:prstDash val="solid"/>
          </a:ln>
        </p:spPr>
      </p:sp>
      <p:sp>
        <p:nvSpPr>
          <p:cNvPr id="21" name="Text 19"/>
          <p:cNvSpPr/>
          <p:nvPr/>
        </p:nvSpPr>
        <p:spPr>
          <a:xfrm>
            <a:off x="4069080" y="2386584"/>
            <a:ext cx="731520" cy="228600"/>
          </a:xfrm>
          <a:prstGeom prst="rect">
            <a:avLst/>
          </a:prstGeom>
          <a:noFill/>
          <a:ln/>
        </p:spPr>
        <p:txBody>
          <a:bodyPr wrap="square" lIns="0" tIns="0" rIns="0" bIns="0" rtlCol="0" anchor="ctr"/>
          <a:lstStyle/>
          <a:p>
            <a:pPr algn="ctr" indent="0" marL="0">
              <a:buNone/>
            </a:pPr>
            <a:r>
              <a:rPr lang="en-US" sz="1600" b="1" dirty="0">
                <a:solidFill>
                  <a:srgbClr val="006A4E"/>
                </a:solidFill>
              </a:rPr>
              <a:t>1</a:t>
            </a:r>
            <a:endParaRPr lang="en-US" sz="1600" dirty="0"/>
          </a:p>
        </p:txBody>
      </p:sp>
      <p:sp>
        <p:nvSpPr>
          <p:cNvPr id="22" name="Text 20"/>
          <p:cNvSpPr/>
          <p:nvPr/>
        </p:nvSpPr>
        <p:spPr>
          <a:xfrm>
            <a:off x="3867912" y="3127248"/>
            <a:ext cx="1143000" cy="228600"/>
          </a:xfrm>
          <a:prstGeom prst="rect">
            <a:avLst/>
          </a:prstGeom>
          <a:noFill/>
          <a:ln/>
        </p:spPr>
        <p:txBody>
          <a:bodyPr wrap="square" lIns="0" tIns="0" rIns="0" bIns="0" rtlCol="0" anchor="ctr">
            <a:normAutofit/>
          </a:bodyPr>
          <a:lstStyle/>
          <a:p>
            <a:pPr algn="ctr" indent="0" marL="0">
              <a:buNone/>
            </a:pPr>
            <a:r>
              <a:rPr lang="en-US" sz="1050" b="1" dirty="0">
                <a:solidFill>
                  <a:srgbClr val="004225"/>
                </a:solidFill>
              </a:rPr>
              <a:t>Observed touchpoints</a:t>
            </a:r>
            <a:endParaRPr lang="en-US" sz="1050" dirty="0"/>
          </a:p>
        </p:txBody>
      </p:sp>
      <p:sp>
        <p:nvSpPr>
          <p:cNvPr id="23" name="Text 21"/>
          <p:cNvSpPr/>
          <p:nvPr/>
        </p:nvSpPr>
        <p:spPr>
          <a:xfrm>
            <a:off x="3813048" y="3429000"/>
            <a:ext cx="1234440" cy="685800"/>
          </a:xfrm>
          <a:prstGeom prst="rect">
            <a:avLst/>
          </a:prstGeom>
          <a:noFill/>
          <a:ln/>
        </p:spPr>
        <p:txBody>
          <a:bodyPr wrap="square" lIns="0" tIns="0" rIns="0" bIns="0" rtlCol="0" anchor="ctr">
            <a:normAutofit/>
          </a:bodyPr>
          <a:lstStyle/>
          <a:p>
            <a:pPr algn="ctr" indent="0" marL="0">
              <a:buNone/>
            </a:pPr>
            <a:r>
              <a:rPr lang="en-US" sz="780" dirty="0">
                <a:solidFill>
                  <a:srgbClr val="6B7280"/>
                </a:solidFill>
              </a:rPr>
              <a:t>Email, Leads, Paid Search, SEO, Display, Web, Mobile, Branch</a:t>
            </a:r>
            <a:endParaRPr lang="en-US" sz="780" dirty="0"/>
          </a:p>
        </p:txBody>
      </p:sp>
      <p:sp>
        <p:nvSpPr>
          <p:cNvPr id="24" name="Shape 22"/>
          <p:cNvSpPr/>
          <p:nvPr/>
        </p:nvSpPr>
        <p:spPr>
          <a:xfrm>
            <a:off x="4873752" y="2606040"/>
            <a:ext cx="484632" cy="0"/>
          </a:xfrm>
          <a:prstGeom prst="line">
            <a:avLst/>
          </a:prstGeom>
          <a:noFill/>
          <a:ln w="17780">
            <a:solidFill>
              <a:srgbClr val="006A4E"/>
            </a:solidFill>
            <a:prstDash val="solid"/>
            <a:tailEnd type="triangle"/>
          </a:ln>
        </p:spPr>
      </p:sp>
      <p:sp>
        <p:nvSpPr>
          <p:cNvPr id="25" name="Shape 23"/>
          <p:cNvSpPr/>
          <p:nvPr/>
        </p:nvSpPr>
        <p:spPr>
          <a:xfrm>
            <a:off x="5440680" y="2240280"/>
            <a:ext cx="731520" cy="731520"/>
          </a:xfrm>
          <a:prstGeom prst="ellipse">
            <a:avLst/>
          </a:prstGeom>
          <a:solidFill>
            <a:srgbClr val="FFFFFF"/>
          </a:solidFill>
          <a:ln w="13970">
            <a:solidFill>
              <a:srgbClr val="006A4E"/>
            </a:solidFill>
            <a:prstDash val="solid"/>
          </a:ln>
        </p:spPr>
      </p:sp>
      <p:sp>
        <p:nvSpPr>
          <p:cNvPr id="26" name="Text 24"/>
          <p:cNvSpPr/>
          <p:nvPr/>
        </p:nvSpPr>
        <p:spPr>
          <a:xfrm>
            <a:off x="5440680" y="2386584"/>
            <a:ext cx="731520" cy="228600"/>
          </a:xfrm>
          <a:prstGeom prst="rect">
            <a:avLst/>
          </a:prstGeom>
          <a:noFill/>
          <a:ln/>
        </p:spPr>
        <p:txBody>
          <a:bodyPr wrap="square" lIns="0" tIns="0" rIns="0" bIns="0" rtlCol="0" anchor="ctr"/>
          <a:lstStyle/>
          <a:p>
            <a:pPr algn="ctr" indent="0" marL="0">
              <a:buNone/>
            </a:pPr>
            <a:r>
              <a:rPr lang="en-US" sz="1600" b="1" dirty="0">
                <a:solidFill>
                  <a:srgbClr val="006A4E"/>
                </a:solidFill>
              </a:rPr>
              <a:t>2</a:t>
            </a:r>
            <a:endParaRPr lang="en-US" sz="1600" dirty="0"/>
          </a:p>
        </p:txBody>
      </p:sp>
      <p:sp>
        <p:nvSpPr>
          <p:cNvPr id="27" name="Text 25"/>
          <p:cNvSpPr/>
          <p:nvPr/>
        </p:nvSpPr>
        <p:spPr>
          <a:xfrm>
            <a:off x="5239512" y="3127248"/>
            <a:ext cx="1143000" cy="228600"/>
          </a:xfrm>
          <a:prstGeom prst="rect">
            <a:avLst/>
          </a:prstGeom>
          <a:noFill/>
          <a:ln/>
        </p:spPr>
        <p:txBody>
          <a:bodyPr wrap="square" lIns="0" tIns="0" rIns="0" bIns="0" rtlCol="0" anchor="ctr">
            <a:normAutofit/>
          </a:bodyPr>
          <a:lstStyle/>
          <a:p>
            <a:pPr algn="ctr" indent="0" marL="0">
              <a:buNone/>
            </a:pPr>
            <a:r>
              <a:rPr lang="en-US" sz="1050" b="1" dirty="0">
                <a:solidFill>
                  <a:srgbClr val="004225"/>
                </a:solidFill>
              </a:rPr>
              <a:t>Customer context</a:t>
            </a:r>
            <a:endParaRPr lang="en-US" sz="1050" dirty="0"/>
          </a:p>
        </p:txBody>
      </p:sp>
      <p:sp>
        <p:nvSpPr>
          <p:cNvPr id="28" name="Text 26"/>
          <p:cNvSpPr/>
          <p:nvPr/>
        </p:nvSpPr>
        <p:spPr>
          <a:xfrm>
            <a:off x="5184648" y="3429000"/>
            <a:ext cx="1234440" cy="685800"/>
          </a:xfrm>
          <a:prstGeom prst="rect">
            <a:avLst/>
          </a:prstGeom>
          <a:noFill/>
          <a:ln/>
        </p:spPr>
        <p:txBody>
          <a:bodyPr wrap="square" lIns="0" tIns="0" rIns="0" bIns="0" rtlCol="0" anchor="ctr">
            <a:normAutofit/>
          </a:bodyPr>
          <a:lstStyle/>
          <a:p>
            <a:pPr algn="ctr" indent="0" marL="0">
              <a:buNone/>
            </a:pPr>
            <a:r>
              <a:rPr lang="en-US" sz="780" dirty="0">
                <a:solidFill>
                  <a:srgbClr val="6B7280"/>
                </a:solidFill>
              </a:rPr>
              <a:t>PRISM scores, existing card, journey history</a:t>
            </a:r>
            <a:endParaRPr lang="en-US" sz="780" dirty="0"/>
          </a:p>
        </p:txBody>
      </p:sp>
      <p:sp>
        <p:nvSpPr>
          <p:cNvPr id="29" name="Shape 27"/>
          <p:cNvSpPr/>
          <p:nvPr/>
        </p:nvSpPr>
        <p:spPr>
          <a:xfrm>
            <a:off x="6245352" y="2606040"/>
            <a:ext cx="484632" cy="0"/>
          </a:xfrm>
          <a:prstGeom prst="line">
            <a:avLst/>
          </a:prstGeom>
          <a:noFill/>
          <a:ln w="17780">
            <a:solidFill>
              <a:srgbClr val="006A4E"/>
            </a:solidFill>
            <a:prstDash val="solid"/>
            <a:tailEnd type="triangle"/>
          </a:ln>
        </p:spPr>
      </p:sp>
      <p:sp>
        <p:nvSpPr>
          <p:cNvPr id="30" name="Shape 28"/>
          <p:cNvSpPr/>
          <p:nvPr/>
        </p:nvSpPr>
        <p:spPr>
          <a:xfrm>
            <a:off x="6812280" y="2240280"/>
            <a:ext cx="731520" cy="731520"/>
          </a:xfrm>
          <a:prstGeom prst="ellipse">
            <a:avLst/>
          </a:prstGeom>
          <a:solidFill>
            <a:srgbClr val="006A4E"/>
          </a:solidFill>
          <a:ln w="13970">
            <a:solidFill>
              <a:srgbClr val="006A4E"/>
            </a:solidFill>
            <a:prstDash val="solid"/>
          </a:ln>
        </p:spPr>
      </p:sp>
      <p:sp>
        <p:nvSpPr>
          <p:cNvPr id="31" name="Text 29"/>
          <p:cNvSpPr/>
          <p:nvPr/>
        </p:nvSpPr>
        <p:spPr>
          <a:xfrm>
            <a:off x="6812280" y="2386584"/>
            <a:ext cx="731520" cy="2286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2" name="Text 30"/>
          <p:cNvSpPr/>
          <p:nvPr/>
        </p:nvSpPr>
        <p:spPr>
          <a:xfrm>
            <a:off x="6611112" y="3127248"/>
            <a:ext cx="1143000" cy="228600"/>
          </a:xfrm>
          <a:prstGeom prst="rect">
            <a:avLst/>
          </a:prstGeom>
          <a:noFill/>
          <a:ln/>
        </p:spPr>
        <p:txBody>
          <a:bodyPr wrap="square" lIns="0" tIns="0" rIns="0" bIns="0" rtlCol="0" anchor="ctr">
            <a:normAutofit/>
          </a:bodyPr>
          <a:lstStyle/>
          <a:p>
            <a:pPr algn="ctr" indent="0" marL="0">
              <a:buNone/>
            </a:pPr>
            <a:r>
              <a:rPr lang="en-US" sz="1050" b="1" dirty="0">
                <a:solidFill>
                  <a:srgbClr val="004225"/>
                </a:solidFill>
              </a:rPr>
              <a:t>Adjusted attribution</a:t>
            </a:r>
            <a:endParaRPr lang="en-US" sz="1050" dirty="0"/>
          </a:p>
        </p:txBody>
      </p:sp>
      <p:sp>
        <p:nvSpPr>
          <p:cNvPr id="33" name="Text 31"/>
          <p:cNvSpPr/>
          <p:nvPr/>
        </p:nvSpPr>
        <p:spPr>
          <a:xfrm>
            <a:off x="6556248" y="3429000"/>
            <a:ext cx="1234440" cy="685800"/>
          </a:xfrm>
          <a:prstGeom prst="rect">
            <a:avLst/>
          </a:prstGeom>
          <a:noFill/>
          <a:ln/>
        </p:spPr>
        <p:txBody>
          <a:bodyPr wrap="square" lIns="0" tIns="0" rIns="0" bIns="0" rtlCol="0" anchor="ctr">
            <a:normAutofit/>
          </a:bodyPr>
          <a:lstStyle/>
          <a:p>
            <a:pPr algn="ctr" indent="0" marL="0">
              <a:buNone/>
            </a:pPr>
            <a:r>
              <a:rPr lang="en-US" sz="780" dirty="0">
                <a:solidFill>
                  <a:srgbClr val="6B7280"/>
                </a:solidFill>
              </a:rPr>
              <a:t>More credible channel impact view</a:t>
            </a:r>
            <a:endParaRPr lang="en-US" sz="780" dirty="0"/>
          </a:p>
        </p:txBody>
      </p:sp>
      <p:sp>
        <p:nvSpPr>
          <p:cNvPr id="34" name="Shape 32"/>
          <p:cNvSpPr/>
          <p:nvPr/>
        </p:nvSpPr>
        <p:spPr>
          <a:xfrm>
            <a:off x="8641080" y="1325880"/>
            <a:ext cx="3063240" cy="3182112"/>
          </a:xfrm>
          <a:prstGeom prst="roundRect">
            <a:avLst>
              <a:gd name="adj" fmla="val 3582"/>
            </a:avLst>
          </a:prstGeom>
          <a:solidFill>
            <a:srgbClr val="FFFFFF"/>
          </a:solidFill>
          <a:ln w="12700">
            <a:solidFill>
              <a:srgbClr val="D7DED9"/>
            </a:solidFill>
            <a:prstDash val="solid"/>
          </a:ln>
          <a:effectLst>
            <a:outerShdw sx="100000" sy="100000" kx="0" ky="0" algn="bl" rotWithShape="0" blurRad="12700" dist="50800" dir="2700000">
              <a:srgbClr val="B9C5BE">
                <a:alpha val="12000"/>
              </a:srgbClr>
            </a:outerShdw>
          </a:effectLst>
        </p:spPr>
      </p:sp>
      <p:sp>
        <p:nvSpPr>
          <p:cNvPr id="35" name="Text 33"/>
          <p:cNvSpPr/>
          <p:nvPr/>
        </p:nvSpPr>
        <p:spPr>
          <a:xfrm>
            <a:off x="8915400" y="1572768"/>
            <a:ext cx="2194560" cy="182880"/>
          </a:xfrm>
          <a:prstGeom prst="rect">
            <a:avLst/>
          </a:prstGeom>
          <a:noFill/>
          <a:ln/>
        </p:spPr>
        <p:txBody>
          <a:bodyPr wrap="square" lIns="0" tIns="0" rIns="0" bIns="0" rtlCol="0" anchor="ctr"/>
          <a:lstStyle/>
          <a:p>
            <a:pPr indent="0" marL="0">
              <a:buNone/>
            </a:pPr>
            <a:r>
              <a:rPr lang="en-US" sz="1300" b="1" dirty="0">
                <a:solidFill>
                  <a:srgbClr val="004225"/>
                </a:solidFill>
              </a:rPr>
              <a:t>Example diagnostic signal</a:t>
            </a:r>
            <a:endParaRPr lang="en-US" sz="1300" dirty="0"/>
          </a:p>
        </p:txBody>
      </p:sp>
      <p:sp>
        <p:nvSpPr>
          <p:cNvPr id="36" name="Text 34"/>
          <p:cNvSpPr/>
          <p:nvPr/>
        </p:nvSpPr>
        <p:spPr>
          <a:xfrm>
            <a:off x="8915400" y="1847088"/>
            <a:ext cx="2377440" cy="310896"/>
          </a:xfrm>
          <a:prstGeom prst="rect">
            <a:avLst/>
          </a:prstGeom>
          <a:noFill/>
          <a:ln/>
        </p:spPr>
        <p:txBody>
          <a:bodyPr wrap="square" lIns="0" tIns="0" rIns="0" bIns="0" rtlCol="0" anchor="ctr">
            <a:normAutofit/>
          </a:bodyPr>
          <a:lstStyle/>
          <a:p>
            <a:pPr indent="0" marL="0">
              <a:buNone/>
            </a:pPr>
            <a:r>
              <a:rPr lang="en-US" sz="850" dirty="0">
                <a:solidFill>
                  <a:srgbClr val="6B7280"/>
                </a:solidFill>
              </a:rPr>
              <a:t>Leads exposure tends to be concentrated in higher-propensity customers</a:t>
            </a:r>
            <a:endParaRPr lang="en-US" sz="850" dirty="0"/>
          </a:p>
        </p:txBody>
      </p:sp>
      <p:sp>
        <p:nvSpPr>
          <p:cNvPr id="37" name="Shape 35"/>
          <p:cNvSpPr/>
          <p:nvPr/>
        </p:nvSpPr>
        <p:spPr>
          <a:xfrm>
            <a:off x="9006840" y="3840480"/>
            <a:ext cx="2423160" cy="0"/>
          </a:xfrm>
          <a:prstGeom prst="line">
            <a:avLst/>
          </a:prstGeom>
          <a:noFill/>
          <a:ln w="10160">
            <a:solidFill>
              <a:srgbClr val="AAB5AF"/>
            </a:solidFill>
            <a:prstDash val="solid"/>
          </a:ln>
        </p:spPr>
      </p:sp>
      <p:sp>
        <p:nvSpPr>
          <p:cNvPr id="38" name="Shape 36"/>
          <p:cNvSpPr/>
          <p:nvPr/>
        </p:nvSpPr>
        <p:spPr>
          <a:xfrm>
            <a:off x="9006840" y="2423160"/>
            <a:ext cx="0" cy="1417320"/>
          </a:xfrm>
          <a:prstGeom prst="line">
            <a:avLst/>
          </a:prstGeom>
          <a:noFill/>
          <a:ln w="10160">
            <a:solidFill>
              <a:srgbClr val="AAB5AF"/>
            </a:solidFill>
            <a:prstDash val="solid"/>
          </a:ln>
        </p:spPr>
      </p:sp>
      <p:sp>
        <p:nvSpPr>
          <p:cNvPr id="39" name="Shape 37"/>
          <p:cNvSpPr/>
          <p:nvPr/>
        </p:nvSpPr>
        <p:spPr>
          <a:xfrm>
            <a:off x="9235440" y="2697480"/>
            <a:ext cx="292608" cy="1143000"/>
          </a:xfrm>
          <a:prstGeom prst="rect">
            <a:avLst/>
          </a:prstGeom>
          <a:solidFill>
            <a:srgbClr val="006A4E"/>
          </a:solidFill>
          <a:ln w="12700">
            <a:solidFill>
              <a:srgbClr val="006A4E"/>
            </a:solidFill>
            <a:prstDash val="solid"/>
          </a:ln>
        </p:spPr>
      </p:sp>
      <p:sp>
        <p:nvSpPr>
          <p:cNvPr id="40" name="Text 38"/>
          <p:cNvSpPr/>
          <p:nvPr/>
        </p:nvSpPr>
        <p:spPr>
          <a:xfrm>
            <a:off x="9189720" y="3913632"/>
            <a:ext cx="384048" cy="137160"/>
          </a:xfrm>
          <a:prstGeom prst="rect">
            <a:avLst/>
          </a:prstGeom>
          <a:noFill/>
          <a:ln/>
        </p:spPr>
        <p:txBody>
          <a:bodyPr wrap="square" lIns="0" tIns="0" rIns="0" bIns="0" rtlCol="0" anchor="ctr"/>
          <a:lstStyle/>
          <a:p>
            <a:pPr algn="ctr" indent="0" marL="0">
              <a:buNone/>
            </a:pPr>
            <a:r>
              <a:rPr lang="en-US" sz="720" dirty="0">
                <a:solidFill>
                  <a:srgbClr val="6B7280"/>
                </a:solidFill>
              </a:rPr>
              <a:t>D1</a:t>
            </a:r>
            <a:endParaRPr lang="en-US" sz="720" dirty="0"/>
          </a:p>
        </p:txBody>
      </p:sp>
      <p:sp>
        <p:nvSpPr>
          <p:cNvPr id="41" name="Shape 39"/>
          <p:cNvSpPr/>
          <p:nvPr/>
        </p:nvSpPr>
        <p:spPr>
          <a:xfrm>
            <a:off x="9710928" y="2926080"/>
            <a:ext cx="292608" cy="914400"/>
          </a:xfrm>
          <a:prstGeom prst="rect">
            <a:avLst/>
          </a:prstGeom>
          <a:solidFill>
            <a:srgbClr val="006A4E"/>
          </a:solidFill>
          <a:ln w="12700">
            <a:solidFill>
              <a:srgbClr val="006A4E"/>
            </a:solidFill>
            <a:prstDash val="solid"/>
          </a:ln>
        </p:spPr>
      </p:sp>
      <p:sp>
        <p:nvSpPr>
          <p:cNvPr id="42" name="Text 40"/>
          <p:cNvSpPr/>
          <p:nvPr/>
        </p:nvSpPr>
        <p:spPr>
          <a:xfrm>
            <a:off x="9665208" y="3913632"/>
            <a:ext cx="384048" cy="137160"/>
          </a:xfrm>
          <a:prstGeom prst="rect">
            <a:avLst/>
          </a:prstGeom>
          <a:noFill/>
          <a:ln/>
        </p:spPr>
        <p:txBody>
          <a:bodyPr wrap="square" lIns="0" tIns="0" rIns="0" bIns="0" rtlCol="0" anchor="ctr"/>
          <a:lstStyle/>
          <a:p>
            <a:pPr algn="ctr" indent="0" marL="0">
              <a:buNone/>
            </a:pPr>
            <a:r>
              <a:rPr lang="en-US" sz="720" dirty="0">
                <a:solidFill>
                  <a:srgbClr val="6B7280"/>
                </a:solidFill>
              </a:rPr>
              <a:t>D2</a:t>
            </a:r>
            <a:endParaRPr lang="en-US" sz="720" dirty="0"/>
          </a:p>
        </p:txBody>
      </p:sp>
      <p:sp>
        <p:nvSpPr>
          <p:cNvPr id="43" name="Shape 41"/>
          <p:cNvSpPr/>
          <p:nvPr/>
        </p:nvSpPr>
        <p:spPr>
          <a:xfrm>
            <a:off x="10186416" y="3226118"/>
            <a:ext cx="292608" cy="614363"/>
          </a:xfrm>
          <a:prstGeom prst="rect">
            <a:avLst/>
          </a:prstGeom>
          <a:solidFill>
            <a:srgbClr val="DDEFE4"/>
          </a:solidFill>
          <a:ln w="12700">
            <a:solidFill>
              <a:srgbClr val="DDEFE4"/>
            </a:solidFill>
            <a:prstDash val="solid"/>
          </a:ln>
        </p:spPr>
      </p:sp>
      <p:sp>
        <p:nvSpPr>
          <p:cNvPr id="44" name="Text 42"/>
          <p:cNvSpPr/>
          <p:nvPr/>
        </p:nvSpPr>
        <p:spPr>
          <a:xfrm>
            <a:off x="10140696" y="3913632"/>
            <a:ext cx="384048" cy="137160"/>
          </a:xfrm>
          <a:prstGeom prst="rect">
            <a:avLst/>
          </a:prstGeom>
          <a:noFill/>
          <a:ln/>
        </p:spPr>
        <p:txBody>
          <a:bodyPr wrap="square" lIns="0" tIns="0" rIns="0" bIns="0" rtlCol="0" anchor="ctr"/>
          <a:lstStyle/>
          <a:p>
            <a:pPr algn="ctr" indent="0" marL="0">
              <a:buNone/>
            </a:pPr>
            <a:r>
              <a:rPr lang="en-US" sz="720" dirty="0">
                <a:solidFill>
                  <a:srgbClr val="6B7280"/>
                </a:solidFill>
              </a:rPr>
              <a:t>D5</a:t>
            </a:r>
            <a:endParaRPr lang="en-US" sz="720" dirty="0"/>
          </a:p>
        </p:txBody>
      </p:sp>
      <p:sp>
        <p:nvSpPr>
          <p:cNvPr id="45" name="Shape 43"/>
          <p:cNvSpPr/>
          <p:nvPr/>
        </p:nvSpPr>
        <p:spPr>
          <a:xfrm>
            <a:off x="10661904" y="3469005"/>
            <a:ext cx="292608" cy="371475"/>
          </a:xfrm>
          <a:prstGeom prst="rect">
            <a:avLst/>
          </a:prstGeom>
          <a:solidFill>
            <a:srgbClr val="DDEFE4"/>
          </a:solidFill>
          <a:ln w="12700">
            <a:solidFill>
              <a:srgbClr val="DDEFE4"/>
            </a:solidFill>
            <a:prstDash val="solid"/>
          </a:ln>
        </p:spPr>
      </p:sp>
      <p:sp>
        <p:nvSpPr>
          <p:cNvPr id="46" name="Text 44"/>
          <p:cNvSpPr/>
          <p:nvPr/>
        </p:nvSpPr>
        <p:spPr>
          <a:xfrm>
            <a:off x="10616184" y="3913632"/>
            <a:ext cx="384048" cy="137160"/>
          </a:xfrm>
          <a:prstGeom prst="rect">
            <a:avLst/>
          </a:prstGeom>
          <a:noFill/>
          <a:ln/>
        </p:spPr>
        <p:txBody>
          <a:bodyPr wrap="square" lIns="0" tIns="0" rIns="0" bIns="0" rtlCol="0" anchor="ctr"/>
          <a:lstStyle/>
          <a:p>
            <a:pPr algn="ctr" indent="0" marL="0">
              <a:buNone/>
            </a:pPr>
            <a:r>
              <a:rPr lang="en-US" sz="720" dirty="0">
                <a:solidFill>
                  <a:srgbClr val="6B7280"/>
                </a:solidFill>
              </a:rPr>
              <a:t>D8</a:t>
            </a:r>
            <a:endParaRPr lang="en-US" sz="720" dirty="0"/>
          </a:p>
        </p:txBody>
      </p:sp>
      <p:sp>
        <p:nvSpPr>
          <p:cNvPr id="47" name="Shape 45"/>
          <p:cNvSpPr/>
          <p:nvPr/>
        </p:nvSpPr>
        <p:spPr>
          <a:xfrm>
            <a:off x="11137392" y="3640455"/>
            <a:ext cx="292608" cy="200025"/>
          </a:xfrm>
          <a:prstGeom prst="rect">
            <a:avLst/>
          </a:prstGeom>
          <a:solidFill>
            <a:srgbClr val="DDEFE4"/>
          </a:solidFill>
          <a:ln w="12700">
            <a:solidFill>
              <a:srgbClr val="DDEFE4"/>
            </a:solidFill>
            <a:prstDash val="solid"/>
          </a:ln>
        </p:spPr>
      </p:sp>
      <p:sp>
        <p:nvSpPr>
          <p:cNvPr id="48" name="Text 46"/>
          <p:cNvSpPr/>
          <p:nvPr/>
        </p:nvSpPr>
        <p:spPr>
          <a:xfrm>
            <a:off x="11091672" y="3913632"/>
            <a:ext cx="384048" cy="137160"/>
          </a:xfrm>
          <a:prstGeom prst="rect">
            <a:avLst/>
          </a:prstGeom>
          <a:noFill/>
          <a:ln/>
        </p:spPr>
        <p:txBody>
          <a:bodyPr wrap="square" lIns="0" tIns="0" rIns="0" bIns="0" rtlCol="0" anchor="ctr"/>
          <a:lstStyle/>
          <a:p>
            <a:pPr algn="ctr" indent="0" marL="0">
              <a:buNone/>
            </a:pPr>
            <a:r>
              <a:rPr lang="en-US" sz="720" dirty="0">
                <a:solidFill>
                  <a:srgbClr val="6B7280"/>
                </a:solidFill>
              </a:rPr>
              <a:t>D10</a:t>
            </a:r>
            <a:endParaRPr lang="en-US" sz="720" dirty="0"/>
          </a:p>
        </p:txBody>
      </p:sp>
      <p:sp>
        <p:nvSpPr>
          <p:cNvPr id="49" name="Text 47"/>
          <p:cNvSpPr/>
          <p:nvPr/>
        </p:nvSpPr>
        <p:spPr>
          <a:xfrm>
            <a:off x="9372600" y="4160520"/>
            <a:ext cx="1645920" cy="146304"/>
          </a:xfrm>
          <a:prstGeom prst="rect">
            <a:avLst/>
          </a:prstGeom>
          <a:noFill/>
          <a:ln/>
        </p:spPr>
        <p:txBody>
          <a:bodyPr wrap="square" lIns="0" tIns="0" rIns="0" bIns="0" rtlCol="0" anchor="ctr"/>
          <a:lstStyle/>
          <a:p>
            <a:pPr algn="ctr" indent="0" marL="0">
              <a:buNone/>
            </a:pPr>
            <a:r>
              <a:rPr lang="en-US" sz="780" dirty="0">
                <a:solidFill>
                  <a:srgbClr val="6B7280"/>
                </a:solidFill>
              </a:rPr>
              <a:t>PRISM propensity decile →</a:t>
            </a:r>
            <a:endParaRPr lang="en-US" sz="780" dirty="0"/>
          </a:p>
        </p:txBody>
      </p:sp>
      <p:sp>
        <p:nvSpPr>
          <p:cNvPr id="50" name="Shape 48"/>
          <p:cNvSpPr/>
          <p:nvPr/>
        </p:nvSpPr>
        <p:spPr>
          <a:xfrm>
            <a:off x="457200" y="4736592"/>
            <a:ext cx="11247120" cy="749808"/>
          </a:xfrm>
          <a:prstGeom prst="roundRect">
            <a:avLst>
              <a:gd name="adj" fmla="val 14634"/>
            </a:avLst>
          </a:prstGeom>
          <a:solidFill>
            <a:srgbClr val="FFFFFF"/>
          </a:solidFill>
          <a:ln w="12700">
            <a:solidFill>
              <a:srgbClr val="006A4E"/>
            </a:solidFill>
            <a:prstDash val="solid"/>
          </a:ln>
        </p:spPr>
      </p:sp>
      <p:sp>
        <p:nvSpPr>
          <p:cNvPr id="51" name="Text 49"/>
          <p:cNvSpPr/>
          <p:nvPr/>
        </p:nvSpPr>
        <p:spPr>
          <a:xfrm>
            <a:off x="731520" y="4928616"/>
            <a:ext cx="1508760" cy="164592"/>
          </a:xfrm>
          <a:prstGeom prst="rect">
            <a:avLst/>
          </a:prstGeom>
          <a:noFill/>
          <a:ln/>
        </p:spPr>
        <p:txBody>
          <a:bodyPr wrap="square" lIns="0" tIns="0" rIns="0" bIns="0" rtlCol="0" anchor="ctr"/>
          <a:lstStyle/>
          <a:p>
            <a:pPr indent="0" marL="0">
              <a:buNone/>
            </a:pPr>
            <a:r>
              <a:rPr lang="en-US" sz="900" b="1" dirty="0">
                <a:solidFill>
                  <a:srgbClr val="6B7280"/>
                </a:solidFill>
              </a:rPr>
              <a:t>Important distinction</a:t>
            </a:r>
            <a:endParaRPr lang="en-US" sz="900" dirty="0"/>
          </a:p>
        </p:txBody>
      </p:sp>
      <p:sp>
        <p:nvSpPr>
          <p:cNvPr id="52" name="Text 50"/>
          <p:cNvSpPr/>
          <p:nvPr/>
        </p:nvSpPr>
        <p:spPr>
          <a:xfrm>
            <a:off x="2395728" y="4882896"/>
            <a:ext cx="8915400" cy="201168"/>
          </a:xfrm>
          <a:prstGeom prst="rect">
            <a:avLst/>
          </a:prstGeom>
          <a:noFill/>
          <a:ln/>
        </p:spPr>
        <p:txBody>
          <a:bodyPr wrap="square" lIns="0" tIns="0" rIns="0" bIns="0" rtlCol="0" anchor="ctr">
            <a:normAutofit/>
          </a:bodyPr>
          <a:lstStyle/>
          <a:p>
            <a:pPr indent="0" marL="0">
              <a:buNone/>
            </a:pPr>
            <a:r>
              <a:rPr lang="en-US" sz="1060" b="1" dirty="0">
                <a:solidFill>
                  <a:srgbClr val="004225"/>
                </a:solidFill>
              </a:rPr>
              <a:t>Diagnostic modeling can use the full observed journey — including Paid Search, SEO, Display and Web — even when those channels are not customer-level actions we directly assign.</a:t>
            </a:r>
            <a:endParaRPr lang="en-US" sz="1060" dirty="0"/>
          </a:p>
        </p:txBody>
      </p:sp>
      <p:sp>
        <p:nvSpPr>
          <p:cNvPr id="53" name="Shape 51"/>
          <p:cNvSpPr/>
          <p:nvPr/>
        </p:nvSpPr>
        <p:spPr>
          <a:xfrm>
            <a:off x="329184" y="5897880"/>
            <a:ext cx="11521440" cy="530352"/>
          </a:xfrm>
          <a:prstGeom prst="roundRect">
            <a:avLst>
              <a:gd name="adj" fmla="val 20690"/>
            </a:avLst>
          </a:prstGeom>
          <a:solidFill>
            <a:srgbClr val="004225"/>
          </a:solidFill>
          <a:ln w="12700">
            <a:solidFill>
              <a:srgbClr val="006A4E"/>
            </a:solidFill>
            <a:prstDash val="solid"/>
          </a:ln>
        </p:spPr>
      </p:sp>
      <p:sp>
        <p:nvSpPr>
          <p:cNvPr id="54" name="Text 52"/>
          <p:cNvSpPr/>
          <p:nvPr/>
        </p:nvSpPr>
        <p:spPr>
          <a:xfrm>
            <a:off x="530352" y="5998464"/>
            <a:ext cx="365760" cy="274320"/>
          </a:xfrm>
          <a:prstGeom prst="rect">
            <a:avLst/>
          </a:prstGeom>
          <a:noFill/>
          <a:ln/>
        </p:spPr>
        <p:txBody>
          <a:bodyPr wrap="square" lIns="0" tIns="0" rIns="0" bIns="0" rtlCol="0" anchor="ctr"/>
          <a:lstStyle/>
          <a:p>
            <a:pPr algn="ctr" indent="0" marL="0">
              <a:buNone/>
            </a:pPr>
            <a:r>
              <a:rPr lang="en-US" sz="1500" dirty="0">
                <a:solidFill>
                  <a:srgbClr val="FFFFFF"/>
                </a:solidFill>
              </a:rPr>
              <a:t>🔎</a:t>
            </a:r>
            <a:endParaRPr lang="en-US" sz="1500" dirty="0"/>
          </a:p>
        </p:txBody>
      </p:sp>
      <p:sp>
        <p:nvSpPr>
          <p:cNvPr id="55" name="Shape 53"/>
          <p:cNvSpPr/>
          <p:nvPr/>
        </p:nvSpPr>
        <p:spPr>
          <a:xfrm>
            <a:off x="1051560" y="5980176"/>
            <a:ext cx="0" cy="365760"/>
          </a:xfrm>
          <a:prstGeom prst="line">
            <a:avLst/>
          </a:prstGeom>
          <a:noFill/>
          <a:ln w="12700">
            <a:solidFill>
              <a:srgbClr val="9CD5B4"/>
            </a:solidFill>
            <a:prstDash val="solid"/>
          </a:ln>
        </p:spPr>
      </p:sp>
      <p:sp>
        <p:nvSpPr>
          <p:cNvPr id="56" name="Text 54"/>
          <p:cNvSpPr/>
          <p:nvPr/>
        </p:nvSpPr>
        <p:spPr>
          <a:xfrm>
            <a:off x="1234440" y="6053328"/>
            <a:ext cx="10149840" cy="182880"/>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rPr>
              <a:t>Diagnostic modeling explains what we learned from historical journeys before we decide where TD can act.</a:t>
            </a:r>
            <a:endParaRPr lang="en-US" sz="1350" dirty="0"/>
          </a:p>
        </p:txBody>
      </p:sp>
      <p:sp>
        <p:nvSpPr>
          <p:cNvPr id="57" name="Shape 55"/>
          <p:cNvSpPr/>
          <p:nvPr/>
        </p:nvSpPr>
        <p:spPr>
          <a:xfrm>
            <a:off x="320040" y="6400800"/>
            <a:ext cx="11567160" cy="0"/>
          </a:xfrm>
          <a:prstGeom prst="line">
            <a:avLst/>
          </a:prstGeom>
          <a:noFill/>
          <a:ln w="10160">
            <a:solidFill>
              <a:srgbClr val="D7DED9"/>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19456"/>
            <a:ext cx="11430000" cy="438912"/>
          </a:xfrm>
          <a:prstGeom prst="rect">
            <a:avLst/>
          </a:prstGeom>
          <a:noFill/>
          <a:ln/>
        </p:spPr>
        <p:txBody>
          <a:bodyPr wrap="square" lIns="0" tIns="0" rIns="0" bIns="0" rtlCol="0" anchor="ctr">
            <a:normAutofit/>
          </a:bodyPr>
          <a:lstStyle/>
          <a:p>
            <a:pPr indent="0" marL="0">
              <a:buNone/>
            </a:pPr>
            <a:r>
              <a:rPr lang="en-US" sz="2800" b="1" dirty="0">
                <a:solidFill>
                  <a:srgbClr val="004225"/>
                </a:solidFill>
                <a:latin typeface="Arial" pitchFamily="34" charset="0"/>
                <a:ea typeface="Arial" pitchFamily="34" charset="-122"/>
                <a:cs typeface="Arial" pitchFamily="34" charset="-120"/>
              </a:rPr>
              <a:t>Decision Lens: Recommend Channels We Can Control</a:t>
            </a:r>
            <a:endParaRPr lang="en-US" sz="2800" dirty="0"/>
          </a:p>
        </p:txBody>
      </p:sp>
      <p:sp>
        <p:nvSpPr>
          <p:cNvPr id="3" name="Text 1"/>
          <p:cNvSpPr/>
          <p:nvPr/>
        </p:nvSpPr>
        <p:spPr>
          <a:xfrm>
            <a:off x="329184" y="768096"/>
            <a:ext cx="9601200" cy="228600"/>
          </a:xfrm>
          <a:prstGeom prst="rect">
            <a:avLst/>
          </a:prstGeom>
          <a:noFill/>
          <a:ln/>
        </p:spPr>
        <p:txBody>
          <a:bodyPr wrap="square" lIns="0" tIns="0" rIns="0" bIns="0" rtlCol="0" anchor="ctr"/>
          <a:lstStyle/>
          <a:p>
            <a:pPr indent="0" marL="0">
              <a:buNone/>
            </a:pPr>
            <a:r>
              <a:rPr lang="en-US" sz="1400" dirty="0">
                <a:solidFill>
                  <a:srgbClr val="6B7280"/>
                </a:solidFill>
              </a:rPr>
              <a:t>Turning historical learning into practical channel decisions</a:t>
            </a:r>
            <a:endParaRPr lang="en-US" sz="1400" dirty="0"/>
          </a:p>
        </p:txBody>
      </p:sp>
      <p:sp>
        <p:nvSpPr>
          <p:cNvPr id="4" name="Shape 2"/>
          <p:cNvSpPr/>
          <p:nvPr/>
        </p:nvSpPr>
        <p:spPr>
          <a:xfrm>
            <a:off x="320040" y="1078992"/>
            <a:ext cx="11567160" cy="0"/>
          </a:xfrm>
          <a:prstGeom prst="line">
            <a:avLst/>
          </a:prstGeom>
          <a:noFill/>
          <a:ln w="12700">
            <a:solidFill>
              <a:srgbClr val="D7DED9"/>
            </a:solidFill>
            <a:prstDash val="solid"/>
          </a:ln>
        </p:spPr>
      </p:sp>
      <p:sp>
        <p:nvSpPr>
          <p:cNvPr id="5" name="Text 3"/>
          <p:cNvSpPr/>
          <p:nvPr/>
        </p:nvSpPr>
        <p:spPr>
          <a:xfrm>
            <a:off x="329184" y="6510528"/>
            <a:ext cx="3657600" cy="182880"/>
          </a:xfrm>
          <a:prstGeom prst="rect">
            <a:avLst/>
          </a:prstGeom>
          <a:noFill/>
          <a:ln/>
        </p:spPr>
        <p:txBody>
          <a:bodyPr wrap="square" lIns="0" tIns="0" rIns="0" bIns="0" rtlCol="0" anchor="ctr"/>
          <a:lstStyle/>
          <a:p>
            <a:pPr indent="0" marL="0">
              <a:buNone/>
            </a:pPr>
            <a:r>
              <a:rPr lang="en-US" sz="850" dirty="0">
                <a:solidFill>
                  <a:srgbClr val="6B7280"/>
                </a:solidFill>
              </a:rPr>
              <a:t>Presenter: Vandot</a:t>
            </a:r>
            <a:endParaRPr lang="en-US" sz="850" dirty="0"/>
          </a:p>
        </p:txBody>
      </p:sp>
      <p:sp>
        <p:nvSpPr>
          <p:cNvPr id="6" name="Text 4"/>
          <p:cNvSpPr/>
          <p:nvPr/>
        </p:nvSpPr>
        <p:spPr>
          <a:xfrm>
            <a:off x="10927080" y="6510528"/>
            <a:ext cx="914400" cy="182880"/>
          </a:xfrm>
          <a:prstGeom prst="rect">
            <a:avLst/>
          </a:prstGeom>
          <a:noFill/>
          <a:ln/>
        </p:spPr>
        <p:txBody>
          <a:bodyPr wrap="square" lIns="0" tIns="0" rIns="0" bIns="0" rtlCol="0" anchor="ctr"/>
          <a:lstStyle/>
          <a:p>
            <a:pPr algn="r" indent="0" marL="0">
              <a:buNone/>
            </a:pPr>
            <a:r>
              <a:rPr lang="en-US" sz="850" dirty="0">
                <a:solidFill>
                  <a:srgbClr val="6B7280"/>
                </a:solidFill>
              </a:rPr>
              <a:t>Slide 3 of 4</a:t>
            </a:r>
            <a:endParaRPr lang="en-US" sz="850" dirty="0"/>
          </a:p>
        </p:txBody>
      </p:sp>
      <p:sp>
        <p:nvSpPr>
          <p:cNvPr id="7" name="Shape 5"/>
          <p:cNvSpPr/>
          <p:nvPr/>
        </p:nvSpPr>
        <p:spPr>
          <a:xfrm>
            <a:off x="502920" y="1325880"/>
            <a:ext cx="5349240" cy="2011680"/>
          </a:xfrm>
          <a:prstGeom prst="roundRect">
            <a:avLst>
              <a:gd name="adj" fmla="val 5455"/>
            </a:avLst>
          </a:prstGeom>
          <a:solidFill>
            <a:srgbClr val="FAFAFA"/>
          </a:solidFill>
          <a:ln w="12700">
            <a:solidFill>
              <a:srgbClr val="D7DED9"/>
            </a:solidFill>
            <a:prstDash val="solid"/>
          </a:ln>
          <a:effectLst>
            <a:outerShdw sx="100000" sy="100000" kx="0" ky="0" algn="bl" rotWithShape="0" blurRad="12700" dist="50800" dir="2700000">
              <a:srgbClr val="B9C5BE">
                <a:alpha val="12000"/>
              </a:srgbClr>
            </a:outerShdw>
          </a:effectLst>
        </p:spPr>
      </p:sp>
      <p:sp>
        <p:nvSpPr>
          <p:cNvPr id="8" name="Text 6"/>
          <p:cNvSpPr/>
          <p:nvPr/>
        </p:nvSpPr>
        <p:spPr>
          <a:xfrm>
            <a:off x="777240" y="1600200"/>
            <a:ext cx="1920240" cy="201168"/>
          </a:xfrm>
          <a:prstGeom prst="rect">
            <a:avLst/>
          </a:prstGeom>
          <a:noFill/>
          <a:ln/>
        </p:spPr>
        <p:txBody>
          <a:bodyPr wrap="square" lIns="0" tIns="0" rIns="0" bIns="0" rtlCol="0" anchor="ctr"/>
          <a:lstStyle/>
          <a:p>
            <a:pPr indent="0" marL="0">
              <a:buNone/>
            </a:pPr>
            <a:r>
              <a:rPr lang="en-US" sz="1400" b="1" dirty="0">
                <a:solidFill>
                  <a:srgbClr val="1D1D1F"/>
                </a:solidFill>
              </a:rPr>
              <a:t>Signals we observe</a:t>
            </a:r>
            <a:endParaRPr lang="en-US" sz="1400" dirty="0"/>
          </a:p>
        </p:txBody>
      </p:sp>
      <p:sp>
        <p:nvSpPr>
          <p:cNvPr id="9" name="Text 7"/>
          <p:cNvSpPr/>
          <p:nvPr/>
        </p:nvSpPr>
        <p:spPr>
          <a:xfrm>
            <a:off x="777240" y="1883664"/>
            <a:ext cx="2103120" cy="164592"/>
          </a:xfrm>
          <a:prstGeom prst="rect">
            <a:avLst/>
          </a:prstGeom>
          <a:noFill/>
          <a:ln/>
        </p:spPr>
        <p:txBody>
          <a:bodyPr wrap="square" lIns="0" tIns="0" rIns="0" bIns="0" rtlCol="0" anchor="ctr"/>
          <a:lstStyle/>
          <a:p>
            <a:pPr indent="0" marL="0">
              <a:buNone/>
            </a:pPr>
            <a:r>
              <a:rPr lang="en-US" sz="880" dirty="0">
                <a:solidFill>
                  <a:srgbClr val="6B7280"/>
                </a:solidFill>
              </a:rPr>
              <a:t>Useful for diagnosis and learning</a:t>
            </a:r>
            <a:endParaRPr lang="en-US" sz="880" dirty="0"/>
          </a:p>
        </p:txBody>
      </p:sp>
      <p:sp>
        <p:nvSpPr>
          <p:cNvPr id="10" name="Shape 8"/>
          <p:cNvSpPr/>
          <p:nvPr/>
        </p:nvSpPr>
        <p:spPr>
          <a:xfrm>
            <a:off x="777240" y="2331720"/>
            <a:ext cx="1234440" cy="301752"/>
          </a:xfrm>
          <a:prstGeom prst="roundRect">
            <a:avLst>
              <a:gd name="adj" fmla="val 30303"/>
            </a:avLst>
          </a:prstGeom>
          <a:solidFill>
            <a:srgbClr val="F3F4F6"/>
          </a:solidFill>
          <a:ln w="10160">
            <a:solidFill>
              <a:srgbClr val="D1D5DB"/>
            </a:solidFill>
            <a:prstDash val="solid"/>
          </a:ln>
        </p:spPr>
      </p:sp>
      <p:sp>
        <p:nvSpPr>
          <p:cNvPr id="11" name="Text 9"/>
          <p:cNvSpPr/>
          <p:nvPr/>
        </p:nvSpPr>
        <p:spPr>
          <a:xfrm>
            <a:off x="822960" y="2400300"/>
            <a:ext cx="1143000" cy="146304"/>
          </a:xfrm>
          <a:prstGeom prst="rect">
            <a:avLst/>
          </a:prstGeom>
          <a:noFill/>
          <a:ln/>
        </p:spPr>
        <p:txBody>
          <a:bodyPr wrap="square" lIns="0" tIns="0" rIns="0" bIns="0" rtlCol="0" anchor="ctr"/>
          <a:lstStyle/>
          <a:p>
            <a:pPr algn="ctr" indent="0" marL="0">
              <a:buNone/>
            </a:pPr>
            <a:r>
              <a:rPr lang="en-US" sz="840" dirty="0">
                <a:solidFill>
                  <a:srgbClr val="1D1D1F"/>
                </a:solidFill>
              </a:rPr>
              <a:t>Paid Search</a:t>
            </a:r>
            <a:endParaRPr lang="en-US" sz="840" dirty="0"/>
          </a:p>
        </p:txBody>
      </p:sp>
      <p:sp>
        <p:nvSpPr>
          <p:cNvPr id="12" name="Shape 10"/>
          <p:cNvSpPr/>
          <p:nvPr/>
        </p:nvSpPr>
        <p:spPr>
          <a:xfrm>
            <a:off x="2194560" y="2331720"/>
            <a:ext cx="1234440" cy="301752"/>
          </a:xfrm>
          <a:prstGeom prst="roundRect">
            <a:avLst>
              <a:gd name="adj" fmla="val 30303"/>
            </a:avLst>
          </a:prstGeom>
          <a:solidFill>
            <a:srgbClr val="F3F4F6"/>
          </a:solidFill>
          <a:ln w="10160">
            <a:solidFill>
              <a:srgbClr val="D1D5DB"/>
            </a:solidFill>
            <a:prstDash val="solid"/>
          </a:ln>
        </p:spPr>
      </p:sp>
      <p:sp>
        <p:nvSpPr>
          <p:cNvPr id="13" name="Text 11"/>
          <p:cNvSpPr/>
          <p:nvPr/>
        </p:nvSpPr>
        <p:spPr>
          <a:xfrm>
            <a:off x="2240280" y="2400300"/>
            <a:ext cx="1143000" cy="146304"/>
          </a:xfrm>
          <a:prstGeom prst="rect">
            <a:avLst/>
          </a:prstGeom>
          <a:noFill/>
          <a:ln/>
        </p:spPr>
        <p:txBody>
          <a:bodyPr wrap="square" lIns="0" tIns="0" rIns="0" bIns="0" rtlCol="0" anchor="ctr"/>
          <a:lstStyle/>
          <a:p>
            <a:pPr algn="ctr" indent="0" marL="0">
              <a:buNone/>
            </a:pPr>
            <a:r>
              <a:rPr lang="en-US" sz="840" dirty="0">
                <a:solidFill>
                  <a:srgbClr val="1D1D1F"/>
                </a:solidFill>
              </a:rPr>
              <a:t>SEO</a:t>
            </a:r>
            <a:endParaRPr lang="en-US" sz="840" dirty="0"/>
          </a:p>
        </p:txBody>
      </p:sp>
      <p:sp>
        <p:nvSpPr>
          <p:cNvPr id="14" name="Shape 12"/>
          <p:cNvSpPr/>
          <p:nvPr/>
        </p:nvSpPr>
        <p:spPr>
          <a:xfrm>
            <a:off x="3611880" y="2331720"/>
            <a:ext cx="1234440" cy="301752"/>
          </a:xfrm>
          <a:prstGeom prst="roundRect">
            <a:avLst>
              <a:gd name="adj" fmla="val 30303"/>
            </a:avLst>
          </a:prstGeom>
          <a:solidFill>
            <a:srgbClr val="F3F4F6"/>
          </a:solidFill>
          <a:ln w="10160">
            <a:solidFill>
              <a:srgbClr val="D1D5DB"/>
            </a:solidFill>
            <a:prstDash val="solid"/>
          </a:ln>
        </p:spPr>
      </p:sp>
      <p:sp>
        <p:nvSpPr>
          <p:cNvPr id="15" name="Text 13"/>
          <p:cNvSpPr/>
          <p:nvPr/>
        </p:nvSpPr>
        <p:spPr>
          <a:xfrm>
            <a:off x="3657600" y="2400300"/>
            <a:ext cx="1143000" cy="146304"/>
          </a:xfrm>
          <a:prstGeom prst="rect">
            <a:avLst/>
          </a:prstGeom>
          <a:noFill/>
          <a:ln/>
        </p:spPr>
        <p:txBody>
          <a:bodyPr wrap="square" lIns="0" tIns="0" rIns="0" bIns="0" rtlCol="0" anchor="ctr"/>
          <a:lstStyle/>
          <a:p>
            <a:pPr algn="ctr" indent="0" marL="0">
              <a:buNone/>
            </a:pPr>
            <a:r>
              <a:rPr lang="en-US" sz="840" dirty="0">
                <a:solidFill>
                  <a:srgbClr val="1D1D1F"/>
                </a:solidFill>
              </a:rPr>
              <a:t>Display</a:t>
            </a:r>
            <a:endParaRPr lang="en-US" sz="840" dirty="0"/>
          </a:p>
        </p:txBody>
      </p:sp>
      <p:sp>
        <p:nvSpPr>
          <p:cNvPr id="16" name="Shape 14"/>
          <p:cNvSpPr/>
          <p:nvPr/>
        </p:nvSpPr>
        <p:spPr>
          <a:xfrm>
            <a:off x="777240" y="2770632"/>
            <a:ext cx="1234440" cy="301752"/>
          </a:xfrm>
          <a:prstGeom prst="roundRect">
            <a:avLst>
              <a:gd name="adj" fmla="val 30303"/>
            </a:avLst>
          </a:prstGeom>
          <a:solidFill>
            <a:srgbClr val="F3F4F6"/>
          </a:solidFill>
          <a:ln w="10160">
            <a:solidFill>
              <a:srgbClr val="D1D5DB"/>
            </a:solidFill>
            <a:prstDash val="solid"/>
          </a:ln>
        </p:spPr>
      </p:sp>
      <p:sp>
        <p:nvSpPr>
          <p:cNvPr id="17" name="Text 15"/>
          <p:cNvSpPr/>
          <p:nvPr/>
        </p:nvSpPr>
        <p:spPr>
          <a:xfrm>
            <a:off x="822960" y="2839212"/>
            <a:ext cx="1143000" cy="146304"/>
          </a:xfrm>
          <a:prstGeom prst="rect">
            <a:avLst/>
          </a:prstGeom>
          <a:noFill/>
          <a:ln/>
        </p:spPr>
        <p:txBody>
          <a:bodyPr wrap="square" lIns="0" tIns="0" rIns="0" bIns="0" rtlCol="0" anchor="ctr"/>
          <a:lstStyle/>
          <a:p>
            <a:pPr algn="ctr" indent="0" marL="0">
              <a:buNone/>
            </a:pPr>
            <a:r>
              <a:rPr lang="en-US" sz="840" dirty="0">
                <a:solidFill>
                  <a:srgbClr val="1D1D1F"/>
                </a:solidFill>
              </a:rPr>
              <a:t>Web behavior</a:t>
            </a:r>
            <a:endParaRPr lang="en-US" sz="840" dirty="0"/>
          </a:p>
        </p:txBody>
      </p:sp>
      <p:sp>
        <p:nvSpPr>
          <p:cNvPr id="18" name="Shape 16"/>
          <p:cNvSpPr/>
          <p:nvPr/>
        </p:nvSpPr>
        <p:spPr>
          <a:xfrm>
            <a:off x="2194560" y="2770632"/>
            <a:ext cx="1234440" cy="301752"/>
          </a:xfrm>
          <a:prstGeom prst="roundRect">
            <a:avLst>
              <a:gd name="adj" fmla="val 30303"/>
            </a:avLst>
          </a:prstGeom>
          <a:solidFill>
            <a:srgbClr val="F3F4F6"/>
          </a:solidFill>
          <a:ln w="10160">
            <a:solidFill>
              <a:srgbClr val="D1D5DB"/>
            </a:solidFill>
            <a:prstDash val="solid"/>
          </a:ln>
        </p:spPr>
      </p:sp>
      <p:sp>
        <p:nvSpPr>
          <p:cNvPr id="19" name="Text 17"/>
          <p:cNvSpPr/>
          <p:nvPr/>
        </p:nvSpPr>
        <p:spPr>
          <a:xfrm>
            <a:off x="2240280" y="2839212"/>
            <a:ext cx="1143000" cy="146304"/>
          </a:xfrm>
          <a:prstGeom prst="rect">
            <a:avLst/>
          </a:prstGeom>
          <a:noFill/>
          <a:ln/>
        </p:spPr>
        <p:txBody>
          <a:bodyPr wrap="square" lIns="0" tIns="0" rIns="0" bIns="0" rtlCol="0" anchor="ctr"/>
          <a:lstStyle/>
          <a:p>
            <a:pPr algn="ctr" indent="0" marL="0">
              <a:buNone/>
            </a:pPr>
            <a:r>
              <a:rPr lang="en-US" sz="840" dirty="0">
                <a:solidFill>
                  <a:srgbClr val="1D1D1F"/>
                </a:solidFill>
              </a:rPr>
              <a:t>Email engagement</a:t>
            </a:r>
            <a:endParaRPr lang="en-US" sz="840" dirty="0"/>
          </a:p>
        </p:txBody>
      </p:sp>
      <p:sp>
        <p:nvSpPr>
          <p:cNvPr id="20" name="Shape 18"/>
          <p:cNvSpPr/>
          <p:nvPr/>
        </p:nvSpPr>
        <p:spPr>
          <a:xfrm>
            <a:off x="3611880" y="2770632"/>
            <a:ext cx="1234440" cy="301752"/>
          </a:xfrm>
          <a:prstGeom prst="roundRect">
            <a:avLst>
              <a:gd name="adj" fmla="val 30303"/>
            </a:avLst>
          </a:prstGeom>
          <a:solidFill>
            <a:srgbClr val="F3F4F6"/>
          </a:solidFill>
          <a:ln w="10160">
            <a:solidFill>
              <a:srgbClr val="D1D5DB"/>
            </a:solidFill>
            <a:prstDash val="solid"/>
          </a:ln>
        </p:spPr>
      </p:sp>
      <p:sp>
        <p:nvSpPr>
          <p:cNvPr id="21" name="Text 19"/>
          <p:cNvSpPr/>
          <p:nvPr/>
        </p:nvSpPr>
        <p:spPr>
          <a:xfrm>
            <a:off x="3657600" y="2839212"/>
            <a:ext cx="1143000" cy="146304"/>
          </a:xfrm>
          <a:prstGeom prst="rect">
            <a:avLst/>
          </a:prstGeom>
          <a:noFill/>
          <a:ln/>
        </p:spPr>
        <p:txBody>
          <a:bodyPr wrap="square" lIns="0" tIns="0" rIns="0" bIns="0" rtlCol="0" anchor="ctr"/>
          <a:lstStyle/>
          <a:p>
            <a:pPr algn="ctr" indent="0" marL="0">
              <a:buNone/>
            </a:pPr>
            <a:r>
              <a:rPr lang="en-US" sz="840" dirty="0">
                <a:solidFill>
                  <a:srgbClr val="1D1D1F"/>
                </a:solidFill>
              </a:rPr>
              <a:t>Customer reactions</a:t>
            </a:r>
            <a:endParaRPr lang="en-US" sz="840" dirty="0"/>
          </a:p>
        </p:txBody>
      </p:sp>
      <p:sp>
        <p:nvSpPr>
          <p:cNvPr id="22" name="Shape 20"/>
          <p:cNvSpPr/>
          <p:nvPr/>
        </p:nvSpPr>
        <p:spPr>
          <a:xfrm>
            <a:off x="6355080" y="1325880"/>
            <a:ext cx="5349240" cy="2011680"/>
          </a:xfrm>
          <a:prstGeom prst="roundRect">
            <a:avLst>
              <a:gd name="adj" fmla="val 5455"/>
            </a:avLst>
          </a:prstGeom>
          <a:solidFill>
            <a:srgbClr val="F4FAF6"/>
          </a:solidFill>
          <a:ln w="12700">
            <a:solidFill>
              <a:srgbClr val="006A4E"/>
            </a:solidFill>
            <a:prstDash val="solid"/>
          </a:ln>
          <a:effectLst>
            <a:outerShdw sx="100000" sy="100000" kx="0" ky="0" algn="bl" rotWithShape="0" blurRad="12700" dist="50800" dir="2700000">
              <a:srgbClr val="B9C5BE">
                <a:alpha val="12000"/>
              </a:srgbClr>
            </a:outerShdw>
          </a:effectLst>
        </p:spPr>
      </p:sp>
      <p:sp>
        <p:nvSpPr>
          <p:cNvPr id="23" name="Text 21"/>
          <p:cNvSpPr/>
          <p:nvPr/>
        </p:nvSpPr>
        <p:spPr>
          <a:xfrm>
            <a:off x="6629400" y="1600200"/>
            <a:ext cx="2148840" cy="201168"/>
          </a:xfrm>
          <a:prstGeom prst="rect">
            <a:avLst/>
          </a:prstGeom>
          <a:noFill/>
          <a:ln/>
        </p:spPr>
        <p:txBody>
          <a:bodyPr wrap="square" lIns="0" tIns="0" rIns="0" bIns="0" rtlCol="0" anchor="ctr"/>
          <a:lstStyle/>
          <a:p>
            <a:pPr indent="0" marL="0">
              <a:buNone/>
            </a:pPr>
            <a:r>
              <a:rPr lang="en-US" sz="1400" b="1" dirty="0">
                <a:solidFill>
                  <a:srgbClr val="006A4E"/>
                </a:solidFill>
              </a:rPr>
              <a:t>Actions we can choose</a:t>
            </a:r>
            <a:endParaRPr lang="en-US" sz="1400" dirty="0"/>
          </a:p>
        </p:txBody>
      </p:sp>
      <p:sp>
        <p:nvSpPr>
          <p:cNvPr id="24" name="Text 22"/>
          <p:cNvSpPr/>
          <p:nvPr/>
        </p:nvSpPr>
        <p:spPr>
          <a:xfrm>
            <a:off x="6629400" y="1883664"/>
            <a:ext cx="2468880" cy="164592"/>
          </a:xfrm>
          <a:prstGeom prst="rect">
            <a:avLst/>
          </a:prstGeom>
          <a:noFill/>
          <a:ln/>
        </p:spPr>
        <p:txBody>
          <a:bodyPr wrap="square" lIns="0" tIns="0" rIns="0" bIns="0" rtlCol="0" anchor="ctr"/>
          <a:lstStyle/>
          <a:p>
            <a:pPr indent="0" marL="0">
              <a:buNone/>
            </a:pPr>
            <a:r>
              <a:rPr lang="en-US" sz="880" dirty="0">
                <a:solidFill>
                  <a:srgbClr val="6B7280"/>
                </a:solidFill>
              </a:rPr>
              <a:t>Used for next-best-channel optimization</a:t>
            </a:r>
            <a:endParaRPr lang="en-US" sz="880" dirty="0"/>
          </a:p>
        </p:txBody>
      </p:sp>
      <p:sp>
        <p:nvSpPr>
          <p:cNvPr id="25" name="Shape 23"/>
          <p:cNvSpPr/>
          <p:nvPr/>
        </p:nvSpPr>
        <p:spPr>
          <a:xfrm>
            <a:off x="6629400" y="2331720"/>
            <a:ext cx="1234440" cy="301752"/>
          </a:xfrm>
          <a:prstGeom prst="roundRect">
            <a:avLst>
              <a:gd name="adj" fmla="val 30303"/>
            </a:avLst>
          </a:prstGeom>
          <a:solidFill>
            <a:srgbClr val="EAF5EE"/>
          </a:solidFill>
          <a:ln w="10160">
            <a:solidFill>
              <a:srgbClr val="006A4E"/>
            </a:solidFill>
            <a:prstDash val="solid"/>
          </a:ln>
        </p:spPr>
      </p:sp>
      <p:sp>
        <p:nvSpPr>
          <p:cNvPr id="26" name="Text 24"/>
          <p:cNvSpPr/>
          <p:nvPr/>
        </p:nvSpPr>
        <p:spPr>
          <a:xfrm>
            <a:off x="6675120" y="2400300"/>
            <a:ext cx="1143000" cy="146304"/>
          </a:xfrm>
          <a:prstGeom prst="rect">
            <a:avLst/>
          </a:prstGeom>
          <a:noFill/>
          <a:ln/>
        </p:spPr>
        <p:txBody>
          <a:bodyPr wrap="square" lIns="0" tIns="0" rIns="0" bIns="0" rtlCol="0" anchor="ctr"/>
          <a:lstStyle/>
          <a:p>
            <a:pPr algn="ctr" indent="0" marL="0">
              <a:buNone/>
            </a:pPr>
            <a:r>
              <a:rPr lang="en-US" sz="840" dirty="0">
                <a:solidFill>
                  <a:srgbClr val="006A4E"/>
                </a:solidFill>
              </a:rPr>
              <a:t>Email</a:t>
            </a:r>
            <a:endParaRPr lang="en-US" sz="840" dirty="0"/>
          </a:p>
        </p:txBody>
      </p:sp>
      <p:sp>
        <p:nvSpPr>
          <p:cNvPr id="27" name="Shape 25"/>
          <p:cNvSpPr/>
          <p:nvPr/>
        </p:nvSpPr>
        <p:spPr>
          <a:xfrm>
            <a:off x="8046720" y="2331720"/>
            <a:ext cx="1234440" cy="301752"/>
          </a:xfrm>
          <a:prstGeom prst="roundRect">
            <a:avLst>
              <a:gd name="adj" fmla="val 30303"/>
            </a:avLst>
          </a:prstGeom>
          <a:solidFill>
            <a:srgbClr val="EAF5EE"/>
          </a:solidFill>
          <a:ln w="10160">
            <a:solidFill>
              <a:srgbClr val="006A4E"/>
            </a:solidFill>
            <a:prstDash val="solid"/>
          </a:ln>
        </p:spPr>
      </p:sp>
      <p:sp>
        <p:nvSpPr>
          <p:cNvPr id="28" name="Text 26"/>
          <p:cNvSpPr/>
          <p:nvPr/>
        </p:nvSpPr>
        <p:spPr>
          <a:xfrm>
            <a:off x="8092440" y="2400300"/>
            <a:ext cx="1143000" cy="146304"/>
          </a:xfrm>
          <a:prstGeom prst="rect">
            <a:avLst/>
          </a:prstGeom>
          <a:noFill/>
          <a:ln/>
        </p:spPr>
        <p:txBody>
          <a:bodyPr wrap="square" lIns="0" tIns="0" rIns="0" bIns="0" rtlCol="0" anchor="ctr"/>
          <a:lstStyle/>
          <a:p>
            <a:pPr algn="ctr" indent="0" marL="0">
              <a:buNone/>
            </a:pPr>
            <a:r>
              <a:rPr lang="en-US" sz="840" dirty="0">
                <a:solidFill>
                  <a:srgbClr val="006A4E"/>
                </a:solidFill>
              </a:rPr>
              <a:t>Direct Mail</a:t>
            </a:r>
            <a:endParaRPr lang="en-US" sz="840" dirty="0"/>
          </a:p>
        </p:txBody>
      </p:sp>
      <p:sp>
        <p:nvSpPr>
          <p:cNvPr id="29" name="Shape 27"/>
          <p:cNvSpPr/>
          <p:nvPr/>
        </p:nvSpPr>
        <p:spPr>
          <a:xfrm>
            <a:off x="9464040" y="2331720"/>
            <a:ext cx="1234440" cy="301752"/>
          </a:xfrm>
          <a:prstGeom prst="roundRect">
            <a:avLst>
              <a:gd name="adj" fmla="val 30303"/>
            </a:avLst>
          </a:prstGeom>
          <a:solidFill>
            <a:srgbClr val="EAF5EE"/>
          </a:solidFill>
          <a:ln w="10160">
            <a:solidFill>
              <a:srgbClr val="006A4E"/>
            </a:solidFill>
            <a:prstDash val="solid"/>
          </a:ln>
        </p:spPr>
      </p:sp>
      <p:sp>
        <p:nvSpPr>
          <p:cNvPr id="30" name="Text 28"/>
          <p:cNvSpPr/>
          <p:nvPr/>
        </p:nvSpPr>
        <p:spPr>
          <a:xfrm>
            <a:off x="9509760" y="2400300"/>
            <a:ext cx="1143000" cy="146304"/>
          </a:xfrm>
          <a:prstGeom prst="rect">
            <a:avLst/>
          </a:prstGeom>
          <a:noFill/>
          <a:ln/>
        </p:spPr>
        <p:txBody>
          <a:bodyPr wrap="square" lIns="0" tIns="0" rIns="0" bIns="0" rtlCol="0" anchor="ctr"/>
          <a:lstStyle/>
          <a:p>
            <a:pPr algn="ctr" indent="0" marL="0">
              <a:buNone/>
            </a:pPr>
            <a:r>
              <a:rPr lang="en-US" sz="840" dirty="0">
                <a:solidFill>
                  <a:srgbClr val="006A4E"/>
                </a:solidFill>
              </a:rPr>
              <a:t>Leads</a:t>
            </a:r>
            <a:endParaRPr lang="en-US" sz="840" dirty="0"/>
          </a:p>
        </p:txBody>
      </p:sp>
      <p:sp>
        <p:nvSpPr>
          <p:cNvPr id="31" name="Shape 29"/>
          <p:cNvSpPr/>
          <p:nvPr/>
        </p:nvSpPr>
        <p:spPr>
          <a:xfrm>
            <a:off x="6629400" y="2770632"/>
            <a:ext cx="1234440" cy="301752"/>
          </a:xfrm>
          <a:prstGeom prst="roundRect">
            <a:avLst>
              <a:gd name="adj" fmla="val 30303"/>
            </a:avLst>
          </a:prstGeom>
          <a:solidFill>
            <a:srgbClr val="EAF5EE"/>
          </a:solidFill>
          <a:ln w="10160">
            <a:solidFill>
              <a:srgbClr val="006A4E"/>
            </a:solidFill>
            <a:prstDash val="solid"/>
          </a:ln>
        </p:spPr>
      </p:sp>
      <p:sp>
        <p:nvSpPr>
          <p:cNvPr id="32" name="Text 30"/>
          <p:cNvSpPr/>
          <p:nvPr/>
        </p:nvSpPr>
        <p:spPr>
          <a:xfrm>
            <a:off x="6675120" y="2839212"/>
            <a:ext cx="1143000" cy="146304"/>
          </a:xfrm>
          <a:prstGeom prst="rect">
            <a:avLst/>
          </a:prstGeom>
          <a:noFill/>
          <a:ln/>
        </p:spPr>
        <p:txBody>
          <a:bodyPr wrap="square" lIns="0" tIns="0" rIns="0" bIns="0" rtlCol="0" anchor="ctr"/>
          <a:lstStyle/>
          <a:p>
            <a:pPr algn="ctr" indent="0" marL="0">
              <a:buNone/>
            </a:pPr>
            <a:r>
              <a:rPr lang="en-US" sz="840" dirty="0">
                <a:solidFill>
                  <a:srgbClr val="006A4E"/>
                </a:solidFill>
              </a:rPr>
              <a:t>Phone</a:t>
            </a:r>
            <a:endParaRPr lang="en-US" sz="840" dirty="0"/>
          </a:p>
        </p:txBody>
      </p:sp>
      <p:sp>
        <p:nvSpPr>
          <p:cNvPr id="33" name="Shape 31"/>
          <p:cNvSpPr/>
          <p:nvPr/>
        </p:nvSpPr>
        <p:spPr>
          <a:xfrm>
            <a:off x="8046720" y="2770632"/>
            <a:ext cx="1234440" cy="301752"/>
          </a:xfrm>
          <a:prstGeom prst="roundRect">
            <a:avLst>
              <a:gd name="adj" fmla="val 30303"/>
            </a:avLst>
          </a:prstGeom>
          <a:solidFill>
            <a:srgbClr val="EAF5EE"/>
          </a:solidFill>
          <a:ln w="10160">
            <a:solidFill>
              <a:srgbClr val="006A4E"/>
            </a:solidFill>
            <a:prstDash val="solid"/>
          </a:ln>
        </p:spPr>
      </p:sp>
      <p:sp>
        <p:nvSpPr>
          <p:cNvPr id="34" name="Text 32"/>
          <p:cNvSpPr/>
          <p:nvPr/>
        </p:nvSpPr>
        <p:spPr>
          <a:xfrm>
            <a:off x="8092440" y="2839212"/>
            <a:ext cx="1143000" cy="146304"/>
          </a:xfrm>
          <a:prstGeom prst="rect">
            <a:avLst/>
          </a:prstGeom>
          <a:noFill/>
          <a:ln/>
        </p:spPr>
        <p:txBody>
          <a:bodyPr wrap="square" lIns="0" tIns="0" rIns="0" bIns="0" rtlCol="0" anchor="ctr"/>
          <a:lstStyle/>
          <a:p>
            <a:pPr algn="ctr" indent="0" marL="0">
              <a:buNone/>
            </a:pPr>
            <a:r>
              <a:rPr lang="en-US" sz="840" dirty="0">
                <a:solidFill>
                  <a:srgbClr val="006A4E"/>
                </a:solidFill>
              </a:rPr>
              <a:t>Mobile / app</a:t>
            </a:r>
            <a:endParaRPr lang="en-US" sz="840" dirty="0"/>
          </a:p>
        </p:txBody>
      </p:sp>
      <p:sp>
        <p:nvSpPr>
          <p:cNvPr id="35" name="Shape 33"/>
          <p:cNvSpPr/>
          <p:nvPr/>
        </p:nvSpPr>
        <p:spPr>
          <a:xfrm>
            <a:off x="9464040" y="2770632"/>
            <a:ext cx="1234440" cy="301752"/>
          </a:xfrm>
          <a:prstGeom prst="roundRect">
            <a:avLst>
              <a:gd name="adj" fmla="val 30303"/>
            </a:avLst>
          </a:prstGeom>
          <a:solidFill>
            <a:srgbClr val="EAF5EE"/>
          </a:solidFill>
          <a:ln w="10160">
            <a:solidFill>
              <a:srgbClr val="006A4E"/>
            </a:solidFill>
            <a:prstDash val="solid"/>
          </a:ln>
        </p:spPr>
      </p:sp>
      <p:sp>
        <p:nvSpPr>
          <p:cNvPr id="36" name="Text 34"/>
          <p:cNvSpPr/>
          <p:nvPr/>
        </p:nvSpPr>
        <p:spPr>
          <a:xfrm>
            <a:off x="9509760" y="2839212"/>
            <a:ext cx="1143000" cy="146304"/>
          </a:xfrm>
          <a:prstGeom prst="rect">
            <a:avLst/>
          </a:prstGeom>
          <a:noFill/>
          <a:ln/>
        </p:spPr>
        <p:txBody>
          <a:bodyPr wrap="square" lIns="0" tIns="0" rIns="0" bIns="0" rtlCol="0" anchor="ctr"/>
          <a:lstStyle/>
          <a:p>
            <a:pPr algn="ctr" indent="0" marL="0">
              <a:buNone/>
            </a:pPr>
            <a:r>
              <a:rPr lang="en-US" sz="840" dirty="0">
                <a:solidFill>
                  <a:srgbClr val="006A4E"/>
                </a:solidFill>
              </a:rPr>
              <a:t>Branch prompt</a:t>
            </a:r>
            <a:endParaRPr lang="en-US" sz="840" dirty="0"/>
          </a:p>
        </p:txBody>
      </p:sp>
      <p:sp>
        <p:nvSpPr>
          <p:cNvPr id="37" name="Text 35"/>
          <p:cNvSpPr/>
          <p:nvPr/>
        </p:nvSpPr>
        <p:spPr>
          <a:xfrm>
            <a:off x="777240" y="3547872"/>
            <a:ext cx="10789920" cy="237744"/>
          </a:xfrm>
          <a:prstGeom prst="rect">
            <a:avLst/>
          </a:prstGeom>
          <a:noFill/>
          <a:ln/>
        </p:spPr>
        <p:txBody>
          <a:bodyPr wrap="square" lIns="0" tIns="0" rIns="0" bIns="0" rtlCol="0" anchor="ctr"/>
          <a:lstStyle/>
          <a:p>
            <a:pPr algn="ctr" indent="0" marL="0">
              <a:buNone/>
            </a:pPr>
            <a:r>
              <a:rPr lang="en-US" sz="1300" b="1" dirty="0">
                <a:solidFill>
                  <a:srgbClr val="004225"/>
                </a:solidFill>
              </a:rPr>
              <a:t>Predictive optimization focuses on controllable customer-level actions — not every diagnostic touchpoint.</a:t>
            </a:r>
            <a:endParaRPr lang="en-US" sz="1300" dirty="0"/>
          </a:p>
        </p:txBody>
      </p:sp>
      <p:sp>
        <p:nvSpPr>
          <p:cNvPr id="38" name="Shape 36"/>
          <p:cNvSpPr/>
          <p:nvPr/>
        </p:nvSpPr>
        <p:spPr>
          <a:xfrm>
            <a:off x="502920" y="3977640"/>
            <a:ext cx="3154680" cy="1463040"/>
          </a:xfrm>
          <a:prstGeom prst="roundRect">
            <a:avLst>
              <a:gd name="adj" fmla="val 7500"/>
            </a:avLst>
          </a:prstGeom>
          <a:solidFill>
            <a:srgbClr val="FFFFFF"/>
          </a:solidFill>
          <a:ln w="12700">
            <a:solidFill>
              <a:srgbClr val="B5D2BF"/>
            </a:solidFill>
            <a:prstDash val="solid"/>
          </a:ln>
          <a:effectLst>
            <a:outerShdw sx="100000" sy="100000" kx="0" ky="0" algn="bl" rotWithShape="0" blurRad="12700" dist="50800" dir="2700000">
              <a:srgbClr val="B9C5BE">
                <a:alpha val="12000"/>
              </a:srgbClr>
            </a:outerShdw>
          </a:effectLst>
        </p:spPr>
      </p:sp>
      <p:sp>
        <p:nvSpPr>
          <p:cNvPr id="39" name="Shape 37"/>
          <p:cNvSpPr/>
          <p:nvPr/>
        </p:nvSpPr>
        <p:spPr>
          <a:xfrm>
            <a:off x="777240" y="4251960"/>
            <a:ext cx="411480" cy="411480"/>
          </a:xfrm>
          <a:prstGeom prst="ellipse">
            <a:avLst/>
          </a:prstGeom>
          <a:solidFill>
            <a:srgbClr val="EAF5EE"/>
          </a:solidFill>
          <a:ln w="12700">
            <a:solidFill>
              <a:srgbClr val="006A4E"/>
            </a:solidFill>
            <a:prstDash val="solid"/>
          </a:ln>
        </p:spPr>
      </p:sp>
      <p:sp>
        <p:nvSpPr>
          <p:cNvPr id="40" name="Text 38"/>
          <p:cNvSpPr/>
          <p:nvPr/>
        </p:nvSpPr>
        <p:spPr>
          <a:xfrm>
            <a:off x="777240" y="4288993"/>
            <a:ext cx="411480" cy="329184"/>
          </a:xfrm>
          <a:prstGeom prst="rect">
            <a:avLst/>
          </a:prstGeom>
          <a:noFill/>
          <a:ln/>
        </p:spPr>
        <p:txBody>
          <a:bodyPr wrap="square" lIns="0" tIns="0" rIns="0" bIns="0" rtlCol="0" anchor="ctr"/>
          <a:lstStyle/>
          <a:p>
            <a:pPr algn="ctr" indent="0" marL="0">
              <a:buNone/>
            </a:pPr>
            <a:r>
              <a:rPr lang="en-US" sz="990" b="1" dirty="0">
                <a:solidFill>
                  <a:srgbClr val="006A4E"/>
                </a:solidFill>
              </a:rPr>
              <a:t>1</a:t>
            </a:r>
            <a:endParaRPr lang="en-US" sz="990" dirty="0"/>
          </a:p>
        </p:txBody>
      </p:sp>
      <p:sp>
        <p:nvSpPr>
          <p:cNvPr id="41" name="Text 39"/>
          <p:cNvSpPr/>
          <p:nvPr/>
        </p:nvSpPr>
        <p:spPr>
          <a:xfrm>
            <a:off x="1280160" y="4251960"/>
            <a:ext cx="1600200" cy="219456"/>
          </a:xfrm>
          <a:prstGeom prst="rect">
            <a:avLst/>
          </a:prstGeom>
          <a:noFill/>
          <a:ln/>
        </p:spPr>
        <p:txBody>
          <a:bodyPr wrap="square" lIns="0" tIns="0" rIns="0" bIns="0" rtlCol="0" anchor="ctr"/>
          <a:lstStyle/>
          <a:p>
            <a:pPr indent="0" marL="0">
              <a:buNone/>
            </a:pPr>
            <a:r>
              <a:rPr lang="en-US" sz="1350" b="1" dirty="0">
                <a:solidFill>
                  <a:srgbClr val="004225"/>
                </a:solidFill>
              </a:rPr>
              <a:t>Score each option</a:t>
            </a:r>
            <a:endParaRPr lang="en-US" sz="1350" dirty="0"/>
          </a:p>
        </p:txBody>
      </p:sp>
      <p:sp>
        <p:nvSpPr>
          <p:cNvPr id="42" name="Text 40"/>
          <p:cNvSpPr/>
          <p:nvPr/>
        </p:nvSpPr>
        <p:spPr>
          <a:xfrm>
            <a:off x="1280160" y="4626864"/>
            <a:ext cx="2011680" cy="310896"/>
          </a:xfrm>
          <a:prstGeom prst="rect">
            <a:avLst/>
          </a:prstGeom>
          <a:noFill/>
          <a:ln/>
        </p:spPr>
        <p:txBody>
          <a:bodyPr wrap="square" lIns="0" tIns="0" rIns="0" bIns="0" rtlCol="0" anchor="ctr">
            <a:normAutofit/>
          </a:bodyPr>
          <a:lstStyle/>
          <a:p>
            <a:pPr indent="0" marL="0">
              <a:buNone/>
            </a:pPr>
            <a:r>
              <a:rPr lang="en-US" sz="940" dirty="0">
                <a:solidFill>
                  <a:srgbClr val="1D1D1F"/>
                </a:solidFill>
              </a:rPr>
              <a:t>For each customer, estimate the value of each candidate channel.</a:t>
            </a:r>
            <a:endParaRPr lang="en-US" sz="940" dirty="0"/>
          </a:p>
        </p:txBody>
      </p:sp>
      <p:sp>
        <p:nvSpPr>
          <p:cNvPr id="43" name="Shape 41"/>
          <p:cNvSpPr/>
          <p:nvPr/>
        </p:nvSpPr>
        <p:spPr>
          <a:xfrm>
            <a:off x="3794760" y="4526280"/>
            <a:ext cx="384048" cy="320040"/>
          </a:xfrm>
          <a:prstGeom prst="rightArrow">
            <a:avLst/>
          </a:prstGeom>
          <a:solidFill>
            <a:srgbClr val="006A4E"/>
          </a:solidFill>
          <a:ln w="12700">
            <a:solidFill>
              <a:srgbClr val="006A4E">
                <a:alpha val="0"/>
              </a:srgbClr>
            </a:solidFill>
            <a:prstDash val="solid"/>
          </a:ln>
        </p:spPr>
      </p:sp>
      <p:sp>
        <p:nvSpPr>
          <p:cNvPr id="44" name="Shape 42"/>
          <p:cNvSpPr/>
          <p:nvPr/>
        </p:nvSpPr>
        <p:spPr>
          <a:xfrm>
            <a:off x="4343400" y="3977640"/>
            <a:ext cx="3383280" cy="1463040"/>
          </a:xfrm>
          <a:prstGeom prst="roundRect">
            <a:avLst>
              <a:gd name="adj" fmla="val 7500"/>
            </a:avLst>
          </a:prstGeom>
          <a:solidFill>
            <a:srgbClr val="FFFFFF"/>
          </a:solidFill>
          <a:ln w="12700">
            <a:solidFill>
              <a:srgbClr val="B5D2BF"/>
            </a:solidFill>
            <a:prstDash val="solid"/>
          </a:ln>
          <a:effectLst>
            <a:outerShdw sx="100000" sy="100000" kx="0" ky="0" algn="bl" rotWithShape="0" blurRad="12700" dist="50800" dir="2700000">
              <a:srgbClr val="B9C5BE">
                <a:alpha val="12000"/>
              </a:srgbClr>
            </a:outerShdw>
          </a:effectLst>
        </p:spPr>
      </p:sp>
      <p:sp>
        <p:nvSpPr>
          <p:cNvPr id="45" name="Shape 43"/>
          <p:cNvSpPr/>
          <p:nvPr/>
        </p:nvSpPr>
        <p:spPr>
          <a:xfrm>
            <a:off x="4617720" y="4251960"/>
            <a:ext cx="411480" cy="411480"/>
          </a:xfrm>
          <a:prstGeom prst="ellipse">
            <a:avLst/>
          </a:prstGeom>
          <a:solidFill>
            <a:srgbClr val="EAF5EE"/>
          </a:solidFill>
          <a:ln w="12700">
            <a:solidFill>
              <a:srgbClr val="006A4E"/>
            </a:solidFill>
            <a:prstDash val="solid"/>
          </a:ln>
        </p:spPr>
      </p:sp>
      <p:sp>
        <p:nvSpPr>
          <p:cNvPr id="46" name="Text 44"/>
          <p:cNvSpPr/>
          <p:nvPr/>
        </p:nvSpPr>
        <p:spPr>
          <a:xfrm>
            <a:off x="4617720" y="4288993"/>
            <a:ext cx="411480" cy="329184"/>
          </a:xfrm>
          <a:prstGeom prst="rect">
            <a:avLst/>
          </a:prstGeom>
          <a:noFill/>
          <a:ln/>
        </p:spPr>
        <p:txBody>
          <a:bodyPr wrap="square" lIns="0" tIns="0" rIns="0" bIns="0" rtlCol="0" anchor="ctr"/>
          <a:lstStyle/>
          <a:p>
            <a:pPr algn="ctr" indent="0" marL="0">
              <a:buNone/>
            </a:pPr>
            <a:r>
              <a:rPr lang="en-US" sz="990" b="1" dirty="0">
                <a:solidFill>
                  <a:srgbClr val="006A4E"/>
                </a:solidFill>
              </a:rPr>
              <a:t>2</a:t>
            </a:r>
            <a:endParaRPr lang="en-US" sz="990" dirty="0"/>
          </a:p>
        </p:txBody>
      </p:sp>
      <p:sp>
        <p:nvSpPr>
          <p:cNvPr id="47" name="Text 45"/>
          <p:cNvSpPr/>
          <p:nvPr/>
        </p:nvSpPr>
        <p:spPr>
          <a:xfrm>
            <a:off x="5120640" y="4251960"/>
            <a:ext cx="1737360" cy="219456"/>
          </a:xfrm>
          <a:prstGeom prst="rect">
            <a:avLst/>
          </a:prstGeom>
          <a:noFill/>
          <a:ln/>
        </p:spPr>
        <p:txBody>
          <a:bodyPr wrap="square" lIns="0" tIns="0" rIns="0" bIns="0" rtlCol="0" anchor="ctr"/>
          <a:lstStyle/>
          <a:p>
            <a:pPr indent="0" marL="0">
              <a:buNone/>
            </a:pPr>
            <a:r>
              <a:rPr lang="en-US" sz="1350" b="1" dirty="0">
                <a:solidFill>
                  <a:srgbClr val="004225"/>
                </a:solidFill>
              </a:rPr>
              <a:t>Optimize allocation</a:t>
            </a:r>
            <a:endParaRPr lang="en-US" sz="1350" dirty="0"/>
          </a:p>
        </p:txBody>
      </p:sp>
      <p:sp>
        <p:nvSpPr>
          <p:cNvPr id="48" name="Text 46"/>
          <p:cNvSpPr/>
          <p:nvPr/>
        </p:nvSpPr>
        <p:spPr>
          <a:xfrm>
            <a:off x="5120640" y="4626864"/>
            <a:ext cx="2148840" cy="292608"/>
          </a:xfrm>
          <a:prstGeom prst="rect">
            <a:avLst/>
          </a:prstGeom>
          <a:noFill/>
          <a:ln/>
        </p:spPr>
        <p:txBody>
          <a:bodyPr wrap="square" lIns="0" tIns="0" rIns="0" bIns="0" rtlCol="0" anchor="ctr">
            <a:normAutofit/>
          </a:bodyPr>
          <a:lstStyle/>
          <a:p>
            <a:pPr indent="0" marL="0">
              <a:buNone/>
            </a:pPr>
            <a:r>
              <a:rPr lang="en-US" sz="940" dirty="0">
                <a:solidFill>
                  <a:srgbClr val="1D1D1F"/>
                </a:solidFill>
              </a:rPr>
              <a:t>Select the best channel while respecting operational constraints.</a:t>
            </a:r>
            <a:endParaRPr lang="en-US" sz="940" dirty="0"/>
          </a:p>
        </p:txBody>
      </p:sp>
      <p:sp>
        <p:nvSpPr>
          <p:cNvPr id="49" name="Text 47"/>
          <p:cNvSpPr/>
          <p:nvPr/>
        </p:nvSpPr>
        <p:spPr>
          <a:xfrm>
            <a:off x="5120640" y="5074920"/>
            <a:ext cx="1645920" cy="164592"/>
          </a:xfrm>
          <a:prstGeom prst="rect">
            <a:avLst/>
          </a:prstGeom>
          <a:noFill/>
          <a:ln/>
        </p:spPr>
        <p:txBody>
          <a:bodyPr wrap="square" lIns="0" tIns="0" rIns="0" bIns="0" rtlCol="0" anchor="ctr"/>
          <a:lstStyle/>
          <a:p>
            <a:pPr indent="0" marL="0">
              <a:buNone/>
            </a:pPr>
            <a:r>
              <a:rPr lang="en-US" sz="860" b="1" dirty="0">
                <a:solidFill>
                  <a:srgbClr val="006A4E"/>
                </a:solidFill>
              </a:rPr>
              <a:t>Example: Leads cap 30K</a:t>
            </a:r>
            <a:endParaRPr lang="en-US" sz="860" dirty="0"/>
          </a:p>
        </p:txBody>
      </p:sp>
      <p:sp>
        <p:nvSpPr>
          <p:cNvPr id="50" name="Shape 48"/>
          <p:cNvSpPr/>
          <p:nvPr/>
        </p:nvSpPr>
        <p:spPr>
          <a:xfrm>
            <a:off x="7863840" y="4526280"/>
            <a:ext cx="384048" cy="320040"/>
          </a:xfrm>
          <a:prstGeom prst="rightArrow">
            <a:avLst/>
          </a:prstGeom>
          <a:solidFill>
            <a:srgbClr val="006A4E"/>
          </a:solidFill>
          <a:ln w="12700">
            <a:solidFill>
              <a:srgbClr val="006A4E">
                <a:alpha val="0"/>
              </a:srgbClr>
            </a:solidFill>
            <a:prstDash val="solid"/>
          </a:ln>
        </p:spPr>
      </p:sp>
      <p:sp>
        <p:nvSpPr>
          <p:cNvPr id="51" name="Shape 49"/>
          <p:cNvSpPr/>
          <p:nvPr/>
        </p:nvSpPr>
        <p:spPr>
          <a:xfrm>
            <a:off x="8412480" y="3977640"/>
            <a:ext cx="3291840" cy="1463040"/>
          </a:xfrm>
          <a:prstGeom prst="roundRect">
            <a:avLst>
              <a:gd name="adj" fmla="val 7500"/>
            </a:avLst>
          </a:prstGeom>
          <a:solidFill>
            <a:srgbClr val="FFFFFF"/>
          </a:solidFill>
          <a:ln w="12700">
            <a:solidFill>
              <a:srgbClr val="B5D2BF"/>
            </a:solidFill>
            <a:prstDash val="solid"/>
          </a:ln>
          <a:effectLst>
            <a:outerShdw sx="100000" sy="100000" kx="0" ky="0" algn="bl" rotWithShape="0" blurRad="12700" dist="50800" dir="2700000">
              <a:srgbClr val="B9C5BE">
                <a:alpha val="12000"/>
              </a:srgbClr>
            </a:outerShdw>
          </a:effectLst>
        </p:spPr>
      </p:sp>
      <p:sp>
        <p:nvSpPr>
          <p:cNvPr id="52" name="Shape 50"/>
          <p:cNvSpPr/>
          <p:nvPr/>
        </p:nvSpPr>
        <p:spPr>
          <a:xfrm>
            <a:off x="8686800" y="4251960"/>
            <a:ext cx="411480" cy="411480"/>
          </a:xfrm>
          <a:prstGeom prst="ellipse">
            <a:avLst/>
          </a:prstGeom>
          <a:solidFill>
            <a:srgbClr val="EAF5EE"/>
          </a:solidFill>
          <a:ln w="12700">
            <a:solidFill>
              <a:srgbClr val="006A4E"/>
            </a:solidFill>
            <a:prstDash val="solid"/>
          </a:ln>
        </p:spPr>
      </p:sp>
      <p:sp>
        <p:nvSpPr>
          <p:cNvPr id="53" name="Text 51"/>
          <p:cNvSpPr/>
          <p:nvPr/>
        </p:nvSpPr>
        <p:spPr>
          <a:xfrm>
            <a:off x="8686800" y="4288993"/>
            <a:ext cx="411480" cy="329184"/>
          </a:xfrm>
          <a:prstGeom prst="rect">
            <a:avLst/>
          </a:prstGeom>
          <a:noFill/>
          <a:ln/>
        </p:spPr>
        <p:txBody>
          <a:bodyPr wrap="square" lIns="0" tIns="0" rIns="0" bIns="0" rtlCol="0" anchor="ctr"/>
          <a:lstStyle/>
          <a:p>
            <a:pPr algn="ctr" indent="0" marL="0">
              <a:buNone/>
            </a:pPr>
            <a:r>
              <a:rPr lang="en-US" sz="990" b="1" dirty="0">
                <a:solidFill>
                  <a:srgbClr val="006A4E"/>
                </a:solidFill>
              </a:rPr>
              <a:t>3</a:t>
            </a:r>
            <a:endParaRPr lang="en-US" sz="990" dirty="0"/>
          </a:p>
        </p:txBody>
      </p:sp>
      <p:sp>
        <p:nvSpPr>
          <p:cNvPr id="54" name="Text 52"/>
          <p:cNvSpPr/>
          <p:nvPr/>
        </p:nvSpPr>
        <p:spPr>
          <a:xfrm>
            <a:off x="9189720" y="4251960"/>
            <a:ext cx="1737360" cy="219456"/>
          </a:xfrm>
          <a:prstGeom prst="rect">
            <a:avLst/>
          </a:prstGeom>
          <a:noFill/>
          <a:ln/>
        </p:spPr>
        <p:txBody>
          <a:bodyPr wrap="square" lIns="0" tIns="0" rIns="0" bIns="0" rtlCol="0" anchor="ctr"/>
          <a:lstStyle/>
          <a:p>
            <a:pPr indent="0" marL="0">
              <a:buNone/>
            </a:pPr>
            <a:r>
              <a:rPr lang="en-US" sz="1350" b="1" dirty="0">
                <a:solidFill>
                  <a:srgbClr val="004225"/>
                </a:solidFill>
              </a:rPr>
              <a:t>Recommend channel</a:t>
            </a:r>
            <a:endParaRPr lang="en-US" sz="1350" dirty="0"/>
          </a:p>
        </p:txBody>
      </p:sp>
      <p:sp>
        <p:nvSpPr>
          <p:cNvPr id="55" name="Text 53"/>
          <p:cNvSpPr/>
          <p:nvPr/>
        </p:nvSpPr>
        <p:spPr>
          <a:xfrm>
            <a:off x="9189720" y="4626864"/>
            <a:ext cx="2057400" cy="329184"/>
          </a:xfrm>
          <a:prstGeom prst="rect">
            <a:avLst/>
          </a:prstGeom>
          <a:noFill/>
          <a:ln/>
        </p:spPr>
        <p:txBody>
          <a:bodyPr wrap="square" lIns="0" tIns="0" rIns="0" bIns="0" rtlCol="0" anchor="ctr">
            <a:normAutofit/>
          </a:bodyPr>
          <a:lstStyle/>
          <a:p>
            <a:pPr indent="0" marL="0">
              <a:buNone/>
            </a:pPr>
            <a:r>
              <a:rPr lang="en-US" sz="940" dirty="0">
                <a:solidFill>
                  <a:srgbClr val="1D1D1F"/>
                </a:solidFill>
              </a:rPr>
              <a:t>Output customer-level recommendation, constrained plan, and impact vs BAU.</a:t>
            </a:r>
            <a:endParaRPr lang="en-US" sz="940" dirty="0"/>
          </a:p>
        </p:txBody>
      </p:sp>
      <p:sp>
        <p:nvSpPr>
          <p:cNvPr id="56" name="Shape 54"/>
          <p:cNvSpPr/>
          <p:nvPr/>
        </p:nvSpPr>
        <p:spPr>
          <a:xfrm>
            <a:off x="329184" y="5897880"/>
            <a:ext cx="11521440" cy="530352"/>
          </a:xfrm>
          <a:prstGeom prst="roundRect">
            <a:avLst>
              <a:gd name="adj" fmla="val 20690"/>
            </a:avLst>
          </a:prstGeom>
          <a:solidFill>
            <a:srgbClr val="004225"/>
          </a:solidFill>
          <a:ln w="12700">
            <a:solidFill>
              <a:srgbClr val="006A4E"/>
            </a:solidFill>
            <a:prstDash val="solid"/>
          </a:ln>
        </p:spPr>
      </p:sp>
      <p:sp>
        <p:nvSpPr>
          <p:cNvPr id="57" name="Text 55"/>
          <p:cNvSpPr/>
          <p:nvPr/>
        </p:nvSpPr>
        <p:spPr>
          <a:xfrm>
            <a:off x="530352" y="5998464"/>
            <a:ext cx="365760" cy="274320"/>
          </a:xfrm>
          <a:prstGeom prst="rect">
            <a:avLst/>
          </a:prstGeom>
          <a:noFill/>
          <a:ln/>
        </p:spPr>
        <p:txBody>
          <a:bodyPr wrap="square" lIns="0" tIns="0" rIns="0" bIns="0" rtlCol="0" anchor="ctr"/>
          <a:lstStyle/>
          <a:p>
            <a:pPr algn="ctr" indent="0" marL="0">
              <a:buNone/>
            </a:pPr>
            <a:r>
              <a:rPr lang="en-US" sz="1500" dirty="0">
                <a:solidFill>
                  <a:srgbClr val="FFFFFF"/>
                </a:solidFill>
              </a:rPr>
              <a:t>⚙</a:t>
            </a:r>
            <a:endParaRPr lang="en-US" sz="1500" dirty="0"/>
          </a:p>
        </p:txBody>
      </p:sp>
      <p:sp>
        <p:nvSpPr>
          <p:cNvPr id="58" name="Shape 56"/>
          <p:cNvSpPr/>
          <p:nvPr/>
        </p:nvSpPr>
        <p:spPr>
          <a:xfrm>
            <a:off x="1051560" y="5980176"/>
            <a:ext cx="0" cy="365760"/>
          </a:xfrm>
          <a:prstGeom prst="line">
            <a:avLst/>
          </a:prstGeom>
          <a:noFill/>
          <a:ln w="12700">
            <a:solidFill>
              <a:srgbClr val="9CD5B4"/>
            </a:solidFill>
            <a:prstDash val="solid"/>
          </a:ln>
        </p:spPr>
      </p:sp>
      <p:sp>
        <p:nvSpPr>
          <p:cNvPr id="59" name="Text 57"/>
          <p:cNvSpPr/>
          <p:nvPr/>
        </p:nvSpPr>
        <p:spPr>
          <a:xfrm>
            <a:off x="1234440" y="6053328"/>
            <a:ext cx="10149840" cy="182880"/>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rPr>
              <a:t>The optimizer recommends only channels TD can practically assign; diagnostic signals still inform the learning.</a:t>
            </a:r>
            <a:endParaRPr lang="en-US" sz="1350" dirty="0"/>
          </a:p>
        </p:txBody>
      </p:sp>
      <p:sp>
        <p:nvSpPr>
          <p:cNvPr id="60" name="Shape 58"/>
          <p:cNvSpPr/>
          <p:nvPr/>
        </p:nvSpPr>
        <p:spPr>
          <a:xfrm>
            <a:off x="320040" y="6400800"/>
            <a:ext cx="11567160" cy="0"/>
          </a:xfrm>
          <a:prstGeom prst="line">
            <a:avLst/>
          </a:prstGeom>
          <a:noFill/>
          <a:ln w="10160">
            <a:solidFill>
              <a:srgbClr val="D7DED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19456"/>
            <a:ext cx="11430000" cy="438912"/>
          </a:xfrm>
          <a:prstGeom prst="rect">
            <a:avLst/>
          </a:prstGeom>
          <a:noFill/>
          <a:ln/>
        </p:spPr>
        <p:txBody>
          <a:bodyPr wrap="square" lIns="0" tIns="0" rIns="0" bIns="0" rtlCol="0" anchor="ctr">
            <a:normAutofit/>
          </a:bodyPr>
          <a:lstStyle/>
          <a:p>
            <a:pPr indent="0" marL="0">
              <a:buNone/>
            </a:pPr>
            <a:r>
              <a:rPr lang="en-US" sz="2800" b="1" dirty="0">
                <a:solidFill>
                  <a:srgbClr val="004225"/>
                </a:solidFill>
                <a:latin typeface="Arial" pitchFamily="34" charset="0"/>
                <a:ea typeface="Arial" pitchFamily="34" charset="-122"/>
                <a:cs typeface="Arial" pitchFamily="34" charset="-120"/>
              </a:rPr>
              <a:t>What Changes Under Lumen AI</a:t>
            </a:r>
            <a:endParaRPr lang="en-US" sz="2800" dirty="0"/>
          </a:p>
        </p:txBody>
      </p:sp>
      <p:sp>
        <p:nvSpPr>
          <p:cNvPr id="3" name="Text 1"/>
          <p:cNvSpPr/>
          <p:nvPr/>
        </p:nvSpPr>
        <p:spPr>
          <a:xfrm>
            <a:off x="329184" y="768096"/>
            <a:ext cx="9601200" cy="228600"/>
          </a:xfrm>
          <a:prstGeom prst="rect">
            <a:avLst/>
          </a:prstGeom>
          <a:noFill/>
          <a:ln/>
        </p:spPr>
        <p:txBody>
          <a:bodyPr wrap="square" lIns="0" tIns="0" rIns="0" bIns="0" rtlCol="0" anchor="ctr"/>
          <a:lstStyle/>
          <a:p>
            <a:pPr indent="0" marL="0">
              <a:buNone/>
            </a:pPr>
            <a:r>
              <a:rPr lang="en-US" sz="1400" dirty="0">
                <a:solidFill>
                  <a:srgbClr val="6B7280"/>
                </a:solidFill>
              </a:rPr>
              <a:t>Historical simulation: BAU vs optimized controllable-channel mix</a:t>
            </a:r>
            <a:endParaRPr lang="en-US" sz="1400" dirty="0"/>
          </a:p>
        </p:txBody>
      </p:sp>
      <p:sp>
        <p:nvSpPr>
          <p:cNvPr id="4" name="Shape 2"/>
          <p:cNvSpPr/>
          <p:nvPr/>
        </p:nvSpPr>
        <p:spPr>
          <a:xfrm>
            <a:off x="320040" y="1078992"/>
            <a:ext cx="11567160" cy="0"/>
          </a:xfrm>
          <a:prstGeom prst="line">
            <a:avLst/>
          </a:prstGeom>
          <a:noFill/>
          <a:ln w="12700">
            <a:solidFill>
              <a:srgbClr val="D7DED9"/>
            </a:solidFill>
            <a:prstDash val="solid"/>
          </a:ln>
        </p:spPr>
      </p:sp>
      <p:sp>
        <p:nvSpPr>
          <p:cNvPr id="5" name="Text 3"/>
          <p:cNvSpPr/>
          <p:nvPr/>
        </p:nvSpPr>
        <p:spPr>
          <a:xfrm>
            <a:off x="329184" y="6510528"/>
            <a:ext cx="3657600" cy="182880"/>
          </a:xfrm>
          <a:prstGeom prst="rect">
            <a:avLst/>
          </a:prstGeom>
          <a:noFill/>
          <a:ln/>
        </p:spPr>
        <p:txBody>
          <a:bodyPr wrap="square" lIns="0" tIns="0" rIns="0" bIns="0" rtlCol="0" anchor="ctr"/>
          <a:lstStyle/>
          <a:p>
            <a:pPr indent="0" marL="0">
              <a:buNone/>
            </a:pPr>
            <a:r>
              <a:rPr lang="en-US" sz="850" dirty="0">
                <a:solidFill>
                  <a:srgbClr val="6B7280"/>
                </a:solidFill>
              </a:rPr>
              <a:t>Presenter: Mehrazin</a:t>
            </a:r>
            <a:endParaRPr lang="en-US" sz="850" dirty="0"/>
          </a:p>
        </p:txBody>
      </p:sp>
      <p:sp>
        <p:nvSpPr>
          <p:cNvPr id="6" name="Text 4"/>
          <p:cNvSpPr/>
          <p:nvPr/>
        </p:nvSpPr>
        <p:spPr>
          <a:xfrm>
            <a:off x="10927080" y="6510528"/>
            <a:ext cx="914400" cy="182880"/>
          </a:xfrm>
          <a:prstGeom prst="rect">
            <a:avLst/>
          </a:prstGeom>
          <a:noFill/>
          <a:ln/>
        </p:spPr>
        <p:txBody>
          <a:bodyPr wrap="square" lIns="0" tIns="0" rIns="0" bIns="0" rtlCol="0" anchor="ctr"/>
          <a:lstStyle/>
          <a:p>
            <a:pPr algn="r" indent="0" marL="0">
              <a:buNone/>
            </a:pPr>
            <a:r>
              <a:rPr lang="en-US" sz="850" dirty="0">
                <a:solidFill>
                  <a:srgbClr val="6B7280"/>
                </a:solidFill>
              </a:rPr>
              <a:t>Slide 4 of 4</a:t>
            </a:r>
            <a:endParaRPr lang="en-US" sz="850" dirty="0"/>
          </a:p>
        </p:txBody>
      </p:sp>
      <p:sp>
        <p:nvSpPr>
          <p:cNvPr id="7" name="Shape 5"/>
          <p:cNvSpPr/>
          <p:nvPr/>
        </p:nvSpPr>
        <p:spPr>
          <a:xfrm>
            <a:off x="411480" y="1298448"/>
            <a:ext cx="5669280" cy="3246120"/>
          </a:xfrm>
          <a:prstGeom prst="roundRect">
            <a:avLst>
              <a:gd name="adj" fmla="val 3380"/>
            </a:avLst>
          </a:prstGeom>
          <a:solidFill>
            <a:srgbClr val="FFFFFF"/>
          </a:solidFill>
          <a:ln w="12700">
            <a:solidFill>
              <a:srgbClr val="B5D2BF"/>
            </a:solidFill>
            <a:prstDash val="solid"/>
          </a:ln>
          <a:effectLst>
            <a:outerShdw sx="100000" sy="100000" kx="0" ky="0" algn="bl" rotWithShape="0" blurRad="12700" dist="50800" dir="2700000">
              <a:srgbClr val="B9C5BE">
                <a:alpha val="12000"/>
              </a:srgbClr>
            </a:outerShdw>
          </a:effectLst>
        </p:spPr>
      </p:sp>
      <p:sp>
        <p:nvSpPr>
          <p:cNvPr id="8" name="Text 6"/>
          <p:cNvSpPr/>
          <p:nvPr/>
        </p:nvSpPr>
        <p:spPr>
          <a:xfrm>
            <a:off x="685800" y="1572768"/>
            <a:ext cx="2011680" cy="201168"/>
          </a:xfrm>
          <a:prstGeom prst="rect">
            <a:avLst/>
          </a:prstGeom>
          <a:noFill/>
          <a:ln/>
        </p:spPr>
        <p:txBody>
          <a:bodyPr wrap="square" lIns="0" tIns="0" rIns="0" bIns="0" rtlCol="0" anchor="ctr"/>
          <a:lstStyle/>
          <a:p>
            <a:pPr indent="0" marL="0">
              <a:buNone/>
            </a:pPr>
            <a:r>
              <a:rPr lang="en-US" sz="1400" b="1" dirty="0">
                <a:solidFill>
                  <a:srgbClr val="004225"/>
                </a:solidFill>
              </a:rPr>
              <a:t>Channel mix changes</a:t>
            </a:r>
            <a:endParaRPr lang="en-US" sz="1400" dirty="0"/>
          </a:p>
        </p:txBody>
      </p:sp>
      <p:sp>
        <p:nvSpPr>
          <p:cNvPr id="9" name="Text 7"/>
          <p:cNvSpPr/>
          <p:nvPr/>
        </p:nvSpPr>
        <p:spPr>
          <a:xfrm>
            <a:off x="685800" y="2011680"/>
            <a:ext cx="868680" cy="310896"/>
          </a:xfrm>
          <a:prstGeom prst="rect">
            <a:avLst/>
          </a:prstGeom>
          <a:noFill/>
          <a:ln/>
        </p:spPr>
        <p:txBody>
          <a:bodyPr wrap="square" lIns="0" tIns="0" rIns="0" bIns="0" rtlCol="0" anchor="ctr">
            <a:normAutofit/>
          </a:bodyPr>
          <a:lstStyle/>
          <a:p>
            <a:pPr indent="0" marL="0">
              <a:buNone/>
            </a:pPr>
            <a:r>
              <a:rPr lang="en-US" sz="880" b="1" dirty="0">
                <a:solidFill>
                  <a:srgbClr val="1D1D1F"/>
                </a:solidFill>
              </a:rPr>
              <a:t>BAU</a:t>
            </a:r>
            <a:endParaRPr lang="en-US" sz="880" dirty="0"/>
          </a:p>
        </p:txBody>
      </p:sp>
      <p:sp>
        <p:nvSpPr>
          <p:cNvPr id="10" name="Shape 8"/>
          <p:cNvSpPr/>
          <p:nvPr/>
        </p:nvSpPr>
        <p:spPr>
          <a:xfrm>
            <a:off x="1664208" y="1965960"/>
            <a:ext cx="732434" cy="384048"/>
          </a:xfrm>
          <a:prstGeom prst="rect">
            <a:avLst/>
          </a:prstGeom>
          <a:solidFill>
            <a:srgbClr val="006A4E"/>
          </a:solidFill>
          <a:ln w="6350">
            <a:solidFill>
              <a:srgbClr val="FFFFFF"/>
            </a:solidFill>
            <a:prstDash val="solid"/>
          </a:ln>
        </p:spPr>
      </p:sp>
      <p:sp>
        <p:nvSpPr>
          <p:cNvPr id="11" name="Text 9"/>
          <p:cNvSpPr/>
          <p:nvPr/>
        </p:nvSpPr>
        <p:spPr>
          <a:xfrm>
            <a:off x="1682496" y="2075688"/>
            <a:ext cx="69585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18%</a:t>
            </a:r>
            <a:endParaRPr lang="en-US" sz="750" dirty="0"/>
          </a:p>
        </p:txBody>
      </p:sp>
      <p:sp>
        <p:nvSpPr>
          <p:cNvPr id="12" name="Shape 10"/>
          <p:cNvSpPr/>
          <p:nvPr/>
        </p:nvSpPr>
        <p:spPr>
          <a:xfrm>
            <a:off x="2396642" y="1965960"/>
            <a:ext cx="895198" cy="384048"/>
          </a:xfrm>
          <a:prstGeom prst="rect">
            <a:avLst/>
          </a:prstGeom>
          <a:solidFill>
            <a:srgbClr val="6CA543"/>
          </a:solidFill>
          <a:ln w="6350">
            <a:solidFill>
              <a:srgbClr val="FFFFFF"/>
            </a:solidFill>
            <a:prstDash val="solid"/>
          </a:ln>
        </p:spPr>
      </p:sp>
      <p:sp>
        <p:nvSpPr>
          <p:cNvPr id="13" name="Text 11"/>
          <p:cNvSpPr/>
          <p:nvPr/>
        </p:nvSpPr>
        <p:spPr>
          <a:xfrm>
            <a:off x="2414930" y="2075688"/>
            <a:ext cx="85862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22%</a:t>
            </a:r>
            <a:endParaRPr lang="en-US" sz="750" dirty="0"/>
          </a:p>
        </p:txBody>
      </p:sp>
      <p:sp>
        <p:nvSpPr>
          <p:cNvPr id="14" name="Shape 12"/>
          <p:cNvSpPr/>
          <p:nvPr/>
        </p:nvSpPr>
        <p:spPr>
          <a:xfrm>
            <a:off x="3291840" y="1965960"/>
            <a:ext cx="610362" cy="384048"/>
          </a:xfrm>
          <a:prstGeom prst="rect">
            <a:avLst/>
          </a:prstGeom>
          <a:solidFill>
            <a:srgbClr val="2F6DB5"/>
          </a:solidFill>
          <a:ln w="6350">
            <a:solidFill>
              <a:srgbClr val="FFFFFF"/>
            </a:solidFill>
            <a:prstDash val="solid"/>
          </a:ln>
        </p:spPr>
      </p:sp>
      <p:sp>
        <p:nvSpPr>
          <p:cNvPr id="15" name="Text 13"/>
          <p:cNvSpPr/>
          <p:nvPr/>
        </p:nvSpPr>
        <p:spPr>
          <a:xfrm>
            <a:off x="3310128" y="2075688"/>
            <a:ext cx="573786"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15%</a:t>
            </a:r>
            <a:endParaRPr lang="en-US" sz="750" dirty="0"/>
          </a:p>
        </p:txBody>
      </p:sp>
      <p:sp>
        <p:nvSpPr>
          <p:cNvPr id="16" name="Shape 14"/>
          <p:cNvSpPr/>
          <p:nvPr/>
        </p:nvSpPr>
        <p:spPr>
          <a:xfrm>
            <a:off x="3902202" y="1965960"/>
            <a:ext cx="610362" cy="384048"/>
          </a:xfrm>
          <a:prstGeom prst="rect">
            <a:avLst/>
          </a:prstGeom>
          <a:solidFill>
            <a:srgbClr val="6B4FA3"/>
          </a:solidFill>
          <a:ln w="6350">
            <a:solidFill>
              <a:srgbClr val="FFFFFF"/>
            </a:solidFill>
            <a:prstDash val="solid"/>
          </a:ln>
        </p:spPr>
      </p:sp>
      <p:sp>
        <p:nvSpPr>
          <p:cNvPr id="17" name="Text 15"/>
          <p:cNvSpPr/>
          <p:nvPr/>
        </p:nvSpPr>
        <p:spPr>
          <a:xfrm>
            <a:off x="3920490" y="2075688"/>
            <a:ext cx="573786"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15%</a:t>
            </a:r>
            <a:endParaRPr lang="en-US" sz="750" dirty="0"/>
          </a:p>
        </p:txBody>
      </p:sp>
      <p:sp>
        <p:nvSpPr>
          <p:cNvPr id="18" name="Shape 16"/>
          <p:cNvSpPr/>
          <p:nvPr/>
        </p:nvSpPr>
        <p:spPr>
          <a:xfrm>
            <a:off x="4512564" y="1965960"/>
            <a:ext cx="406908" cy="384048"/>
          </a:xfrm>
          <a:prstGeom prst="rect">
            <a:avLst/>
          </a:prstGeom>
          <a:solidFill>
            <a:srgbClr val="23A6B4"/>
          </a:solidFill>
          <a:ln w="6350">
            <a:solidFill>
              <a:srgbClr val="FFFFFF"/>
            </a:solidFill>
            <a:prstDash val="solid"/>
          </a:ln>
        </p:spPr>
      </p:sp>
      <p:sp>
        <p:nvSpPr>
          <p:cNvPr id="19" name="Text 17"/>
          <p:cNvSpPr/>
          <p:nvPr/>
        </p:nvSpPr>
        <p:spPr>
          <a:xfrm>
            <a:off x="4530852" y="2075688"/>
            <a:ext cx="37033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10%</a:t>
            </a:r>
            <a:endParaRPr lang="en-US" sz="750" dirty="0"/>
          </a:p>
        </p:txBody>
      </p:sp>
      <p:sp>
        <p:nvSpPr>
          <p:cNvPr id="20" name="Shape 18"/>
          <p:cNvSpPr/>
          <p:nvPr/>
        </p:nvSpPr>
        <p:spPr>
          <a:xfrm>
            <a:off x="4919472" y="1965960"/>
            <a:ext cx="325526" cy="384048"/>
          </a:xfrm>
          <a:prstGeom prst="rect">
            <a:avLst/>
          </a:prstGeom>
          <a:solidFill>
            <a:srgbClr val="F2A900"/>
          </a:solidFill>
          <a:ln w="6350">
            <a:solidFill>
              <a:srgbClr val="FFFFFF"/>
            </a:solidFill>
            <a:prstDash val="solid"/>
          </a:ln>
        </p:spPr>
      </p:sp>
      <p:sp>
        <p:nvSpPr>
          <p:cNvPr id="21" name="Text 19"/>
          <p:cNvSpPr/>
          <p:nvPr/>
        </p:nvSpPr>
        <p:spPr>
          <a:xfrm>
            <a:off x="4937760" y="2075688"/>
            <a:ext cx="288950"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8%</a:t>
            </a:r>
            <a:endParaRPr lang="en-US" sz="750" dirty="0"/>
          </a:p>
        </p:txBody>
      </p:sp>
      <p:sp>
        <p:nvSpPr>
          <p:cNvPr id="22" name="Shape 20"/>
          <p:cNvSpPr/>
          <p:nvPr/>
        </p:nvSpPr>
        <p:spPr>
          <a:xfrm>
            <a:off x="5244998" y="1965960"/>
            <a:ext cx="488290" cy="384048"/>
          </a:xfrm>
          <a:prstGeom prst="rect">
            <a:avLst/>
          </a:prstGeom>
          <a:solidFill>
            <a:srgbClr val="55565A"/>
          </a:solidFill>
          <a:ln w="6350">
            <a:solidFill>
              <a:srgbClr val="FFFFFF"/>
            </a:solidFill>
            <a:prstDash val="solid"/>
          </a:ln>
        </p:spPr>
      </p:sp>
      <p:sp>
        <p:nvSpPr>
          <p:cNvPr id="23" name="Text 21"/>
          <p:cNvSpPr/>
          <p:nvPr/>
        </p:nvSpPr>
        <p:spPr>
          <a:xfrm>
            <a:off x="5263286" y="2075688"/>
            <a:ext cx="451714"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12%</a:t>
            </a:r>
            <a:endParaRPr lang="en-US" sz="750" dirty="0"/>
          </a:p>
        </p:txBody>
      </p:sp>
      <p:sp>
        <p:nvSpPr>
          <p:cNvPr id="24" name="Text 22"/>
          <p:cNvSpPr/>
          <p:nvPr/>
        </p:nvSpPr>
        <p:spPr>
          <a:xfrm>
            <a:off x="685800" y="2670048"/>
            <a:ext cx="868680" cy="310896"/>
          </a:xfrm>
          <a:prstGeom prst="rect">
            <a:avLst/>
          </a:prstGeom>
          <a:noFill/>
          <a:ln/>
        </p:spPr>
        <p:txBody>
          <a:bodyPr wrap="square" lIns="0" tIns="0" rIns="0" bIns="0" rtlCol="0" anchor="ctr">
            <a:normAutofit/>
          </a:bodyPr>
          <a:lstStyle/>
          <a:p>
            <a:pPr indent="0" marL="0">
              <a:buNone/>
            </a:pPr>
            <a:r>
              <a:rPr lang="en-US" sz="880" b="1" dirty="0">
                <a:solidFill>
                  <a:srgbClr val="1D1D1F"/>
                </a:solidFill>
              </a:rPr>
              <a:t>Optimizer —</a:t>
            </a:r>
            <a:endParaRPr lang="en-US" sz="880" dirty="0"/>
          </a:p>
          <a:p>
            <a:pPr indent="0" marL="0">
              <a:buNone/>
            </a:pPr>
            <a:r>
              <a:rPr lang="en-US" sz="880" b="1" dirty="0">
                <a:solidFill>
                  <a:srgbClr val="1D1D1F"/>
                </a:solidFill>
              </a:rPr>
              <a:t>unconstrained</a:t>
            </a:r>
            <a:endParaRPr lang="en-US" sz="880" dirty="0"/>
          </a:p>
        </p:txBody>
      </p:sp>
      <p:sp>
        <p:nvSpPr>
          <p:cNvPr id="25" name="Shape 23"/>
          <p:cNvSpPr/>
          <p:nvPr/>
        </p:nvSpPr>
        <p:spPr>
          <a:xfrm>
            <a:off x="1664208" y="2624328"/>
            <a:ext cx="406908" cy="384048"/>
          </a:xfrm>
          <a:prstGeom prst="rect">
            <a:avLst/>
          </a:prstGeom>
          <a:solidFill>
            <a:srgbClr val="006A4E"/>
          </a:solidFill>
          <a:ln w="6350">
            <a:solidFill>
              <a:srgbClr val="FFFFFF"/>
            </a:solidFill>
            <a:prstDash val="solid"/>
          </a:ln>
        </p:spPr>
      </p:sp>
      <p:sp>
        <p:nvSpPr>
          <p:cNvPr id="26" name="Text 24"/>
          <p:cNvSpPr/>
          <p:nvPr/>
        </p:nvSpPr>
        <p:spPr>
          <a:xfrm>
            <a:off x="1682496" y="2734056"/>
            <a:ext cx="37033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10%</a:t>
            </a:r>
            <a:endParaRPr lang="en-US" sz="750" dirty="0"/>
          </a:p>
        </p:txBody>
      </p:sp>
      <p:sp>
        <p:nvSpPr>
          <p:cNvPr id="27" name="Shape 25"/>
          <p:cNvSpPr/>
          <p:nvPr/>
        </p:nvSpPr>
        <p:spPr>
          <a:xfrm>
            <a:off x="2071116" y="2624328"/>
            <a:ext cx="610362" cy="384048"/>
          </a:xfrm>
          <a:prstGeom prst="rect">
            <a:avLst/>
          </a:prstGeom>
          <a:solidFill>
            <a:srgbClr val="6CA543"/>
          </a:solidFill>
          <a:ln w="6350">
            <a:solidFill>
              <a:srgbClr val="FFFFFF"/>
            </a:solidFill>
            <a:prstDash val="solid"/>
          </a:ln>
        </p:spPr>
      </p:sp>
      <p:sp>
        <p:nvSpPr>
          <p:cNvPr id="28" name="Text 26"/>
          <p:cNvSpPr/>
          <p:nvPr/>
        </p:nvSpPr>
        <p:spPr>
          <a:xfrm>
            <a:off x="2089404" y="2734056"/>
            <a:ext cx="573786"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15%</a:t>
            </a:r>
            <a:endParaRPr lang="en-US" sz="750" dirty="0"/>
          </a:p>
        </p:txBody>
      </p:sp>
      <p:sp>
        <p:nvSpPr>
          <p:cNvPr id="29" name="Shape 27"/>
          <p:cNvSpPr/>
          <p:nvPr/>
        </p:nvSpPr>
        <p:spPr>
          <a:xfrm>
            <a:off x="2681478" y="2624328"/>
            <a:ext cx="203454" cy="384048"/>
          </a:xfrm>
          <a:prstGeom prst="rect">
            <a:avLst/>
          </a:prstGeom>
          <a:solidFill>
            <a:srgbClr val="2F6DB5"/>
          </a:solidFill>
          <a:ln w="6350">
            <a:solidFill>
              <a:srgbClr val="FFFFFF"/>
            </a:solidFill>
            <a:prstDash val="solid"/>
          </a:ln>
        </p:spPr>
      </p:sp>
      <p:sp>
        <p:nvSpPr>
          <p:cNvPr id="30" name="Shape 28"/>
          <p:cNvSpPr/>
          <p:nvPr/>
        </p:nvSpPr>
        <p:spPr>
          <a:xfrm>
            <a:off x="2884932" y="2624328"/>
            <a:ext cx="203454" cy="384048"/>
          </a:xfrm>
          <a:prstGeom prst="rect">
            <a:avLst/>
          </a:prstGeom>
          <a:solidFill>
            <a:srgbClr val="6B4FA3"/>
          </a:solidFill>
          <a:ln w="6350">
            <a:solidFill>
              <a:srgbClr val="FFFFFF"/>
            </a:solidFill>
            <a:prstDash val="solid"/>
          </a:ln>
        </p:spPr>
      </p:sp>
      <p:sp>
        <p:nvSpPr>
          <p:cNvPr id="31" name="Shape 29"/>
          <p:cNvSpPr/>
          <p:nvPr/>
        </p:nvSpPr>
        <p:spPr>
          <a:xfrm>
            <a:off x="3088386" y="2624328"/>
            <a:ext cx="1017270" cy="384048"/>
          </a:xfrm>
          <a:prstGeom prst="rect">
            <a:avLst/>
          </a:prstGeom>
          <a:solidFill>
            <a:srgbClr val="23A6B4"/>
          </a:solidFill>
          <a:ln w="6350">
            <a:solidFill>
              <a:srgbClr val="FFFFFF"/>
            </a:solidFill>
            <a:prstDash val="solid"/>
          </a:ln>
        </p:spPr>
      </p:sp>
      <p:sp>
        <p:nvSpPr>
          <p:cNvPr id="32" name="Text 30"/>
          <p:cNvSpPr/>
          <p:nvPr/>
        </p:nvSpPr>
        <p:spPr>
          <a:xfrm>
            <a:off x="3106674" y="2734056"/>
            <a:ext cx="980694"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25%</a:t>
            </a:r>
            <a:endParaRPr lang="en-US" sz="750" dirty="0"/>
          </a:p>
        </p:txBody>
      </p:sp>
      <p:sp>
        <p:nvSpPr>
          <p:cNvPr id="33" name="Shape 31"/>
          <p:cNvSpPr/>
          <p:nvPr/>
        </p:nvSpPr>
        <p:spPr>
          <a:xfrm>
            <a:off x="4105656" y="2624328"/>
            <a:ext cx="406908" cy="384048"/>
          </a:xfrm>
          <a:prstGeom prst="rect">
            <a:avLst/>
          </a:prstGeom>
          <a:solidFill>
            <a:srgbClr val="F2A900"/>
          </a:solidFill>
          <a:ln w="6350">
            <a:solidFill>
              <a:srgbClr val="FFFFFF"/>
            </a:solidFill>
            <a:prstDash val="solid"/>
          </a:ln>
        </p:spPr>
      </p:sp>
      <p:sp>
        <p:nvSpPr>
          <p:cNvPr id="34" name="Text 32"/>
          <p:cNvSpPr/>
          <p:nvPr/>
        </p:nvSpPr>
        <p:spPr>
          <a:xfrm>
            <a:off x="4123944" y="2734056"/>
            <a:ext cx="37033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10%</a:t>
            </a:r>
            <a:endParaRPr lang="en-US" sz="750" dirty="0"/>
          </a:p>
        </p:txBody>
      </p:sp>
      <p:sp>
        <p:nvSpPr>
          <p:cNvPr id="35" name="Shape 33"/>
          <p:cNvSpPr/>
          <p:nvPr/>
        </p:nvSpPr>
        <p:spPr>
          <a:xfrm>
            <a:off x="4512564" y="2624328"/>
            <a:ext cx="1220724" cy="384048"/>
          </a:xfrm>
          <a:prstGeom prst="rect">
            <a:avLst/>
          </a:prstGeom>
          <a:solidFill>
            <a:srgbClr val="55565A"/>
          </a:solidFill>
          <a:ln w="6350">
            <a:solidFill>
              <a:srgbClr val="FFFFFF"/>
            </a:solidFill>
            <a:prstDash val="solid"/>
          </a:ln>
        </p:spPr>
      </p:sp>
      <p:sp>
        <p:nvSpPr>
          <p:cNvPr id="36" name="Text 34"/>
          <p:cNvSpPr/>
          <p:nvPr/>
        </p:nvSpPr>
        <p:spPr>
          <a:xfrm>
            <a:off x="4530852" y="2734056"/>
            <a:ext cx="118414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30%</a:t>
            </a:r>
            <a:endParaRPr lang="en-US" sz="750" dirty="0"/>
          </a:p>
        </p:txBody>
      </p:sp>
      <p:sp>
        <p:nvSpPr>
          <p:cNvPr id="37" name="Text 35"/>
          <p:cNvSpPr/>
          <p:nvPr/>
        </p:nvSpPr>
        <p:spPr>
          <a:xfrm>
            <a:off x="685800" y="3328416"/>
            <a:ext cx="868680" cy="310896"/>
          </a:xfrm>
          <a:prstGeom prst="rect">
            <a:avLst/>
          </a:prstGeom>
          <a:noFill/>
          <a:ln/>
        </p:spPr>
        <p:txBody>
          <a:bodyPr wrap="square" lIns="0" tIns="0" rIns="0" bIns="0" rtlCol="0" anchor="ctr">
            <a:normAutofit/>
          </a:bodyPr>
          <a:lstStyle/>
          <a:p>
            <a:pPr indent="0" marL="0">
              <a:buNone/>
            </a:pPr>
            <a:r>
              <a:rPr lang="en-US" sz="880" b="1" dirty="0">
                <a:solidFill>
                  <a:srgbClr val="1D1D1F"/>
                </a:solidFill>
              </a:rPr>
              <a:t>Optimizer —</a:t>
            </a:r>
            <a:endParaRPr lang="en-US" sz="880" dirty="0"/>
          </a:p>
          <a:p>
            <a:pPr indent="0" marL="0">
              <a:buNone/>
            </a:pPr>
            <a:r>
              <a:rPr lang="en-US" sz="880" b="1" dirty="0">
                <a:solidFill>
                  <a:srgbClr val="1D1D1F"/>
                </a:solidFill>
              </a:rPr>
              <a:t>constrained</a:t>
            </a:r>
            <a:endParaRPr lang="en-US" sz="880" dirty="0"/>
          </a:p>
        </p:txBody>
      </p:sp>
      <p:sp>
        <p:nvSpPr>
          <p:cNvPr id="38" name="Shape 36"/>
          <p:cNvSpPr/>
          <p:nvPr/>
        </p:nvSpPr>
        <p:spPr>
          <a:xfrm>
            <a:off x="1664208" y="3282696"/>
            <a:ext cx="569671" cy="384048"/>
          </a:xfrm>
          <a:prstGeom prst="rect">
            <a:avLst/>
          </a:prstGeom>
          <a:solidFill>
            <a:srgbClr val="006A4E"/>
          </a:solidFill>
          <a:ln w="6350">
            <a:solidFill>
              <a:srgbClr val="FFFFFF"/>
            </a:solidFill>
            <a:prstDash val="solid"/>
          </a:ln>
        </p:spPr>
      </p:sp>
      <p:sp>
        <p:nvSpPr>
          <p:cNvPr id="39" name="Text 37"/>
          <p:cNvSpPr/>
          <p:nvPr/>
        </p:nvSpPr>
        <p:spPr>
          <a:xfrm>
            <a:off x="1682496" y="3392424"/>
            <a:ext cx="533095"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14%</a:t>
            </a:r>
            <a:endParaRPr lang="en-US" sz="750" dirty="0"/>
          </a:p>
        </p:txBody>
      </p:sp>
      <p:sp>
        <p:nvSpPr>
          <p:cNvPr id="40" name="Shape 38"/>
          <p:cNvSpPr/>
          <p:nvPr/>
        </p:nvSpPr>
        <p:spPr>
          <a:xfrm>
            <a:off x="2233879" y="3282696"/>
            <a:ext cx="732434" cy="384048"/>
          </a:xfrm>
          <a:prstGeom prst="rect">
            <a:avLst/>
          </a:prstGeom>
          <a:solidFill>
            <a:srgbClr val="6CA543"/>
          </a:solidFill>
          <a:ln w="6350">
            <a:solidFill>
              <a:srgbClr val="FFFFFF"/>
            </a:solidFill>
            <a:prstDash val="solid"/>
          </a:ln>
        </p:spPr>
      </p:sp>
      <p:sp>
        <p:nvSpPr>
          <p:cNvPr id="41" name="Text 39"/>
          <p:cNvSpPr/>
          <p:nvPr/>
        </p:nvSpPr>
        <p:spPr>
          <a:xfrm>
            <a:off x="2252167" y="3392424"/>
            <a:ext cx="69585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18%</a:t>
            </a:r>
            <a:endParaRPr lang="en-US" sz="750" dirty="0"/>
          </a:p>
        </p:txBody>
      </p:sp>
      <p:sp>
        <p:nvSpPr>
          <p:cNvPr id="42" name="Shape 40"/>
          <p:cNvSpPr/>
          <p:nvPr/>
        </p:nvSpPr>
        <p:spPr>
          <a:xfrm>
            <a:off x="2966314" y="3282696"/>
            <a:ext cx="406908" cy="384048"/>
          </a:xfrm>
          <a:prstGeom prst="rect">
            <a:avLst/>
          </a:prstGeom>
          <a:solidFill>
            <a:srgbClr val="2F6DB5"/>
          </a:solidFill>
          <a:ln w="6350">
            <a:solidFill>
              <a:srgbClr val="FFFFFF"/>
            </a:solidFill>
            <a:prstDash val="solid"/>
          </a:ln>
        </p:spPr>
      </p:sp>
      <p:sp>
        <p:nvSpPr>
          <p:cNvPr id="43" name="Text 41"/>
          <p:cNvSpPr/>
          <p:nvPr/>
        </p:nvSpPr>
        <p:spPr>
          <a:xfrm>
            <a:off x="2984602" y="3392424"/>
            <a:ext cx="37033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10%</a:t>
            </a:r>
            <a:endParaRPr lang="en-US" sz="750" dirty="0"/>
          </a:p>
        </p:txBody>
      </p:sp>
      <p:sp>
        <p:nvSpPr>
          <p:cNvPr id="44" name="Shape 42"/>
          <p:cNvSpPr/>
          <p:nvPr/>
        </p:nvSpPr>
        <p:spPr>
          <a:xfrm>
            <a:off x="3373222" y="3282696"/>
            <a:ext cx="406908" cy="384048"/>
          </a:xfrm>
          <a:prstGeom prst="rect">
            <a:avLst/>
          </a:prstGeom>
          <a:solidFill>
            <a:srgbClr val="6B4FA3"/>
          </a:solidFill>
          <a:ln w="6350">
            <a:solidFill>
              <a:srgbClr val="FFFFFF"/>
            </a:solidFill>
            <a:prstDash val="solid"/>
          </a:ln>
        </p:spPr>
      </p:sp>
      <p:sp>
        <p:nvSpPr>
          <p:cNvPr id="45" name="Text 43"/>
          <p:cNvSpPr/>
          <p:nvPr/>
        </p:nvSpPr>
        <p:spPr>
          <a:xfrm>
            <a:off x="3391510" y="3392424"/>
            <a:ext cx="37033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10%</a:t>
            </a:r>
            <a:endParaRPr lang="en-US" sz="750" dirty="0"/>
          </a:p>
        </p:txBody>
      </p:sp>
      <p:sp>
        <p:nvSpPr>
          <p:cNvPr id="46" name="Shape 44"/>
          <p:cNvSpPr/>
          <p:nvPr/>
        </p:nvSpPr>
        <p:spPr>
          <a:xfrm>
            <a:off x="3780130" y="3282696"/>
            <a:ext cx="732434" cy="384048"/>
          </a:xfrm>
          <a:prstGeom prst="rect">
            <a:avLst/>
          </a:prstGeom>
          <a:solidFill>
            <a:srgbClr val="23A6B4"/>
          </a:solidFill>
          <a:ln w="6350">
            <a:solidFill>
              <a:srgbClr val="FFFFFF"/>
            </a:solidFill>
            <a:prstDash val="solid"/>
          </a:ln>
        </p:spPr>
      </p:sp>
      <p:sp>
        <p:nvSpPr>
          <p:cNvPr id="47" name="Text 45"/>
          <p:cNvSpPr/>
          <p:nvPr/>
        </p:nvSpPr>
        <p:spPr>
          <a:xfrm>
            <a:off x="3798418" y="3392424"/>
            <a:ext cx="69585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18%</a:t>
            </a:r>
            <a:endParaRPr lang="en-US" sz="750" dirty="0"/>
          </a:p>
        </p:txBody>
      </p:sp>
      <p:sp>
        <p:nvSpPr>
          <p:cNvPr id="48" name="Shape 46"/>
          <p:cNvSpPr/>
          <p:nvPr/>
        </p:nvSpPr>
        <p:spPr>
          <a:xfrm>
            <a:off x="4512564" y="3282696"/>
            <a:ext cx="406908" cy="384048"/>
          </a:xfrm>
          <a:prstGeom prst="rect">
            <a:avLst/>
          </a:prstGeom>
          <a:solidFill>
            <a:srgbClr val="F2A900"/>
          </a:solidFill>
          <a:ln w="6350">
            <a:solidFill>
              <a:srgbClr val="FFFFFF"/>
            </a:solidFill>
            <a:prstDash val="solid"/>
          </a:ln>
        </p:spPr>
      </p:sp>
      <p:sp>
        <p:nvSpPr>
          <p:cNvPr id="49" name="Text 47"/>
          <p:cNvSpPr/>
          <p:nvPr/>
        </p:nvSpPr>
        <p:spPr>
          <a:xfrm>
            <a:off x="4530852" y="3392424"/>
            <a:ext cx="370332"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10%</a:t>
            </a:r>
            <a:endParaRPr lang="en-US" sz="750" dirty="0"/>
          </a:p>
        </p:txBody>
      </p:sp>
      <p:sp>
        <p:nvSpPr>
          <p:cNvPr id="50" name="Shape 48"/>
          <p:cNvSpPr/>
          <p:nvPr/>
        </p:nvSpPr>
        <p:spPr>
          <a:xfrm>
            <a:off x="4919472" y="3282696"/>
            <a:ext cx="813816" cy="384048"/>
          </a:xfrm>
          <a:prstGeom prst="rect">
            <a:avLst/>
          </a:prstGeom>
          <a:solidFill>
            <a:srgbClr val="55565A"/>
          </a:solidFill>
          <a:ln w="6350">
            <a:solidFill>
              <a:srgbClr val="FFFFFF"/>
            </a:solidFill>
            <a:prstDash val="solid"/>
          </a:ln>
        </p:spPr>
      </p:sp>
      <p:sp>
        <p:nvSpPr>
          <p:cNvPr id="51" name="Text 49"/>
          <p:cNvSpPr/>
          <p:nvPr/>
        </p:nvSpPr>
        <p:spPr>
          <a:xfrm>
            <a:off x="4937760" y="3392424"/>
            <a:ext cx="777240"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20%</a:t>
            </a:r>
            <a:endParaRPr lang="en-US" sz="750" dirty="0"/>
          </a:p>
        </p:txBody>
      </p:sp>
      <p:sp>
        <p:nvSpPr>
          <p:cNvPr id="52" name="Shape 50"/>
          <p:cNvSpPr/>
          <p:nvPr/>
        </p:nvSpPr>
        <p:spPr>
          <a:xfrm>
            <a:off x="685800" y="3977640"/>
            <a:ext cx="109728" cy="109728"/>
          </a:xfrm>
          <a:prstGeom prst="rect">
            <a:avLst/>
          </a:prstGeom>
          <a:solidFill>
            <a:srgbClr val="006A4E"/>
          </a:solidFill>
          <a:ln w="12700">
            <a:solidFill>
              <a:srgbClr val="006A4E"/>
            </a:solidFill>
            <a:prstDash val="solid"/>
          </a:ln>
        </p:spPr>
      </p:sp>
      <p:sp>
        <p:nvSpPr>
          <p:cNvPr id="53" name="Text 51"/>
          <p:cNvSpPr/>
          <p:nvPr/>
        </p:nvSpPr>
        <p:spPr>
          <a:xfrm>
            <a:off x="850392" y="3968496"/>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Leads</a:t>
            </a:r>
            <a:endParaRPr lang="en-US" sz="760" dirty="0"/>
          </a:p>
        </p:txBody>
      </p:sp>
      <p:sp>
        <p:nvSpPr>
          <p:cNvPr id="54" name="Shape 52"/>
          <p:cNvSpPr/>
          <p:nvPr/>
        </p:nvSpPr>
        <p:spPr>
          <a:xfrm>
            <a:off x="1984248" y="3977640"/>
            <a:ext cx="109728" cy="109728"/>
          </a:xfrm>
          <a:prstGeom prst="rect">
            <a:avLst/>
          </a:prstGeom>
          <a:solidFill>
            <a:srgbClr val="6CA543"/>
          </a:solidFill>
          <a:ln w="12700">
            <a:solidFill>
              <a:srgbClr val="6CA543"/>
            </a:solidFill>
            <a:prstDash val="solid"/>
          </a:ln>
        </p:spPr>
      </p:sp>
      <p:sp>
        <p:nvSpPr>
          <p:cNvPr id="55" name="Text 53"/>
          <p:cNvSpPr/>
          <p:nvPr/>
        </p:nvSpPr>
        <p:spPr>
          <a:xfrm>
            <a:off x="2148840" y="3968496"/>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Email</a:t>
            </a:r>
            <a:endParaRPr lang="en-US" sz="760" dirty="0"/>
          </a:p>
        </p:txBody>
      </p:sp>
      <p:sp>
        <p:nvSpPr>
          <p:cNvPr id="56" name="Shape 54"/>
          <p:cNvSpPr/>
          <p:nvPr/>
        </p:nvSpPr>
        <p:spPr>
          <a:xfrm>
            <a:off x="3282696" y="3977640"/>
            <a:ext cx="109728" cy="109728"/>
          </a:xfrm>
          <a:prstGeom prst="rect">
            <a:avLst/>
          </a:prstGeom>
          <a:solidFill>
            <a:srgbClr val="2F6DB5"/>
          </a:solidFill>
          <a:ln w="12700">
            <a:solidFill>
              <a:srgbClr val="2F6DB5"/>
            </a:solidFill>
            <a:prstDash val="solid"/>
          </a:ln>
        </p:spPr>
      </p:sp>
      <p:sp>
        <p:nvSpPr>
          <p:cNvPr id="57" name="Text 55"/>
          <p:cNvSpPr/>
          <p:nvPr/>
        </p:nvSpPr>
        <p:spPr>
          <a:xfrm>
            <a:off x="3447288" y="3968496"/>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Direct Mail</a:t>
            </a:r>
            <a:endParaRPr lang="en-US" sz="760" dirty="0"/>
          </a:p>
        </p:txBody>
      </p:sp>
      <p:sp>
        <p:nvSpPr>
          <p:cNvPr id="58" name="Shape 56"/>
          <p:cNvSpPr/>
          <p:nvPr/>
        </p:nvSpPr>
        <p:spPr>
          <a:xfrm>
            <a:off x="4581144" y="3977640"/>
            <a:ext cx="109728" cy="109728"/>
          </a:xfrm>
          <a:prstGeom prst="rect">
            <a:avLst/>
          </a:prstGeom>
          <a:solidFill>
            <a:srgbClr val="6B4FA3"/>
          </a:solidFill>
          <a:ln w="12700">
            <a:solidFill>
              <a:srgbClr val="6B4FA3"/>
            </a:solidFill>
            <a:prstDash val="solid"/>
          </a:ln>
        </p:spPr>
      </p:sp>
      <p:sp>
        <p:nvSpPr>
          <p:cNvPr id="59" name="Text 57"/>
          <p:cNvSpPr/>
          <p:nvPr/>
        </p:nvSpPr>
        <p:spPr>
          <a:xfrm>
            <a:off x="4745736" y="3968496"/>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Phone</a:t>
            </a:r>
            <a:endParaRPr lang="en-US" sz="760" dirty="0"/>
          </a:p>
        </p:txBody>
      </p:sp>
      <p:sp>
        <p:nvSpPr>
          <p:cNvPr id="60" name="Shape 58"/>
          <p:cNvSpPr/>
          <p:nvPr/>
        </p:nvSpPr>
        <p:spPr>
          <a:xfrm>
            <a:off x="685800" y="4233672"/>
            <a:ext cx="109728" cy="109728"/>
          </a:xfrm>
          <a:prstGeom prst="rect">
            <a:avLst/>
          </a:prstGeom>
          <a:solidFill>
            <a:srgbClr val="23A6B4"/>
          </a:solidFill>
          <a:ln w="12700">
            <a:solidFill>
              <a:srgbClr val="23A6B4"/>
            </a:solidFill>
            <a:prstDash val="solid"/>
          </a:ln>
        </p:spPr>
      </p:sp>
      <p:sp>
        <p:nvSpPr>
          <p:cNvPr id="61" name="Text 59"/>
          <p:cNvSpPr/>
          <p:nvPr/>
        </p:nvSpPr>
        <p:spPr>
          <a:xfrm>
            <a:off x="850392" y="4224528"/>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Mobile</a:t>
            </a:r>
            <a:endParaRPr lang="en-US" sz="760" dirty="0"/>
          </a:p>
        </p:txBody>
      </p:sp>
      <p:sp>
        <p:nvSpPr>
          <p:cNvPr id="62" name="Shape 60"/>
          <p:cNvSpPr/>
          <p:nvPr/>
        </p:nvSpPr>
        <p:spPr>
          <a:xfrm>
            <a:off x="1984248" y="4233672"/>
            <a:ext cx="109728" cy="109728"/>
          </a:xfrm>
          <a:prstGeom prst="rect">
            <a:avLst/>
          </a:prstGeom>
          <a:solidFill>
            <a:srgbClr val="F2A900"/>
          </a:solidFill>
          <a:ln w="12700">
            <a:solidFill>
              <a:srgbClr val="F2A900"/>
            </a:solidFill>
            <a:prstDash val="solid"/>
          </a:ln>
        </p:spPr>
      </p:sp>
      <p:sp>
        <p:nvSpPr>
          <p:cNvPr id="63" name="Text 61"/>
          <p:cNvSpPr/>
          <p:nvPr/>
        </p:nvSpPr>
        <p:spPr>
          <a:xfrm>
            <a:off x="2148840" y="4224528"/>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Branch</a:t>
            </a:r>
            <a:endParaRPr lang="en-US" sz="760" dirty="0"/>
          </a:p>
        </p:txBody>
      </p:sp>
      <p:sp>
        <p:nvSpPr>
          <p:cNvPr id="64" name="Shape 62"/>
          <p:cNvSpPr/>
          <p:nvPr/>
        </p:nvSpPr>
        <p:spPr>
          <a:xfrm>
            <a:off x="3282696" y="4233672"/>
            <a:ext cx="109728" cy="109728"/>
          </a:xfrm>
          <a:prstGeom prst="rect">
            <a:avLst/>
          </a:prstGeom>
          <a:solidFill>
            <a:srgbClr val="55565A"/>
          </a:solidFill>
          <a:ln w="12700">
            <a:solidFill>
              <a:srgbClr val="55565A"/>
            </a:solidFill>
            <a:prstDash val="solid"/>
          </a:ln>
        </p:spPr>
      </p:sp>
      <p:sp>
        <p:nvSpPr>
          <p:cNvPr id="65" name="Text 63"/>
          <p:cNvSpPr/>
          <p:nvPr/>
        </p:nvSpPr>
        <p:spPr>
          <a:xfrm>
            <a:off x="3447288" y="4224528"/>
            <a:ext cx="1005840" cy="128016"/>
          </a:xfrm>
          <a:prstGeom prst="rect">
            <a:avLst/>
          </a:prstGeom>
          <a:noFill/>
          <a:ln/>
        </p:spPr>
        <p:txBody>
          <a:bodyPr wrap="square" lIns="0" tIns="0" rIns="0" bIns="0" rtlCol="0" anchor="ctr">
            <a:normAutofit/>
          </a:bodyPr>
          <a:lstStyle/>
          <a:p>
            <a:pPr indent="0" marL="0">
              <a:buNone/>
            </a:pPr>
            <a:r>
              <a:rPr lang="en-US" sz="760" dirty="0">
                <a:solidFill>
                  <a:srgbClr val="1D1D1F"/>
                </a:solidFill>
              </a:rPr>
              <a:t>Web</a:t>
            </a:r>
            <a:endParaRPr lang="en-US" sz="760" dirty="0"/>
          </a:p>
        </p:txBody>
      </p:sp>
      <p:sp>
        <p:nvSpPr>
          <p:cNvPr id="66" name="Shape 64"/>
          <p:cNvSpPr/>
          <p:nvPr/>
        </p:nvSpPr>
        <p:spPr>
          <a:xfrm>
            <a:off x="6446520" y="1298448"/>
            <a:ext cx="5321808" cy="3246120"/>
          </a:xfrm>
          <a:prstGeom prst="roundRect">
            <a:avLst>
              <a:gd name="adj" fmla="val 3380"/>
            </a:avLst>
          </a:prstGeom>
          <a:solidFill>
            <a:srgbClr val="FFFFFF"/>
          </a:solidFill>
          <a:ln w="12700">
            <a:solidFill>
              <a:srgbClr val="B5D2BF"/>
            </a:solidFill>
            <a:prstDash val="solid"/>
          </a:ln>
          <a:effectLst>
            <a:outerShdw sx="100000" sy="100000" kx="0" ky="0" algn="bl" rotWithShape="0" blurRad="12700" dist="50800" dir="2700000">
              <a:srgbClr val="B9C5BE">
                <a:alpha val="12000"/>
              </a:srgbClr>
            </a:outerShdw>
          </a:effectLst>
        </p:spPr>
      </p:sp>
      <p:sp>
        <p:nvSpPr>
          <p:cNvPr id="67" name="Text 65"/>
          <p:cNvSpPr/>
          <p:nvPr/>
        </p:nvSpPr>
        <p:spPr>
          <a:xfrm>
            <a:off x="6720840" y="1572768"/>
            <a:ext cx="2560320" cy="201168"/>
          </a:xfrm>
          <a:prstGeom prst="rect">
            <a:avLst/>
          </a:prstGeom>
          <a:noFill/>
          <a:ln/>
        </p:spPr>
        <p:txBody>
          <a:bodyPr wrap="square" lIns="0" tIns="0" rIns="0" bIns="0" rtlCol="0" anchor="ctr"/>
          <a:lstStyle/>
          <a:p>
            <a:pPr indent="0" marL="0">
              <a:buNone/>
            </a:pPr>
            <a:r>
              <a:rPr lang="en-US" sz="1400" b="1" dirty="0">
                <a:solidFill>
                  <a:srgbClr val="004225"/>
                </a:solidFill>
              </a:rPr>
              <a:t>Expected conversion impact</a:t>
            </a:r>
            <a:endParaRPr lang="en-US" sz="1400" dirty="0"/>
          </a:p>
        </p:txBody>
      </p:sp>
      <p:sp>
        <p:nvSpPr>
          <p:cNvPr id="68" name="Shape 66"/>
          <p:cNvSpPr/>
          <p:nvPr/>
        </p:nvSpPr>
        <p:spPr>
          <a:xfrm>
            <a:off x="7406640" y="3685032"/>
            <a:ext cx="3657600" cy="0"/>
          </a:xfrm>
          <a:prstGeom prst="line">
            <a:avLst/>
          </a:prstGeom>
          <a:noFill/>
          <a:ln w="11430">
            <a:solidFill>
              <a:srgbClr val="89928D"/>
            </a:solidFill>
            <a:prstDash val="solid"/>
          </a:ln>
        </p:spPr>
      </p:sp>
      <p:sp>
        <p:nvSpPr>
          <p:cNvPr id="69" name="Text 67"/>
          <p:cNvSpPr/>
          <p:nvPr/>
        </p:nvSpPr>
        <p:spPr>
          <a:xfrm>
            <a:off x="6995160" y="3630168"/>
            <a:ext cx="292608" cy="109728"/>
          </a:xfrm>
          <a:prstGeom prst="rect">
            <a:avLst/>
          </a:prstGeom>
          <a:noFill/>
          <a:ln/>
        </p:spPr>
        <p:txBody>
          <a:bodyPr wrap="square" lIns="0" tIns="0" rIns="0" bIns="0" rtlCol="0" anchor="ctr"/>
          <a:lstStyle/>
          <a:p>
            <a:pPr algn="r" indent="0" marL="0">
              <a:buNone/>
            </a:pPr>
            <a:r>
              <a:rPr lang="en-US" sz="740" dirty="0">
                <a:solidFill>
                  <a:srgbClr val="6B7280"/>
                </a:solidFill>
              </a:rPr>
              <a:t>0%</a:t>
            </a:r>
            <a:endParaRPr lang="en-US" sz="740" dirty="0"/>
          </a:p>
        </p:txBody>
      </p:sp>
      <p:sp>
        <p:nvSpPr>
          <p:cNvPr id="70" name="Shape 68"/>
          <p:cNvSpPr/>
          <p:nvPr/>
        </p:nvSpPr>
        <p:spPr>
          <a:xfrm>
            <a:off x="7406640" y="3359506"/>
            <a:ext cx="3657600" cy="0"/>
          </a:xfrm>
          <a:prstGeom prst="line">
            <a:avLst/>
          </a:prstGeom>
          <a:noFill/>
          <a:ln w="6350">
            <a:solidFill>
              <a:srgbClr val="D7DED9">
                <a:alpha val="80000"/>
              </a:srgbClr>
            </a:solidFill>
            <a:prstDash val="solid"/>
          </a:ln>
        </p:spPr>
      </p:sp>
      <p:sp>
        <p:nvSpPr>
          <p:cNvPr id="71" name="Text 69"/>
          <p:cNvSpPr/>
          <p:nvPr/>
        </p:nvSpPr>
        <p:spPr>
          <a:xfrm>
            <a:off x="6995160" y="3304642"/>
            <a:ext cx="292608" cy="109728"/>
          </a:xfrm>
          <a:prstGeom prst="rect">
            <a:avLst/>
          </a:prstGeom>
          <a:noFill/>
          <a:ln/>
        </p:spPr>
        <p:txBody>
          <a:bodyPr wrap="square" lIns="0" tIns="0" rIns="0" bIns="0" rtlCol="0" anchor="ctr"/>
          <a:lstStyle/>
          <a:p>
            <a:pPr algn="r" indent="0" marL="0">
              <a:buNone/>
            </a:pPr>
            <a:r>
              <a:rPr lang="en-US" sz="740" dirty="0">
                <a:solidFill>
                  <a:srgbClr val="6B7280"/>
                </a:solidFill>
              </a:rPr>
              <a:t>1%</a:t>
            </a:r>
            <a:endParaRPr lang="en-US" sz="740" dirty="0"/>
          </a:p>
        </p:txBody>
      </p:sp>
      <p:sp>
        <p:nvSpPr>
          <p:cNvPr id="72" name="Shape 70"/>
          <p:cNvSpPr/>
          <p:nvPr/>
        </p:nvSpPr>
        <p:spPr>
          <a:xfrm>
            <a:off x="7406640" y="3033979"/>
            <a:ext cx="3657600" cy="0"/>
          </a:xfrm>
          <a:prstGeom prst="line">
            <a:avLst/>
          </a:prstGeom>
          <a:noFill/>
          <a:ln w="6350">
            <a:solidFill>
              <a:srgbClr val="D7DED9">
                <a:alpha val="80000"/>
              </a:srgbClr>
            </a:solidFill>
            <a:prstDash val="solid"/>
          </a:ln>
        </p:spPr>
      </p:sp>
      <p:sp>
        <p:nvSpPr>
          <p:cNvPr id="73" name="Text 71"/>
          <p:cNvSpPr/>
          <p:nvPr/>
        </p:nvSpPr>
        <p:spPr>
          <a:xfrm>
            <a:off x="6995160" y="2979115"/>
            <a:ext cx="292608" cy="109728"/>
          </a:xfrm>
          <a:prstGeom prst="rect">
            <a:avLst/>
          </a:prstGeom>
          <a:noFill/>
          <a:ln/>
        </p:spPr>
        <p:txBody>
          <a:bodyPr wrap="square" lIns="0" tIns="0" rIns="0" bIns="0" rtlCol="0" anchor="ctr"/>
          <a:lstStyle/>
          <a:p>
            <a:pPr algn="r" indent="0" marL="0">
              <a:buNone/>
            </a:pPr>
            <a:r>
              <a:rPr lang="en-US" sz="740" dirty="0">
                <a:solidFill>
                  <a:srgbClr val="6B7280"/>
                </a:solidFill>
              </a:rPr>
              <a:t>2%</a:t>
            </a:r>
            <a:endParaRPr lang="en-US" sz="740" dirty="0"/>
          </a:p>
        </p:txBody>
      </p:sp>
      <p:sp>
        <p:nvSpPr>
          <p:cNvPr id="74" name="Shape 72"/>
          <p:cNvSpPr/>
          <p:nvPr/>
        </p:nvSpPr>
        <p:spPr>
          <a:xfrm>
            <a:off x="7406640" y="2708453"/>
            <a:ext cx="3657600" cy="0"/>
          </a:xfrm>
          <a:prstGeom prst="line">
            <a:avLst/>
          </a:prstGeom>
          <a:noFill/>
          <a:ln w="6350">
            <a:solidFill>
              <a:srgbClr val="D7DED9">
                <a:alpha val="80000"/>
              </a:srgbClr>
            </a:solidFill>
            <a:prstDash val="solid"/>
          </a:ln>
        </p:spPr>
      </p:sp>
      <p:sp>
        <p:nvSpPr>
          <p:cNvPr id="75" name="Text 73"/>
          <p:cNvSpPr/>
          <p:nvPr/>
        </p:nvSpPr>
        <p:spPr>
          <a:xfrm>
            <a:off x="6995160" y="2653589"/>
            <a:ext cx="292608" cy="109728"/>
          </a:xfrm>
          <a:prstGeom prst="rect">
            <a:avLst/>
          </a:prstGeom>
          <a:noFill/>
          <a:ln/>
        </p:spPr>
        <p:txBody>
          <a:bodyPr wrap="square" lIns="0" tIns="0" rIns="0" bIns="0" rtlCol="0" anchor="ctr"/>
          <a:lstStyle/>
          <a:p>
            <a:pPr algn="r" indent="0" marL="0">
              <a:buNone/>
            </a:pPr>
            <a:r>
              <a:rPr lang="en-US" sz="740" dirty="0">
                <a:solidFill>
                  <a:srgbClr val="6B7280"/>
                </a:solidFill>
              </a:rPr>
              <a:t>3%</a:t>
            </a:r>
            <a:endParaRPr lang="en-US" sz="740" dirty="0"/>
          </a:p>
        </p:txBody>
      </p:sp>
      <p:sp>
        <p:nvSpPr>
          <p:cNvPr id="76" name="Shape 74"/>
          <p:cNvSpPr/>
          <p:nvPr/>
        </p:nvSpPr>
        <p:spPr>
          <a:xfrm>
            <a:off x="7406640" y="2382926"/>
            <a:ext cx="3657600" cy="0"/>
          </a:xfrm>
          <a:prstGeom prst="line">
            <a:avLst/>
          </a:prstGeom>
          <a:noFill/>
          <a:ln w="6350">
            <a:solidFill>
              <a:srgbClr val="D7DED9">
                <a:alpha val="80000"/>
              </a:srgbClr>
            </a:solidFill>
            <a:prstDash val="solid"/>
          </a:ln>
        </p:spPr>
      </p:sp>
      <p:sp>
        <p:nvSpPr>
          <p:cNvPr id="77" name="Text 75"/>
          <p:cNvSpPr/>
          <p:nvPr/>
        </p:nvSpPr>
        <p:spPr>
          <a:xfrm>
            <a:off x="6995160" y="2328062"/>
            <a:ext cx="292608" cy="109728"/>
          </a:xfrm>
          <a:prstGeom prst="rect">
            <a:avLst/>
          </a:prstGeom>
          <a:noFill/>
          <a:ln/>
        </p:spPr>
        <p:txBody>
          <a:bodyPr wrap="square" lIns="0" tIns="0" rIns="0" bIns="0" rtlCol="0" anchor="ctr"/>
          <a:lstStyle/>
          <a:p>
            <a:pPr algn="r" indent="0" marL="0">
              <a:buNone/>
            </a:pPr>
            <a:r>
              <a:rPr lang="en-US" sz="740" dirty="0">
                <a:solidFill>
                  <a:srgbClr val="6B7280"/>
                </a:solidFill>
              </a:rPr>
              <a:t>4%</a:t>
            </a:r>
            <a:endParaRPr lang="en-US" sz="740" dirty="0"/>
          </a:p>
        </p:txBody>
      </p:sp>
      <p:sp>
        <p:nvSpPr>
          <p:cNvPr id="78" name="Shape 76"/>
          <p:cNvSpPr/>
          <p:nvPr/>
        </p:nvSpPr>
        <p:spPr>
          <a:xfrm>
            <a:off x="7406640" y="2057400"/>
            <a:ext cx="3657600" cy="0"/>
          </a:xfrm>
          <a:prstGeom prst="line">
            <a:avLst/>
          </a:prstGeom>
          <a:noFill/>
          <a:ln w="6350">
            <a:solidFill>
              <a:srgbClr val="D7DED9">
                <a:alpha val="80000"/>
              </a:srgbClr>
            </a:solidFill>
            <a:prstDash val="solid"/>
          </a:ln>
        </p:spPr>
      </p:sp>
      <p:sp>
        <p:nvSpPr>
          <p:cNvPr id="79" name="Text 77"/>
          <p:cNvSpPr/>
          <p:nvPr/>
        </p:nvSpPr>
        <p:spPr>
          <a:xfrm>
            <a:off x="6995160" y="2002536"/>
            <a:ext cx="292608" cy="109728"/>
          </a:xfrm>
          <a:prstGeom prst="rect">
            <a:avLst/>
          </a:prstGeom>
          <a:noFill/>
          <a:ln/>
        </p:spPr>
        <p:txBody>
          <a:bodyPr wrap="square" lIns="0" tIns="0" rIns="0" bIns="0" rtlCol="0" anchor="ctr"/>
          <a:lstStyle/>
          <a:p>
            <a:pPr algn="r" indent="0" marL="0">
              <a:buNone/>
            </a:pPr>
            <a:r>
              <a:rPr lang="en-US" sz="740" dirty="0">
                <a:solidFill>
                  <a:srgbClr val="6B7280"/>
                </a:solidFill>
              </a:rPr>
              <a:t>5%</a:t>
            </a:r>
            <a:endParaRPr lang="en-US" sz="740" dirty="0"/>
          </a:p>
        </p:txBody>
      </p:sp>
      <p:sp>
        <p:nvSpPr>
          <p:cNvPr id="80" name="Text 78"/>
          <p:cNvSpPr/>
          <p:nvPr/>
        </p:nvSpPr>
        <p:spPr>
          <a:xfrm>
            <a:off x="6995160" y="1856232"/>
            <a:ext cx="1097280" cy="128016"/>
          </a:xfrm>
          <a:prstGeom prst="rect">
            <a:avLst/>
          </a:prstGeom>
          <a:noFill/>
          <a:ln/>
        </p:spPr>
        <p:txBody>
          <a:bodyPr wrap="square" lIns="0" tIns="0" rIns="0" bIns="0" rtlCol="0" anchor="ctr"/>
          <a:lstStyle/>
          <a:p>
            <a:pPr indent="0" marL="0">
              <a:buNone/>
            </a:pPr>
            <a:r>
              <a:rPr lang="en-US" sz="830" dirty="0">
                <a:solidFill>
                  <a:srgbClr val="6B7280"/>
                </a:solidFill>
              </a:rPr>
              <a:t>Conversion rate</a:t>
            </a:r>
            <a:endParaRPr lang="en-US" sz="830" dirty="0"/>
          </a:p>
        </p:txBody>
      </p:sp>
      <p:sp>
        <p:nvSpPr>
          <p:cNvPr id="81" name="Shape 79"/>
          <p:cNvSpPr/>
          <p:nvPr/>
        </p:nvSpPr>
        <p:spPr>
          <a:xfrm>
            <a:off x="7653528" y="2708453"/>
            <a:ext cx="548640" cy="976579"/>
          </a:xfrm>
          <a:prstGeom prst="rect">
            <a:avLst/>
          </a:prstGeom>
          <a:solidFill>
            <a:srgbClr val="006A4E"/>
          </a:solidFill>
          <a:ln w="12700">
            <a:solidFill>
              <a:srgbClr val="006A4E"/>
            </a:solidFill>
            <a:prstDash val="solid"/>
          </a:ln>
        </p:spPr>
      </p:sp>
      <p:sp>
        <p:nvSpPr>
          <p:cNvPr id="82" name="Text 80"/>
          <p:cNvSpPr/>
          <p:nvPr/>
        </p:nvSpPr>
        <p:spPr>
          <a:xfrm>
            <a:off x="7607808" y="2479853"/>
            <a:ext cx="640080" cy="146304"/>
          </a:xfrm>
          <a:prstGeom prst="rect">
            <a:avLst/>
          </a:prstGeom>
          <a:noFill/>
          <a:ln/>
        </p:spPr>
        <p:txBody>
          <a:bodyPr wrap="square" lIns="0" tIns="0" rIns="0" bIns="0" rtlCol="0" anchor="ctr"/>
          <a:lstStyle/>
          <a:p>
            <a:pPr algn="ctr" indent="0" marL="0">
              <a:buNone/>
            </a:pPr>
            <a:r>
              <a:rPr lang="en-US" sz="950" b="1" dirty="0">
                <a:solidFill>
                  <a:srgbClr val="1D1D1F"/>
                </a:solidFill>
              </a:rPr>
              <a:t>3.0%</a:t>
            </a:r>
            <a:endParaRPr lang="en-US" sz="950" dirty="0"/>
          </a:p>
        </p:txBody>
      </p:sp>
      <p:sp>
        <p:nvSpPr>
          <p:cNvPr id="83" name="Text 81"/>
          <p:cNvSpPr/>
          <p:nvPr/>
        </p:nvSpPr>
        <p:spPr>
          <a:xfrm>
            <a:off x="7424928" y="3822192"/>
            <a:ext cx="1005840" cy="128016"/>
          </a:xfrm>
          <a:prstGeom prst="rect">
            <a:avLst/>
          </a:prstGeom>
          <a:noFill/>
          <a:ln/>
        </p:spPr>
        <p:txBody>
          <a:bodyPr wrap="square" lIns="0" tIns="0" rIns="0" bIns="0" rtlCol="0" anchor="ctr">
            <a:normAutofit/>
          </a:bodyPr>
          <a:lstStyle/>
          <a:p>
            <a:pPr algn="ctr" indent="0" marL="0">
              <a:buNone/>
            </a:pPr>
            <a:r>
              <a:rPr lang="en-US" sz="820" dirty="0">
                <a:solidFill>
                  <a:srgbClr val="1D1D1F"/>
                </a:solidFill>
              </a:rPr>
              <a:t>BAU</a:t>
            </a:r>
            <a:endParaRPr lang="en-US" sz="820" dirty="0"/>
          </a:p>
        </p:txBody>
      </p:sp>
      <p:sp>
        <p:nvSpPr>
          <p:cNvPr id="84" name="Shape 82"/>
          <p:cNvSpPr/>
          <p:nvPr/>
        </p:nvSpPr>
        <p:spPr>
          <a:xfrm>
            <a:off x="8887968" y="2545690"/>
            <a:ext cx="548640" cy="1139342"/>
          </a:xfrm>
          <a:prstGeom prst="rect">
            <a:avLst/>
          </a:prstGeom>
          <a:solidFill>
            <a:srgbClr val="006A4E"/>
          </a:solidFill>
          <a:ln w="12700">
            <a:solidFill>
              <a:srgbClr val="006A4E"/>
            </a:solidFill>
            <a:prstDash val="solid"/>
          </a:ln>
        </p:spPr>
      </p:sp>
      <p:sp>
        <p:nvSpPr>
          <p:cNvPr id="85" name="Text 83"/>
          <p:cNvSpPr/>
          <p:nvPr/>
        </p:nvSpPr>
        <p:spPr>
          <a:xfrm>
            <a:off x="8842248" y="2317090"/>
            <a:ext cx="640080" cy="146304"/>
          </a:xfrm>
          <a:prstGeom prst="rect">
            <a:avLst/>
          </a:prstGeom>
          <a:noFill/>
          <a:ln/>
        </p:spPr>
        <p:txBody>
          <a:bodyPr wrap="square" lIns="0" tIns="0" rIns="0" bIns="0" rtlCol="0" anchor="ctr"/>
          <a:lstStyle/>
          <a:p>
            <a:pPr algn="ctr" indent="0" marL="0">
              <a:buNone/>
            </a:pPr>
            <a:r>
              <a:rPr lang="en-US" sz="950" b="1" dirty="0">
                <a:solidFill>
                  <a:srgbClr val="1D1D1F"/>
                </a:solidFill>
              </a:rPr>
              <a:t>3.5%</a:t>
            </a:r>
            <a:endParaRPr lang="en-US" sz="950" dirty="0"/>
          </a:p>
        </p:txBody>
      </p:sp>
      <p:sp>
        <p:nvSpPr>
          <p:cNvPr id="86" name="Text 84"/>
          <p:cNvSpPr/>
          <p:nvPr/>
        </p:nvSpPr>
        <p:spPr>
          <a:xfrm>
            <a:off x="8659368" y="3822192"/>
            <a:ext cx="1005840" cy="128016"/>
          </a:xfrm>
          <a:prstGeom prst="rect">
            <a:avLst/>
          </a:prstGeom>
          <a:noFill/>
          <a:ln/>
        </p:spPr>
        <p:txBody>
          <a:bodyPr wrap="square" lIns="0" tIns="0" rIns="0" bIns="0" rtlCol="0" anchor="ctr">
            <a:normAutofit/>
          </a:bodyPr>
          <a:lstStyle/>
          <a:p>
            <a:pPr algn="ctr" indent="0" marL="0">
              <a:buNone/>
            </a:pPr>
            <a:r>
              <a:rPr lang="en-US" sz="820" dirty="0">
                <a:solidFill>
                  <a:srgbClr val="1D1D1F"/>
                </a:solidFill>
              </a:rPr>
              <a:t>Unconstrained</a:t>
            </a:r>
            <a:endParaRPr lang="en-US" sz="820" dirty="0"/>
          </a:p>
        </p:txBody>
      </p:sp>
      <p:sp>
        <p:nvSpPr>
          <p:cNvPr id="87" name="Shape 85"/>
          <p:cNvSpPr/>
          <p:nvPr/>
        </p:nvSpPr>
        <p:spPr>
          <a:xfrm>
            <a:off x="10122408" y="2610795"/>
            <a:ext cx="548640" cy="1074237"/>
          </a:xfrm>
          <a:prstGeom prst="rect">
            <a:avLst/>
          </a:prstGeom>
          <a:solidFill>
            <a:srgbClr val="006A4E"/>
          </a:solidFill>
          <a:ln w="12700">
            <a:solidFill>
              <a:srgbClr val="006A4E"/>
            </a:solidFill>
            <a:prstDash val="solid"/>
          </a:ln>
        </p:spPr>
      </p:sp>
      <p:sp>
        <p:nvSpPr>
          <p:cNvPr id="88" name="Text 86"/>
          <p:cNvSpPr/>
          <p:nvPr/>
        </p:nvSpPr>
        <p:spPr>
          <a:xfrm>
            <a:off x="10076688" y="2382195"/>
            <a:ext cx="640080" cy="146304"/>
          </a:xfrm>
          <a:prstGeom prst="rect">
            <a:avLst/>
          </a:prstGeom>
          <a:noFill/>
          <a:ln/>
        </p:spPr>
        <p:txBody>
          <a:bodyPr wrap="square" lIns="0" tIns="0" rIns="0" bIns="0" rtlCol="0" anchor="ctr"/>
          <a:lstStyle/>
          <a:p>
            <a:pPr algn="ctr" indent="0" marL="0">
              <a:buNone/>
            </a:pPr>
            <a:r>
              <a:rPr lang="en-US" sz="950" b="1" dirty="0">
                <a:solidFill>
                  <a:srgbClr val="1D1D1F"/>
                </a:solidFill>
              </a:rPr>
              <a:t>3.3%</a:t>
            </a:r>
            <a:endParaRPr lang="en-US" sz="950" dirty="0"/>
          </a:p>
        </p:txBody>
      </p:sp>
      <p:sp>
        <p:nvSpPr>
          <p:cNvPr id="89" name="Text 87"/>
          <p:cNvSpPr/>
          <p:nvPr/>
        </p:nvSpPr>
        <p:spPr>
          <a:xfrm>
            <a:off x="9893808" y="3822192"/>
            <a:ext cx="1005840" cy="128016"/>
          </a:xfrm>
          <a:prstGeom prst="rect">
            <a:avLst/>
          </a:prstGeom>
          <a:noFill/>
          <a:ln/>
        </p:spPr>
        <p:txBody>
          <a:bodyPr wrap="square" lIns="0" tIns="0" rIns="0" bIns="0" rtlCol="0" anchor="ctr">
            <a:normAutofit/>
          </a:bodyPr>
          <a:lstStyle/>
          <a:p>
            <a:pPr algn="ctr" indent="0" marL="0">
              <a:buNone/>
            </a:pPr>
            <a:r>
              <a:rPr lang="en-US" sz="820" dirty="0">
                <a:solidFill>
                  <a:srgbClr val="1D1D1F"/>
                </a:solidFill>
              </a:rPr>
              <a:t>Constrained</a:t>
            </a:r>
            <a:endParaRPr lang="en-US" sz="820" dirty="0"/>
          </a:p>
        </p:txBody>
      </p:sp>
      <p:sp>
        <p:nvSpPr>
          <p:cNvPr id="90" name="Text 88"/>
          <p:cNvSpPr/>
          <p:nvPr/>
        </p:nvSpPr>
        <p:spPr>
          <a:xfrm>
            <a:off x="7543800" y="4069080"/>
            <a:ext cx="3291840" cy="164592"/>
          </a:xfrm>
          <a:prstGeom prst="rect">
            <a:avLst/>
          </a:prstGeom>
          <a:noFill/>
          <a:ln/>
        </p:spPr>
        <p:txBody>
          <a:bodyPr wrap="square" lIns="0" tIns="0" rIns="0" bIns="0" rtlCol="0" anchor="ctr"/>
          <a:lstStyle/>
          <a:p>
            <a:pPr algn="ctr" indent="0" marL="0">
              <a:buNone/>
            </a:pPr>
            <a:r>
              <a:rPr lang="en-US" sz="830" i="1" dirty="0">
                <a:solidFill>
                  <a:srgbClr val="6B7280"/>
                </a:solidFill>
              </a:rPr>
              <a:t>Illustrative only — replace with actual results</a:t>
            </a:r>
            <a:endParaRPr lang="en-US" sz="830" dirty="0"/>
          </a:p>
        </p:txBody>
      </p:sp>
      <p:sp>
        <p:nvSpPr>
          <p:cNvPr id="91" name="Shape 89"/>
          <p:cNvSpPr/>
          <p:nvPr/>
        </p:nvSpPr>
        <p:spPr>
          <a:xfrm>
            <a:off x="411480" y="4736592"/>
            <a:ext cx="3611880" cy="749808"/>
          </a:xfrm>
          <a:prstGeom prst="roundRect">
            <a:avLst>
              <a:gd name="adj" fmla="val 14634"/>
            </a:avLst>
          </a:prstGeom>
          <a:solidFill>
            <a:srgbClr val="F4FAF6"/>
          </a:solidFill>
          <a:ln w="12700">
            <a:solidFill>
              <a:srgbClr val="B5D2BF"/>
            </a:solidFill>
            <a:prstDash val="solid"/>
          </a:ln>
        </p:spPr>
      </p:sp>
      <p:sp>
        <p:nvSpPr>
          <p:cNvPr id="92" name="Shape 90"/>
          <p:cNvSpPr/>
          <p:nvPr/>
        </p:nvSpPr>
        <p:spPr>
          <a:xfrm>
            <a:off x="576072" y="4901184"/>
            <a:ext cx="420624" cy="420624"/>
          </a:xfrm>
          <a:prstGeom prst="ellipse">
            <a:avLst/>
          </a:prstGeom>
          <a:solidFill>
            <a:srgbClr val="DDEFE4"/>
          </a:solidFill>
          <a:ln w="12700">
            <a:solidFill>
              <a:srgbClr val="006A4E"/>
            </a:solidFill>
            <a:prstDash val="solid"/>
          </a:ln>
        </p:spPr>
      </p:sp>
      <p:sp>
        <p:nvSpPr>
          <p:cNvPr id="93" name="Text 91"/>
          <p:cNvSpPr/>
          <p:nvPr/>
        </p:nvSpPr>
        <p:spPr>
          <a:xfrm>
            <a:off x="576072" y="4939040"/>
            <a:ext cx="420624" cy="336499"/>
          </a:xfrm>
          <a:prstGeom prst="rect">
            <a:avLst/>
          </a:prstGeom>
          <a:noFill/>
          <a:ln/>
        </p:spPr>
        <p:txBody>
          <a:bodyPr wrap="square" lIns="0" tIns="0" rIns="0" bIns="0" rtlCol="0" anchor="ctr"/>
          <a:lstStyle/>
          <a:p>
            <a:pPr algn="ctr" indent="0" marL="0">
              <a:buNone/>
            </a:pPr>
            <a:r>
              <a:rPr lang="en-US" sz="1012" b="1" dirty="0">
                <a:solidFill>
                  <a:srgbClr val="006A4E"/>
                </a:solidFill>
              </a:rPr>
              <a:t>↗</a:t>
            </a:r>
            <a:endParaRPr lang="en-US" sz="1012" dirty="0"/>
          </a:p>
        </p:txBody>
      </p:sp>
      <p:sp>
        <p:nvSpPr>
          <p:cNvPr id="94" name="Text 92"/>
          <p:cNvSpPr/>
          <p:nvPr/>
        </p:nvSpPr>
        <p:spPr>
          <a:xfrm>
            <a:off x="1124712" y="4864608"/>
            <a:ext cx="1508760" cy="164592"/>
          </a:xfrm>
          <a:prstGeom prst="rect">
            <a:avLst/>
          </a:prstGeom>
          <a:noFill/>
          <a:ln/>
        </p:spPr>
        <p:txBody>
          <a:bodyPr wrap="square" lIns="0" tIns="0" rIns="0" bIns="0" rtlCol="0" anchor="ctr"/>
          <a:lstStyle/>
          <a:p>
            <a:pPr indent="0" marL="0">
              <a:buNone/>
            </a:pPr>
            <a:r>
              <a:rPr lang="en-US" sz="1050" b="1" dirty="0">
                <a:solidFill>
                  <a:srgbClr val="004225"/>
                </a:solidFill>
              </a:rPr>
              <a:t>Observed shift</a:t>
            </a:r>
            <a:endParaRPr lang="en-US" sz="1050" dirty="0"/>
          </a:p>
        </p:txBody>
      </p:sp>
      <p:sp>
        <p:nvSpPr>
          <p:cNvPr id="95" name="Text 93"/>
          <p:cNvSpPr/>
          <p:nvPr/>
        </p:nvSpPr>
        <p:spPr>
          <a:xfrm>
            <a:off x="1124712" y="5148072"/>
            <a:ext cx="2560320" cy="201168"/>
          </a:xfrm>
          <a:prstGeom prst="rect">
            <a:avLst/>
          </a:prstGeom>
          <a:noFill/>
          <a:ln/>
        </p:spPr>
        <p:txBody>
          <a:bodyPr wrap="square" lIns="0" tIns="0" rIns="0" bIns="0" rtlCol="0" anchor="ctr">
            <a:normAutofit/>
          </a:bodyPr>
          <a:lstStyle/>
          <a:p>
            <a:pPr indent="0" marL="0">
              <a:buNone/>
            </a:pPr>
            <a:r>
              <a:rPr lang="en-US" sz="890" dirty="0">
                <a:solidFill>
                  <a:srgbClr val="1D1D1F"/>
                </a:solidFill>
              </a:rPr>
              <a:t>A more personalized channel mix than today’s rules-based approach</a:t>
            </a:r>
            <a:endParaRPr lang="en-US" sz="890" dirty="0"/>
          </a:p>
        </p:txBody>
      </p:sp>
      <p:sp>
        <p:nvSpPr>
          <p:cNvPr id="96" name="Shape 94"/>
          <p:cNvSpPr/>
          <p:nvPr/>
        </p:nvSpPr>
        <p:spPr>
          <a:xfrm>
            <a:off x="4279392" y="4736592"/>
            <a:ext cx="3611880" cy="749808"/>
          </a:xfrm>
          <a:prstGeom prst="roundRect">
            <a:avLst>
              <a:gd name="adj" fmla="val 14634"/>
            </a:avLst>
          </a:prstGeom>
          <a:solidFill>
            <a:srgbClr val="F4FAF6"/>
          </a:solidFill>
          <a:ln w="12700">
            <a:solidFill>
              <a:srgbClr val="B5D2BF"/>
            </a:solidFill>
            <a:prstDash val="solid"/>
          </a:ln>
        </p:spPr>
      </p:sp>
      <p:sp>
        <p:nvSpPr>
          <p:cNvPr id="97" name="Shape 95"/>
          <p:cNvSpPr/>
          <p:nvPr/>
        </p:nvSpPr>
        <p:spPr>
          <a:xfrm>
            <a:off x="4443984" y="4901184"/>
            <a:ext cx="420624" cy="420624"/>
          </a:xfrm>
          <a:prstGeom prst="ellipse">
            <a:avLst/>
          </a:prstGeom>
          <a:solidFill>
            <a:srgbClr val="DDEFE4"/>
          </a:solidFill>
          <a:ln w="12700">
            <a:solidFill>
              <a:srgbClr val="006A4E"/>
            </a:solidFill>
            <a:prstDash val="solid"/>
          </a:ln>
        </p:spPr>
      </p:sp>
      <p:sp>
        <p:nvSpPr>
          <p:cNvPr id="98" name="Text 96"/>
          <p:cNvSpPr/>
          <p:nvPr/>
        </p:nvSpPr>
        <p:spPr>
          <a:xfrm>
            <a:off x="4443984" y="4939040"/>
            <a:ext cx="420624" cy="336499"/>
          </a:xfrm>
          <a:prstGeom prst="rect">
            <a:avLst/>
          </a:prstGeom>
          <a:noFill/>
          <a:ln/>
        </p:spPr>
        <p:txBody>
          <a:bodyPr wrap="square" lIns="0" tIns="0" rIns="0" bIns="0" rtlCol="0" anchor="ctr"/>
          <a:lstStyle/>
          <a:p>
            <a:pPr algn="ctr" indent="0" marL="0">
              <a:buNone/>
            </a:pPr>
            <a:r>
              <a:rPr lang="en-US" sz="1012" b="1" dirty="0">
                <a:solidFill>
                  <a:srgbClr val="006A4E"/>
                </a:solidFill>
              </a:rPr>
              <a:t>⚙</a:t>
            </a:r>
            <a:endParaRPr lang="en-US" sz="1012" dirty="0"/>
          </a:p>
        </p:txBody>
      </p:sp>
      <p:sp>
        <p:nvSpPr>
          <p:cNvPr id="99" name="Text 97"/>
          <p:cNvSpPr/>
          <p:nvPr/>
        </p:nvSpPr>
        <p:spPr>
          <a:xfrm>
            <a:off x="4992624" y="4864608"/>
            <a:ext cx="1508760" cy="164592"/>
          </a:xfrm>
          <a:prstGeom prst="rect">
            <a:avLst/>
          </a:prstGeom>
          <a:noFill/>
          <a:ln/>
        </p:spPr>
        <p:txBody>
          <a:bodyPr wrap="square" lIns="0" tIns="0" rIns="0" bIns="0" rtlCol="0" anchor="ctr"/>
          <a:lstStyle/>
          <a:p>
            <a:pPr indent="0" marL="0">
              <a:buNone/>
            </a:pPr>
            <a:r>
              <a:rPr lang="en-US" sz="1050" b="1" dirty="0">
                <a:solidFill>
                  <a:srgbClr val="004225"/>
                </a:solidFill>
              </a:rPr>
              <a:t>Operationally usable</a:t>
            </a:r>
            <a:endParaRPr lang="en-US" sz="1050" dirty="0"/>
          </a:p>
        </p:txBody>
      </p:sp>
      <p:sp>
        <p:nvSpPr>
          <p:cNvPr id="100" name="Text 98"/>
          <p:cNvSpPr/>
          <p:nvPr/>
        </p:nvSpPr>
        <p:spPr>
          <a:xfrm>
            <a:off x="4992624" y="5148072"/>
            <a:ext cx="2560320" cy="201168"/>
          </a:xfrm>
          <a:prstGeom prst="rect">
            <a:avLst/>
          </a:prstGeom>
          <a:noFill/>
          <a:ln/>
        </p:spPr>
        <p:txBody>
          <a:bodyPr wrap="square" lIns="0" tIns="0" rIns="0" bIns="0" rtlCol="0" anchor="ctr">
            <a:normAutofit/>
          </a:bodyPr>
          <a:lstStyle/>
          <a:p>
            <a:pPr indent="0" marL="0">
              <a:buNone/>
            </a:pPr>
            <a:r>
              <a:rPr lang="en-US" sz="890" dirty="0">
                <a:solidFill>
                  <a:srgbClr val="1D1D1F"/>
                </a:solidFill>
              </a:rPr>
              <a:t>The constrained optimizer can reflect real channel capacity limits</a:t>
            </a:r>
            <a:endParaRPr lang="en-US" sz="890" dirty="0"/>
          </a:p>
        </p:txBody>
      </p:sp>
      <p:sp>
        <p:nvSpPr>
          <p:cNvPr id="101" name="Shape 99"/>
          <p:cNvSpPr/>
          <p:nvPr/>
        </p:nvSpPr>
        <p:spPr>
          <a:xfrm>
            <a:off x="8138160" y="4736592"/>
            <a:ext cx="3611880" cy="749808"/>
          </a:xfrm>
          <a:prstGeom prst="roundRect">
            <a:avLst>
              <a:gd name="adj" fmla="val 14634"/>
            </a:avLst>
          </a:prstGeom>
          <a:solidFill>
            <a:srgbClr val="F4FAF6"/>
          </a:solidFill>
          <a:ln w="12700">
            <a:solidFill>
              <a:srgbClr val="B5D2BF"/>
            </a:solidFill>
            <a:prstDash val="solid"/>
          </a:ln>
        </p:spPr>
      </p:sp>
      <p:sp>
        <p:nvSpPr>
          <p:cNvPr id="102" name="Shape 100"/>
          <p:cNvSpPr/>
          <p:nvPr/>
        </p:nvSpPr>
        <p:spPr>
          <a:xfrm>
            <a:off x="8302752" y="4901184"/>
            <a:ext cx="420624" cy="420624"/>
          </a:xfrm>
          <a:prstGeom prst="ellipse">
            <a:avLst/>
          </a:prstGeom>
          <a:solidFill>
            <a:srgbClr val="DDEFE4"/>
          </a:solidFill>
          <a:ln w="12700">
            <a:solidFill>
              <a:srgbClr val="006A4E"/>
            </a:solidFill>
            <a:prstDash val="solid"/>
          </a:ln>
        </p:spPr>
      </p:sp>
      <p:sp>
        <p:nvSpPr>
          <p:cNvPr id="103" name="Text 101"/>
          <p:cNvSpPr/>
          <p:nvPr/>
        </p:nvSpPr>
        <p:spPr>
          <a:xfrm>
            <a:off x="8302752" y="4939040"/>
            <a:ext cx="420624" cy="336499"/>
          </a:xfrm>
          <a:prstGeom prst="rect">
            <a:avLst/>
          </a:prstGeom>
          <a:noFill/>
          <a:ln/>
        </p:spPr>
        <p:txBody>
          <a:bodyPr wrap="square" lIns="0" tIns="0" rIns="0" bIns="0" rtlCol="0" anchor="ctr"/>
          <a:lstStyle/>
          <a:p>
            <a:pPr algn="ctr" indent="0" marL="0">
              <a:buNone/>
            </a:pPr>
            <a:r>
              <a:rPr lang="en-US" sz="1012" b="1" dirty="0">
                <a:solidFill>
                  <a:srgbClr val="006A4E"/>
                </a:solidFill>
              </a:rPr>
              <a:t>◎</a:t>
            </a:r>
            <a:endParaRPr lang="en-US" sz="1012" dirty="0"/>
          </a:p>
        </p:txBody>
      </p:sp>
      <p:sp>
        <p:nvSpPr>
          <p:cNvPr id="104" name="Text 102"/>
          <p:cNvSpPr/>
          <p:nvPr/>
        </p:nvSpPr>
        <p:spPr>
          <a:xfrm>
            <a:off x="8851392" y="4864608"/>
            <a:ext cx="1508760" cy="164592"/>
          </a:xfrm>
          <a:prstGeom prst="rect">
            <a:avLst/>
          </a:prstGeom>
          <a:noFill/>
          <a:ln/>
        </p:spPr>
        <p:txBody>
          <a:bodyPr wrap="square" lIns="0" tIns="0" rIns="0" bIns="0" rtlCol="0" anchor="ctr"/>
          <a:lstStyle/>
          <a:p>
            <a:pPr indent="0" marL="0">
              <a:buNone/>
            </a:pPr>
            <a:r>
              <a:rPr lang="en-US" sz="1050" b="1" dirty="0">
                <a:solidFill>
                  <a:srgbClr val="004225"/>
                </a:solidFill>
              </a:rPr>
              <a:t>Expected impact</a:t>
            </a:r>
            <a:endParaRPr lang="en-US" sz="1050" dirty="0"/>
          </a:p>
        </p:txBody>
      </p:sp>
      <p:sp>
        <p:nvSpPr>
          <p:cNvPr id="105" name="Text 103"/>
          <p:cNvSpPr/>
          <p:nvPr/>
        </p:nvSpPr>
        <p:spPr>
          <a:xfrm>
            <a:off x="8851392" y="5148072"/>
            <a:ext cx="2560320" cy="201168"/>
          </a:xfrm>
          <a:prstGeom prst="rect">
            <a:avLst/>
          </a:prstGeom>
          <a:noFill/>
          <a:ln/>
        </p:spPr>
        <p:txBody>
          <a:bodyPr wrap="square" lIns="0" tIns="0" rIns="0" bIns="0" rtlCol="0" anchor="ctr">
            <a:normAutofit/>
          </a:bodyPr>
          <a:lstStyle/>
          <a:p>
            <a:pPr indent="0" marL="0">
              <a:buNone/>
            </a:pPr>
            <a:r>
              <a:rPr lang="en-US" sz="890" dirty="0">
                <a:solidFill>
                  <a:srgbClr val="1D1D1F"/>
                </a:solidFill>
              </a:rPr>
              <a:t>+X expected conversions / +Y% lift vs BAU</a:t>
            </a:r>
            <a:endParaRPr lang="en-US" sz="890" dirty="0"/>
          </a:p>
        </p:txBody>
      </p:sp>
      <p:sp>
        <p:nvSpPr>
          <p:cNvPr id="106" name="Shape 104"/>
          <p:cNvSpPr/>
          <p:nvPr/>
        </p:nvSpPr>
        <p:spPr>
          <a:xfrm>
            <a:off x="329184" y="5897880"/>
            <a:ext cx="11521440" cy="530352"/>
          </a:xfrm>
          <a:prstGeom prst="roundRect">
            <a:avLst>
              <a:gd name="adj" fmla="val 20690"/>
            </a:avLst>
          </a:prstGeom>
          <a:solidFill>
            <a:srgbClr val="004225"/>
          </a:solidFill>
          <a:ln w="12700">
            <a:solidFill>
              <a:srgbClr val="006A4E"/>
            </a:solidFill>
            <a:prstDash val="solid"/>
          </a:ln>
        </p:spPr>
      </p:sp>
      <p:sp>
        <p:nvSpPr>
          <p:cNvPr id="107" name="Text 105"/>
          <p:cNvSpPr/>
          <p:nvPr/>
        </p:nvSpPr>
        <p:spPr>
          <a:xfrm>
            <a:off x="530352" y="5998464"/>
            <a:ext cx="365760" cy="274320"/>
          </a:xfrm>
          <a:prstGeom prst="rect">
            <a:avLst/>
          </a:prstGeom>
          <a:noFill/>
          <a:ln/>
        </p:spPr>
        <p:txBody>
          <a:bodyPr wrap="square" lIns="0" tIns="0" rIns="0" bIns="0" rtlCol="0" anchor="ctr"/>
          <a:lstStyle/>
          <a:p>
            <a:pPr algn="ctr" indent="0" marL="0">
              <a:buNone/>
            </a:pPr>
            <a:r>
              <a:rPr lang="en-US" sz="1500" dirty="0">
                <a:solidFill>
                  <a:srgbClr val="FFFFFF"/>
                </a:solidFill>
              </a:rPr>
              <a:t>✓</a:t>
            </a:r>
            <a:endParaRPr lang="en-US" sz="1500" dirty="0"/>
          </a:p>
        </p:txBody>
      </p:sp>
      <p:sp>
        <p:nvSpPr>
          <p:cNvPr id="108" name="Shape 106"/>
          <p:cNvSpPr/>
          <p:nvPr/>
        </p:nvSpPr>
        <p:spPr>
          <a:xfrm>
            <a:off x="1051560" y="5980176"/>
            <a:ext cx="0" cy="365760"/>
          </a:xfrm>
          <a:prstGeom prst="line">
            <a:avLst/>
          </a:prstGeom>
          <a:noFill/>
          <a:ln w="12700">
            <a:solidFill>
              <a:srgbClr val="9CD5B4"/>
            </a:solidFill>
            <a:prstDash val="solid"/>
          </a:ln>
        </p:spPr>
      </p:sp>
      <p:sp>
        <p:nvSpPr>
          <p:cNvPr id="109" name="Text 107"/>
          <p:cNvSpPr/>
          <p:nvPr/>
        </p:nvSpPr>
        <p:spPr>
          <a:xfrm>
            <a:off x="1234440" y="6053328"/>
            <a:ext cx="10149840" cy="182880"/>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rPr>
              <a:t>Expected uplift is model-estimated from historical data and should be validated in live deployment.</a:t>
            </a:r>
            <a:endParaRPr lang="en-US" sz="1350" dirty="0"/>
          </a:p>
        </p:txBody>
      </p:sp>
      <p:sp>
        <p:nvSpPr>
          <p:cNvPr id="110" name="Shape 108"/>
          <p:cNvSpPr/>
          <p:nvPr/>
        </p:nvSpPr>
        <p:spPr>
          <a:xfrm>
            <a:off x="320040" y="6400800"/>
            <a:ext cx="11567160" cy="0"/>
          </a:xfrm>
          <a:prstGeom prst="line">
            <a:avLst/>
          </a:prstGeom>
          <a:noFill/>
          <a:ln w="10160">
            <a:solidFill>
              <a:srgbClr val="D7DED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AI: From Attribution to Channel Decisioning</dc:title>
  <dc:subject>Lumen AI VP presentation</dc:subject>
  <dc:creator>OpenAI</dc:creator>
  <cp:lastModifiedBy>OpenAI</cp:lastModifiedBy>
  <cp:revision>1</cp:revision>
  <dcterms:created xsi:type="dcterms:W3CDTF">2026-05-25T18:46:59Z</dcterms:created>
  <dcterms:modified xsi:type="dcterms:W3CDTF">2026-05-25T18:46:59Z</dcterms:modified>
</cp:coreProperties>
</file>