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19456"/>
            <a:ext cx="9509760" cy="475488"/>
          </a:xfrm>
          <a:prstGeom prst="rect">
            <a:avLst/>
          </a:prstGeom>
          <a:noFill/>
          <a:ln/>
        </p:spPr>
        <p:txBody>
          <a:bodyPr wrap="square" lIns="0" tIns="0" rIns="0" bIns="0" rtlCol="0" anchor="ctr"/>
          <a:lstStyle/>
          <a:p>
            <a:pPr indent="0" marL="0">
              <a:buNone/>
            </a:pPr>
            <a:r>
              <a:rPr lang="en-US" sz="2500" b="1" dirty="0">
                <a:solidFill>
                  <a:srgbClr val="263238"/>
                </a:solidFill>
                <a:latin typeface="Calibri" pitchFamily="34" charset="0"/>
                <a:ea typeface="Calibri" pitchFamily="34" charset="-122"/>
                <a:cs typeface="Calibri" pitchFamily="34" charset="-120"/>
              </a:rPr>
              <a:t>Channel Attribution &amp; Prediction — Committed Timeline</a:t>
            </a:r>
            <a:endParaRPr lang="en-US" sz="2500" dirty="0"/>
          </a:p>
        </p:txBody>
      </p:sp>
      <p:sp>
        <p:nvSpPr>
          <p:cNvPr id="3" name="Text 1"/>
          <p:cNvSpPr/>
          <p:nvPr/>
        </p:nvSpPr>
        <p:spPr>
          <a:xfrm>
            <a:off x="9966960" y="274320"/>
            <a:ext cx="1783080" cy="365760"/>
          </a:xfrm>
          <a:prstGeom prst="rect">
            <a:avLst/>
          </a:prstGeom>
          <a:noFill/>
          <a:ln/>
        </p:spPr>
        <p:txBody>
          <a:bodyPr wrap="square" lIns="0" tIns="0" rIns="0" bIns="0" rtlCol="0" anchor="ctr"/>
          <a:lstStyle/>
          <a:p>
            <a:pPr algn="r" indent="0" marL="0">
              <a:buNone/>
            </a:pPr>
            <a:r>
              <a:rPr lang="en-US" sz="1300" b="1" dirty="0">
                <a:solidFill>
                  <a:srgbClr val="007C8C"/>
                </a:solidFill>
                <a:latin typeface="Calibri" pitchFamily="34" charset="0"/>
                <a:ea typeface="Calibri" pitchFamily="34" charset="-122"/>
                <a:cs typeface="Calibri" pitchFamily="34" charset="-120"/>
              </a:rPr>
              <a:t>AI2</a:t>
            </a:r>
            <a:pPr algn="r" indent="0" marL="0">
              <a:buNone/>
            </a:pPr>
            <a:r>
              <a:rPr lang="en-US" sz="1300" dirty="0">
                <a:solidFill>
                  <a:srgbClr val="6B7680"/>
                </a:solidFill>
                <a:latin typeface="Calibri" pitchFamily="34" charset="0"/>
                <a:ea typeface="Calibri" pitchFamily="34" charset="-122"/>
                <a:cs typeface="Calibri" pitchFamily="34" charset="-120"/>
              </a:rPr>
              <a:t>  ·  TD Marketing</a:t>
            </a:r>
            <a:endParaRPr lang="en-US" sz="1300" dirty="0"/>
          </a:p>
        </p:txBody>
      </p:sp>
      <p:sp>
        <p:nvSpPr>
          <p:cNvPr id="4" name="Text 2"/>
          <p:cNvSpPr/>
          <p:nvPr/>
        </p:nvSpPr>
        <p:spPr>
          <a:xfrm>
            <a:off x="411480" y="868680"/>
            <a:ext cx="1234440" cy="310896"/>
          </a:xfrm>
          <a:prstGeom prst="rect">
            <a:avLst/>
          </a:prstGeom>
          <a:noFill/>
          <a:ln/>
        </p:spPr>
        <p:txBody>
          <a:bodyPr wrap="square" lIns="0" tIns="0" rIns="0" bIns="0" rtlCol="0" anchor="ctr"/>
          <a:lstStyle/>
          <a:p>
            <a:pPr indent="0" marL="0">
              <a:buNone/>
            </a:pPr>
            <a:r>
              <a:rPr lang="en-US" sz="950" b="1" spc="200" kern="0" dirty="0">
                <a:solidFill>
                  <a:srgbClr val="6B7680"/>
                </a:solidFill>
                <a:latin typeface="Calibri" pitchFamily="34" charset="0"/>
                <a:ea typeface="Calibri" pitchFamily="34" charset="-122"/>
                <a:cs typeface="Calibri" pitchFamily="34" charset="-120"/>
              </a:rPr>
              <a:t>DONE TO DATE</a:t>
            </a:r>
            <a:endParaRPr lang="en-US" sz="950" dirty="0"/>
          </a:p>
        </p:txBody>
      </p:sp>
      <p:sp>
        <p:nvSpPr>
          <p:cNvPr id="5" name="Shape 3"/>
          <p:cNvSpPr/>
          <p:nvPr/>
        </p:nvSpPr>
        <p:spPr>
          <a:xfrm>
            <a:off x="1737360" y="841248"/>
            <a:ext cx="2514600" cy="365760"/>
          </a:xfrm>
          <a:prstGeom prst="roundRect">
            <a:avLst>
              <a:gd name="adj" fmla="val 22500"/>
            </a:avLst>
          </a:prstGeom>
          <a:solidFill>
            <a:srgbClr val="EAF4EE"/>
          </a:solidFill>
          <a:ln w="9525">
            <a:solidFill>
              <a:srgbClr val="BBD8C6"/>
            </a:solidFill>
            <a:prstDash val="solid"/>
          </a:ln>
        </p:spPr>
      </p:sp>
      <p:sp>
        <p:nvSpPr>
          <p:cNvPr id="6" name="Text 4"/>
          <p:cNvSpPr/>
          <p:nvPr/>
        </p:nvSpPr>
        <p:spPr>
          <a:xfrm>
            <a:off x="1792224" y="841248"/>
            <a:ext cx="2404872" cy="365760"/>
          </a:xfrm>
          <a:prstGeom prst="rect">
            <a:avLst/>
          </a:prstGeom>
          <a:noFill/>
          <a:ln/>
        </p:spPr>
        <p:txBody>
          <a:bodyPr wrap="square" lIns="0" tIns="0" rIns="0" bIns="0" rtlCol="0" anchor="ctr"/>
          <a:lstStyle/>
          <a:p>
            <a:pPr algn="ctr" indent="0" marL="0">
              <a:buNone/>
            </a:pPr>
            <a:r>
              <a:rPr lang="en-US" sz="950" dirty="0">
                <a:solidFill>
                  <a:srgbClr val="0B5D2E"/>
                </a:solidFill>
                <a:latin typeface="Calibri" pitchFamily="34" charset="0"/>
                <a:ea typeface="Calibri" pitchFamily="34" charset="-122"/>
                <a:cs typeface="Calibri" pitchFamily="34" charset="-120"/>
              </a:rPr>
              <a:t>✓  XGBoost + DR model built (uplift + attribution code)</a:t>
            </a:r>
            <a:endParaRPr lang="en-US" sz="950" dirty="0"/>
          </a:p>
        </p:txBody>
      </p:sp>
      <p:sp>
        <p:nvSpPr>
          <p:cNvPr id="7" name="Shape 5"/>
          <p:cNvSpPr/>
          <p:nvPr/>
        </p:nvSpPr>
        <p:spPr>
          <a:xfrm>
            <a:off x="4389120" y="841248"/>
            <a:ext cx="2377440" cy="365760"/>
          </a:xfrm>
          <a:prstGeom prst="roundRect">
            <a:avLst>
              <a:gd name="adj" fmla="val 22500"/>
            </a:avLst>
          </a:prstGeom>
          <a:solidFill>
            <a:srgbClr val="EAF4EE"/>
          </a:solidFill>
          <a:ln w="9525">
            <a:solidFill>
              <a:srgbClr val="BBD8C6"/>
            </a:solidFill>
            <a:prstDash val="solid"/>
          </a:ln>
        </p:spPr>
      </p:sp>
      <p:sp>
        <p:nvSpPr>
          <p:cNvPr id="8" name="Text 6"/>
          <p:cNvSpPr/>
          <p:nvPr/>
        </p:nvSpPr>
        <p:spPr>
          <a:xfrm>
            <a:off x="4443984" y="841248"/>
            <a:ext cx="2267712" cy="365760"/>
          </a:xfrm>
          <a:prstGeom prst="rect">
            <a:avLst/>
          </a:prstGeom>
          <a:noFill/>
          <a:ln/>
        </p:spPr>
        <p:txBody>
          <a:bodyPr wrap="square" lIns="0" tIns="0" rIns="0" bIns="0" rtlCol="0" anchor="ctr"/>
          <a:lstStyle/>
          <a:p>
            <a:pPr algn="ctr" indent="0" marL="0">
              <a:buNone/>
            </a:pPr>
            <a:r>
              <a:rPr lang="en-US" sz="950" dirty="0">
                <a:solidFill>
                  <a:srgbClr val="0B5D2E"/>
                </a:solidFill>
                <a:latin typeface="Calibri" pitchFamily="34" charset="0"/>
                <a:ea typeface="Calibri" pitchFamily="34" charset="-122"/>
                <a:cs typeface="Calibri" pitchFamily="34" charset="-120"/>
              </a:rPr>
              <a:t>✓  Measurement-team AZ access secured</a:t>
            </a:r>
            <a:endParaRPr lang="en-US" sz="950" dirty="0"/>
          </a:p>
        </p:txBody>
      </p:sp>
      <p:sp>
        <p:nvSpPr>
          <p:cNvPr id="9" name="Shape 7"/>
          <p:cNvSpPr/>
          <p:nvPr/>
        </p:nvSpPr>
        <p:spPr>
          <a:xfrm>
            <a:off x="6903720" y="841248"/>
            <a:ext cx="2148840" cy="365760"/>
          </a:xfrm>
          <a:prstGeom prst="roundRect">
            <a:avLst>
              <a:gd name="adj" fmla="val 22500"/>
            </a:avLst>
          </a:prstGeom>
          <a:solidFill>
            <a:srgbClr val="EAF4EE"/>
          </a:solidFill>
          <a:ln w="9525">
            <a:solidFill>
              <a:srgbClr val="BBD8C6"/>
            </a:solidFill>
            <a:prstDash val="solid"/>
          </a:ln>
        </p:spPr>
      </p:sp>
      <p:sp>
        <p:nvSpPr>
          <p:cNvPr id="10" name="Text 8"/>
          <p:cNvSpPr/>
          <p:nvPr/>
        </p:nvSpPr>
        <p:spPr>
          <a:xfrm>
            <a:off x="6958584" y="841248"/>
            <a:ext cx="2039112" cy="365760"/>
          </a:xfrm>
          <a:prstGeom prst="rect">
            <a:avLst/>
          </a:prstGeom>
          <a:noFill/>
          <a:ln/>
        </p:spPr>
        <p:txBody>
          <a:bodyPr wrap="square" lIns="0" tIns="0" rIns="0" bIns="0" rtlCol="0" anchor="ctr"/>
          <a:lstStyle/>
          <a:p>
            <a:pPr algn="ctr" indent="0" marL="0">
              <a:buNone/>
            </a:pPr>
            <a:r>
              <a:rPr lang="en-US" sz="950" dirty="0">
                <a:solidFill>
                  <a:srgbClr val="0B5D2E"/>
                </a:solidFill>
                <a:latin typeface="Calibri" pitchFamily="34" charset="0"/>
                <a:ea typeface="Calibri" pitchFamily="34" charset="-122"/>
                <a:cs typeface="Calibri" pitchFamily="34" charset="-120"/>
              </a:rPr>
              <a:t>✓  GPU + experiment infra in place</a:t>
            </a:r>
            <a:endParaRPr lang="en-US" sz="950" dirty="0"/>
          </a:p>
        </p:txBody>
      </p:sp>
      <p:sp>
        <p:nvSpPr>
          <p:cNvPr id="11" name="Shape 9"/>
          <p:cNvSpPr/>
          <p:nvPr/>
        </p:nvSpPr>
        <p:spPr>
          <a:xfrm>
            <a:off x="9189720" y="841248"/>
            <a:ext cx="2560320" cy="365760"/>
          </a:xfrm>
          <a:prstGeom prst="roundRect">
            <a:avLst>
              <a:gd name="adj" fmla="val 22500"/>
            </a:avLst>
          </a:prstGeom>
          <a:solidFill>
            <a:srgbClr val="EAF4EE"/>
          </a:solidFill>
          <a:ln w="9525">
            <a:solidFill>
              <a:srgbClr val="BBD8C6"/>
            </a:solidFill>
            <a:prstDash val="solid"/>
          </a:ln>
        </p:spPr>
      </p:sp>
      <p:sp>
        <p:nvSpPr>
          <p:cNvPr id="12" name="Text 10"/>
          <p:cNvSpPr/>
          <p:nvPr/>
        </p:nvSpPr>
        <p:spPr>
          <a:xfrm>
            <a:off x="9244584" y="841248"/>
            <a:ext cx="2450592" cy="365760"/>
          </a:xfrm>
          <a:prstGeom prst="rect">
            <a:avLst/>
          </a:prstGeom>
          <a:noFill/>
          <a:ln/>
        </p:spPr>
        <p:txBody>
          <a:bodyPr wrap="square" lIns="0" tIns="0" rIns="0" bIns="0" rtlCol="0" anchor="ctr"/>
          <a:lstStyle/>
          <a:p>
            <a:pPr algn="ctr" indent="0" marL="0">
              <a:buNone/>
            </a:pPr>
            <a:r>
              <a:rPr lang="en-US" sz="950" dirty="0">
                <a:solidFill>
                  <a:srgbClr val="0B5D2E"/>
                </a:solidFill>
                <a:latin typeface="Calibri" pitchFamily="34" charset="0"/>
                <a:ea typeface="Calibri" pitchFamily="34" charset="-122"/>
                <a:cs typeface="Calibri" pitchFamily="34" charset="-120"/>
              </a:rPr>
              <a:t>✓  Transformer research done — build underway</a:t>
            </a:r>
            <a:endParaRPr lang="en-US" sz="950" dirty="0"/>
          </a:p>
        </p:txBody>
      </p:sp>
      <p:sp>
        <p:nvSpPr>
          <p:cNvPr id="13" name="Shape 11"/>
          <p:cNvSpPr/>
          <p:nvPr/>
        </p:nvSpPr>
        <p:spPr>
          <a:xfrm>
            <a:off x="2331720" y="1572768"/>
            <a:ext cx="0" cy="4690872"/>
          </a:xfrm>
          <a:prstGeom prst="line">
            <a:avLst/>
          </a:prstGeom>
          <a:noFill/>
          <a:ln w="9525">
            <a:solidFill>
              <a:srgbClr val="EFF3F0"/>
            </a:solidFill>
            <a:prstDash val="solid"/>
          </a:ln>
        </p:spPr>
      </p:sp>
      <p:sp>
        <p:nvSpPr>
          <p:cNvPr id="14" name="Text 12"/>
          <p:cNvSpPr/>
          <p:nvPr/>
        </p:nvSpPr>
        <p:spPr>
          <a:xfrm>
            <a:off x="1965960" y="1335024"/>
            <a:ext cx="731520" cy="219456"/>
          </a:xfrm>
          <a:prstGeom prst="rect">
            <a:avLst/>
          </a:prstGeom>
          <a:noFill/>
          <a:ln/>
        </p:spPr>
        <p:txBody>
          <a:bodyPr wrap="square" lIns="0" tIns="0" rIns="0" bIns="0" rtlCol="0" anchor="ctr"/>
          <a:lstStyle/>
          <a:p>
            <a:pPr algn="ctr" indent="0" marL="0">
              <a:buNone/>
            </a:pPr>
            <a:r>
              <a:rPr lang="en-US" sz="900" dirty="0">
                <a:solidFill>
                  <a:srgbClr val="6B7680"/>
                </a:solidFill>
                <a:latin typeface="Calibri" pitchFamily="34" charset="0"/>
                <a:ea typeface="Calibri" pitchFamily="34" charset="-122"/>
                <a:cs typeface="Calibri" pitchFamily="34" charset="-120"/>
              </a:rPr>
              <a:t>Sep '26</a:t>
            </a:r>
            <a:endParaRPr lang="en-US" sz="900" dirty="0"/>
          </a:p>
        </p:txBody>
      </p:sp>
      <p:sp>
        <p:nvSpPr>
          <p:cNvPr id="15" name="Shape 13"/>
          <p:cNvSpPr/>
          <p:nvPr/>
        </p:nvSpPr>
        <p:spPr>
          <a:xfrm>
            <a:off x="3511296" y="1572768"/>
            <a:ext cx="0" cy="4690872"/>
          </a:xfrm>
          <a:prstGeom prst="line">
            <a:avLst/>
          </a:prstGeom>
          <a:noFill/>
          <a:ln w="9525">
            <a:solidFill>
              <a:srgbClr val="EFF3F0"/>
            </a:solidFill>
            <a:prstDash val="solid"/>
          </a:ln>
        </p:spPr>
      </p:sp>
      <p:sp>
        <p:nvSpPr>
          <p:cNvPr id="16" name="Text 14"/>
          <p:cNvSpPr/>
          <p:nvPr/>
        </p:nvSpPr>
        <p:spPr>
          <a:xfrm>
            <a:off x="3145536" y="1335024"/>
            <a:ext cx="731520" cy="219456"/>
          </a:xfrm>
          <a:prstGeom prst="rect">
            <a:avLst/>
          </a:prstGeom>
          <a:noFill/>
          <a:ln/>
        </p:spPr>
        <p:txBody>
          <a:bodyPr wrap="square" lIns="0" tIns="0" rIns="0" bIns="0" rtlCol="0" anchor="ctr"/>
          <a:lstStyle/>
          <a:p>
            <a:pPr algn="ctr" indent="0" marL="0">
              <a:buNone/>
            </a:pPr>
            <a:r>
              <a:rPr lang="en-US" sz="900" dirty="0">
                <a:solidFill>
                  <a:srgbClr val="6B7680"/>
                </a:solidFill>
                <a:latin typeface="Calibri" pitchFamily="34" charset="0"/>
                <a:ea typeface="Calibri" pitchFamily="34" charset="-122"/>
                <a:cs typeface="Calibri" pitchFamily="34" charset="-120"/>
              </a:rPr>
              <a:t>Nov</a:t>
            </a:r>
            <a:endParaRPr lang="en-US" sz="900" dirty="0"/>
          </a:p>
        </p:txBody>
      </p:sp>
      <p:sp>
        <p:nvSpPr>
          <p:cNvPr id="17" name="Shape 15"/>
          <p:cNvSpPr/>
          <p:nvPr/>
        </p:nvSpPr>
        <p:spPr>
          <a:xfrm>
            <a:off x="4690872" y="1572768"/>
            <a:ext cx="0" cy="4690872"/>
          </a:xfrm>
          <a:prstGeom prst="line">
            <a:avLst/>
          </a:prstGeom>
          <a:noFill/>
          <a:ln w="9525">
            <a:solidFill>
              <a:srgbClr val="EFF3F0"/>
            </a:solidFill>
            <a:prstDash val="solid"/>
          </a:ln>
        </p:spPr>
      </p:sp>
      <p:sp>
        <p:nvSpPr>
          <p:cNvPr id="18" name="Text 16"/>
          <p:cNvSpPr/>
          <p:nvPr/>
        </p:nvSpPr>
        <p:spPr>
          <a:xfrm>
            <a:off x="4325112" y="1335024"/>
            <a:ext cx="731520" cy="219456"/>
          </a:xfrm>
          <a:prstGeom prst="rect">
            <a:avLst/>
          </a:prstGeom>
          <a:noFill/>
          <a:ln/>
        </p:spPr>
        <p:txBody>
          <a:bodyPr wrap="square" lIns="0" tIns="0" rIns="0" bIns="0" rtlCol="0" anchor="ctr"/>
          <a:lstStyle/>
          <a:p>
            <a:pPr algn="ctr" indent="0" marL="0">
              <a:buNone/>
            </a:pPr>
            <a:r>
              <a:rPr lang="en-US" sz="900" dirty="0">
                <a:solidFill>
                  <a:srgbClr val="6B7680"/>
                </a:solidFill>
                <a:latin typeface="Calibri" pitchFamily="34" charset="0"/>
                <a:ea typeface="Calibri" pitchFamily="34" charset="-122"/>
                <a:cs typeface="Calibri" pitchFamily="34" charset="-120"/>
              </a:rPr>
              <a:t>Jan '27</a:t>
            </a:r>
            <a:endParaRPr lang="en-US" sz="900" dirty="0"/>
          </a:p>
        </p:txBody>
      </p:sp>
      <p:sp>
        <p:nvSpPr>
          <p:cNvPr id="19" name="Shape 17"/>
          <p:cNvSpPr/>
          <p:nvPr/>
        </p:nvSpPr>
        <p:spPr>
          <a:xfrm>
            <a:off x="5870448" y="1572768"/>
            <a:ext cx="0" cy="4690872"/>
          </a:xfrm>
          <a:prstGeom prst="line">
            <a:avLst/>
          </a:prstGeom>
          <a:noFill/>
          <a:ln w="9525">
            <a:solidFill>
              <a:srgbClr val="EFF3F0"/>
            </a:solidFill>
            <a:prstDash val="solid"/>
          </a:ln>
        </p:spPr>
      </p:sp>
      <p:sp>
        <p:nvSpPr>
          <p:cNvPr id="20" name="Text 18"/>
          <p:cNvSpPr/>
          <p:nvPr/>
        </p:nvSpPr>
        <p:spPr>
          <a:xfrm>
            <a:off x="5504688" y="1335024"/>
            <a:ext cx="731520" cy="219456"/>
          </a:xfrm>
          <a:prstGeom prst="rect">
            <a:avLst/>
          </a:prstGeom>
          <a:noFill/>
          <a:ln/>
        </p:spPr>
        <p:txBody>
          <a:bodyPr wrap="square" lIns="0" tIns="0" rIns="0" bIns="0" rtlCol="0" anchor="ctr"/>
          <a:lstStyle/>
          <a:p>
            <a:pPr algn="ctr" indent="0" marL="0">
              <a:buNone/>
            </a:pPr>
            <a:r>
              <a:rPr lang="en-US" sz="900" dirty="0">
                <a:solidFill>
                  <a:srgbClr val="6B7680"/>
                </a:solidFill>
                <a:latin typeface="Calibri" pitchFamily="34" charset="0"/>
                <a:ea typeface="Calibri" pitchFamily="34" charset="-122"/>
                <a:cs typeface="Calibri" pitchFamily="34" charset="-120"/>
              </a:rPr>
              <a:t>Mar</a:t>
            </a:r>
            <a:endParaRPr lang="en-US" sz="900" dirty="0"/>
          </a:p>
        </p:txBody>
      </p:sp>
      <p:sp>
        <p:nvSpPr>
          <p:cNvPr id="21" name="Shape 19"/>
          <p:cNvSpPr/>
          <p:nvPr/>
        </p:nvSpPr>
        <p:spPr>
          <a:xfrm>
            <a:off x="7050024" y="1572768"/>
            <a:ext cx="0" cy="4690872"/>
          </a:xfrm>
          <a:prstGeom prst="line">
            <a:avLst/>
          </a:prstGeom>
          <a:noFill/>
          <a:ln w="9525">
            <a:solidFill>
              <a:srgbClr val="EFF3F0"/>
            </a:solidFill>
            <a:prstDash val="solid"/>
          </a:ln>
        </p:spPr>
      </p:sp>
      <p:sp>
        <p:nvSpPr>
          <p:cNvPr id="22" name="Text 20"/>
          <p:cNvSpPr/>
          <p:nvPr/>
        </p:nvSpPr>
        <p:spPr>
          <a:xfrm>
            <a:off x="6684264" y="1335024"/>
            <a:ext cx="731520" cy="219456"/>
          </a:xfrm>
          <a:prstGeom prst="rect">
            <a:avLst/>
          </a:prstGeom>
          <a:noFill/>
          <a:ln/>
        </p:spPr>
        <p:txBody>
          <a:bodyPr wrap="square" lIns="0" tIns="0" rIns="0" bIns="0" rtlCol="0" anchor="ctr"/>
          <a:lstStyle/>
          <a:p>
            <a:pPr algn="ctr" indent="0" marL="0">
              <a:buNone/>
            </a:pPr>
            <a:r>
              <a:rPr lang="en-US" sz="900" dirty="0">
                <a:solidFill>
                  <a:srgbClr val="6B7680"/>
                </a:solidFill>
                <a:latin typeface="Calibri" pitchFamily="34" charset="0"/>
                <a:ea typeface="Calibri" pitchFamily="34" charset="-122"/>
                <a:cs typeface="Calibri" pitchFamily="34" charset="-120"/>
              </a:rPr>
              <a:t>May</a:t>
            </a:r>
            <a:endParaRPr lang="en-US" sz="900" dirty="0"/>
          </a:p>
        </p:txBody>
      </p:sp>
      <p:sp>
        <p:nvSpPr>
          <p:cNvPr id="23" name="Shape 21"/>
          <p:cNvSpPr/>
          <p:nvPr/>
        </p:nvSpPr>
        <p:spPr>
          <a:xfrm>
            <a:off x="8229600" y="1572768"/>
            <a:ext cx="0" cy="4690872"/>
          </a:xfrm>
          <a:prstGeom prst="line">
            <a:avLst/>
          </a:prstGeom>
          <a:noFill/>
          <a:ln w="9525">
            <a:solidFill>
              <a:srgbClr val="EFF3F0"/>
            </a:solidFill>
            <a:prstDash val="solid"/>
          </a:ln>
        </p:spPr>
      </p:sp>
      <p:sp>
        <p:nvSpPr>
          <p:cNvPr id="24" name="Text 22"/>
          <p:cNvSpPr/>
          <p:nvPr/>
        </p:nvSpPr>
        <p:spPr>
          <a:xfrm>
            <a:off x="7863840" y="1335024"/>
            <a:ext cx="731520" cy="219456"/>
          </a:xfrm>
          <a:prstGeom prst="rect">
            <a:avLst/>
          </a:prstGeom>
          <a:noFill/>
          <a:ln/>
        </p:spPr>
        <p:txBody>
          <a:bodyPr wrap="square" lIns="0" tIns="0" rIns="0" bIns="0" rtlCol="0" anchor="ctr"/>
          <a:lstStyle/>
          <a:p>
            <a:pPr algn="ctr" indent="0" marL="0">
              <a:buNone/>
            </a:pPr>
            <a:r>
              <a:rPr lang="en-US" sz="900" dirty="0">
                <a:solidFill>
                  <a:srgbClr val="6B7680"/>
                </a:solidFill>
                <a:latin typeface="Calibri" pitchFamily="34" charset="0"/>
                <a:ea typeface="Calibri" pitchFamily="34" charset="-122"/>
                <a:cs typeface="Calibri" pitchFamily="34" charset="-120"/>
              </a:rPr>
              <a:t>Jul</a:t>
            </a:r>
            <a:endParaRPr lang="en-US" sz="900" dirty="0"/>
          </a:p>
        </p:txBody>
      </p:sp>
      <p:sp>
        <p:nvSpPr>
          <p:cNvPr id="25" name="Shape 23"/>
          <p:cNvSpPr/>
          <p:nvPr/>
        </p:nvSpPr>
        <p:spPr>
          <a:xfrm>
            <a:off x="9409176" y="1572768"/>
            <a:ext cx="0" cy="4690872"/>
          </a:xfrm>
          <a:prstGeom prst="line">
            <a:avLst/>
          </a:prstGeom>
          <a:noFill/>
          <a:ln w="9525">
            <a:solidFill>
              <a:srgbClr val="EFF3F0"/>
            </a:solidFill>
            <a:prstDash val="solid"/>
          </a:ln>
        </p:spPr>
      </p:sp>
      <p:sp>
        <p:nvSpPr>
          <p:cNvPr id="26" name="Text 24"/>
          <p:cNvSpPr/>
          <p:nvPr/>
        </p:nvSpPr>
        <p:spPr>
          <a:xfrm>
            <a:off x="9043416" y="1335024"/>
            <a:ext cx="731520" cy="219456"/>
          </a:xfrm>
          <a:prstGeom prst="rect">
            <a:avLst/>
          </a:prstGeom>
          <a:noFill/>
          <a:ln/>
        </p:spPr>
        <p:txBody>
          <a:bodyPr wrap="square" lIns="0" tIns="0" rIns="0" bIns="0" rtlCol="0" anchor="ctr"/>
          <a:lstStyle/>
          <a:p>
            <a:pPr algn="ctr" indent="0" marL="0">
              <a:buNone/>
            </a:pPr>
            <a:r>
              <a:rPr lang="en-US" sz="900" dirty="0">
                <a:solidFill>
                  <a:srgbClr val="6B7680"/>
                </a:solidFill>
                <a:latin typeface="Calibri" pitchFamily="34" charset="0"/>
                <a:ea typeface="Calibri" pitchFamily="34" charset="-122"/>
                <a:cs typeface="Calibri" pitchFamily="34" charset="-120"/>
              </a:rPr>
              <a:t>Sep</a:t>
            </a:r>
            <a:endParaRPr lang="en-US" sz="900" dirty="0"/>
          </a:p>
        </p:txBody>
      </p:sp>
      <p:sp>
        <p:nvSpPr>
          <p:cNvPr id="27" name="Shape 25"/>
          <p:cNvSpPr/>
          <p:nvPr/>
        </p:nvSpPr>
        <p:spPr>
          <a:xfrm>
            <a:off x="10588752" y="1572768"/>
            <a:ext cx="0" cy="4690872"/>
          </a:xfrm>
          <a:prstGeom prst="line">
            <a:avLst/>
          </a:prstGeom>
          <a:noFill/>
          <a:ln w="9525">
            <a:solidFill>
              <a:srgbClr val="EFF3F0"/>
            </a:solidFill>
            <a:prstDash val="solid"/>
          </a:ln>
        </p:spPr>
      </p:sp>
      <p:sp>
        <p:nvSpPr>
          <p:cNvPr id="28" name="Text 26"/>
          <p:cNvSpPr/>
          <p:nvPr/>
        </p:nvSpPr>
        <p:spPr>
          <a:xfrm>
            <a:off x="10222992" y="1335024"/>
            <a:ext cx="731520" cy="219456"/>
          </a:xfrm>
          <a:prstGeom prst="rect">
            <a:avLst/>
          </a:prstGeom>
          <a:noFill/>
          <a:ln/>
        </p:spPr>
        <p:txBody>
          <a:bodyPr wrap="square" lIns="0" tIns="0" rIns="0" bIns="0" rtlCol="0" anchor="ctr"/>
          <a:lstStyle/>
          <a:p>
            <a:pPr algn="ctr" indent="0" marL="0">
              <a:buNone/>
            </a:pPr>
            <a:r>
              <a:rPr lang="en-US" sz="900" dirty="0">
                <a:solidFill>
                  <a:srgbClr val="6B7680"/>
                </a:solidFill>
                <a:latin typeface="Calibri" pitchFamily="34" charset="0"/>
                <a:ea typeface="Calibri" pitchFamily="34" charset="-122"/>
                <a:cs typeface="Calibri" pitchFamily="34" charset="-120"/>
              </a:rPr>
              <a:t>Nov</a:t>
            </a:r>
            <a:endParaRPr lang="en-US" sz="900" dirty="0"/>
          </a:p>
        </p:txBody>
      </p:sp>
      <p:sp>
        <p:nvSpPr>
          <p:cNvPr id="29" name="Text 27"/>
          <p:cNvSpPr/>
          <p:nvPr/>
        </p:nvSpPr>
        <p:spPr>
          <a:xfrm>
            <a:off x="320040" y="1920240"/>
            <a:ext cx="1874520" cy="914400"/>
          </a:xfrm>
          <a:prstGeom prst="rect">
            <a:avLst/>
          </a:prstGeom>
          <a:noFill/>
          <a:ln/>
        </p:spPr>
        <p:txBody>
          <a:bodyPr wrap="square" lIns="0" tIns="0" rIns="0" bIns="0" rtlCol="0" anchor="t"/>
          <a:lstStyle/>
          <a:p>
            <a:pPr algn="l" indent="0" marL="0">
              <a:buNone/>
            </a:pPr>
            <a:r>
              <a:rPr lang="en-US" sz="1100" b="1" dirty="0">
                <a:solidFill>
                  <a:srgbClr val="263238"/>
                </a:solidFill>
                <a:latin typeface="Calibri" pitchFamily="34" charset="0"/>
                <a:ea typeface="Calibri" pitchFamily="34" charset="-122"/>
                <a:cs typeface="Calibri" pitchFamily="34" charset="-120"/>
              </a:rPr>
              <a:t>CHANNEL PREDICTION</a:t>
            </a:r>
            <a:endParaRPr lang="en-US" sz="1100" dirty="0"/>
          </a:p>
          <a:p>
            <a:pPr algn="l" indent="0" marL="0">
              <a:buNone/>
            </a:pPr>
            <a:r>
              <a:rPr lang="en-US" sz="850" dirty="0">
                <a:solidFill>
                  <a:srgbClr val="6B7680"/>
                </a:solidFill>
                <a:latin typeface="Calibri" pitchFamily="34" charset="0"/>
                <a:ea typeface="Calibri" pitchFamily="34" charset="-122"/>
                <a:cs typeface="Calibri" pitchFamily="34" charset="-120"/>
              </a:rPr>
              <a:t>Next-best-journey · client: CLIP campaign</a:t>
            </a:r>
            <a:endParaRPr lang="en-US" sz="1100" dirty="0"/>
          </a:p>
          <a:p>
            <a:pPr algn="l" indent="0" marL="0">
              <a:buNone/>
            </a:pPr>
            <a:r>
              <a:rPr lang="en-US" sz="850" dirty="0">
                <a:solidFill>
                  <a:srgbClr val="6B7680"/>
                </a:solidFill>
                <a:latin typeface="Calibri" pitchFamily="34" charset="0"/>
                <a:ea typeface="Calibri" pitchFamily="34" charset="-122"/>
                <a:cs typeface="Calibri" pitchFamily="34" charset="-120"/>
              </a:rPr>
              <a:t>Built on our end (GPU) · MDR required</a:t>
            </a:r>
            <a:endParaRPr lang="en-US" sz="1100" dirty="0"/>
          </a:p>
        </p:txBody>
      </p:sp>
      <p:sp>
        <p:nvSpPr>
          <p:cNvPr id="30" name="Text 28"/>
          <p:cNvSpPr/>
          <p:nvPr/>
        </p:nvSpPr>
        <p:spPr>
          <a:xfrm>
            <a:off x="320040" y="4315968"/>
            <a:ext cx="1874520" cy="1097280"/>
          </a:xfrm>
          <a:prstGeom prst="rect">
            <a:avLst/>
          </a:prstGeom>
          <a:noFill/>
          <a:ln/>
        </p:spPr>
        <p:txBody>
          <a:bodyPr wrap="square" lIns="0" tIns="0" rIns="0" bIns="0" rtlCol="0" anchor="t"/>
          <a:lstStyle/>
          <a:p>
            <a:pPr algn="l" indent="0" marL="0">
              <a:buNone/>
            </a:pPr>
            <a:r>
              <a:rPr lang="en-US" sz="1100" b="1" dirty="0">
                <a:solidFill>
                  <a:srgbClr val="263238"/>
                </a:solidFill>
                <a:latin typeface="Calibri" pitchFamily="34" charset="0"/>
                <a:ea typeface="Calibri" pitchFamily="34" charset="-122"/>
                <a:cs typeface="Calibri" pitchFamily="34" charset="-120"/>
              </a:rPr>
              <a:t>CHANNEL ATTRIBUTION</a:t>
            </a:r>
            <a:endParaRPr lang="en-US" sz="1100" dirty="0"/>
          </a:p>
          <a:p>
            <a:pPr algn="l" indent="0" marL="0">
              <a:buNone/>
            </a:pPr>
            <a:r>
              <a:rPr lang="en-US" sz="850" dirty="0">
                <a:solidFill>
                  <a:srgbClr val="6B7680"/>
                </a:solidFill>
                <a:latin typeface="Calibri" pitchFamily="34" charset="0"/>
                <a:ea typeface="Calibri" pitchFamily="34" charset="-122"/>
                <a:cs typeface="Calibri" pitchFamily="34" charset="-120"/>
              </a:rPr>
              <a:t>MTA / MMM · client: measurement team</a:t>
            </a:r>
            <a:endParaRPr lang="en-US" sz="1100" dirty="0"/>
          </a:p>
          <a:p>
            <a:pPr algn="l" indent="0" marL="0">
              <a:buNone/>
            </a:pPr>
            <a:r>
              <a:rPr lang="en-US" sz="850" dirty="0">
                <a:solidFill>
                  <a:srgbClr val="6B7680"/>
                </a:solidFill>
                <a:latin typeface="Calibri" pitchFamily="34" charset="0"/>
                <a:ea typeface="Calibri" pitchFamily="34" charset="-122"/>
                <a:cs typeface="Calibri" pitchFamily="34" charset="-120"/>
              </a:rPr>
              <a:t>V1–V2 on their AZ (no prod approval)</a:t>
            </a:r>
            <a:endParaRPr lang="en-US" sz="1100" dirty="0"/>
          </a:p>
          <a:p>
            <a:pPr algn="l" indent="0" marL="0">
              <a:buNone/>
            </a:pPr>
            <a:r>
              <a:rPr lang="en-US" sz="850" dirty="0">
                <a:solidFill>
                  <a:srgbClr val="6B7680"/>
                </a:solidFill>
                <a:latin typeface="Calibri" pitchFamily="34" charset="0"/>
                <a:ea typeface="Calibri" pitchFamily="34" charset="-122"/>
                <a:cs typeface="Calibri" pitchFamily="34" charset="-120"/>
              </a:rPr>
              <a:t>V3 on our end (GPU) → validation</a:t>
            </a:r>
            <a:endParaRPr lang="en-US" sz="1100" dirty="0"/>
          </a:p>
        </p:txBody>
      </p:sp>
      <p:sp>
        <p:nvSpPr>
          <p:cNvPr id="31" name="Shape 29"/>
          <p:cNvSpPr/>
          <p:nvPr/>
        </p:nvSpPr>
        <p:spPr>
          <a:xfrm>
            <a:off x="2240280" y="2208276"/>
            <a:ext cx="9281160" cy="82296"/>
          </a:xfrm>
          <a:prstGeom prst="roundRect">
            <a:avLst>
              <a:gd name="adj" fmla="val 50000"/>
            </a:avLst>
          </a:prstGeom>
          <a:solidFill>
            <a:srgbClr val="DCE5DF"/>
          </a:solidFill>
          <a:ln/>
        </p:spPr>
      </p:sp>
      <p:sp>
        <p:nvSpPr>
          <p:cNvPr id="32" name="Shape 30"/>
          <p:cNvSpPr/>
          <p:nvPr/>
        </p:nvSpPr>
        <p:spPr>
          <a:xfrm>
            <a:off x="2240280" y="4585716"/>
            <a:ext cx="9281160" cy="82296"/>
          </a:xfrm>
          <a:prstGeom prst="roundRect">
            <a:avLst>
              <a:gd name="adj" fmla="val 50000"/>
            </a:avLst>
          </a:prstGeom>
          <a:solidFill>
            <a:srgbClr val="DCE5DF"/>
          </a:solidFill>
          <a:ln/>
        </p:spPr>
      </p:sp>
      <p:sp>
        <p:nvSpPr>
          <p:cNvPr id="33" name="Shape 31"/>
          <p:cNvSpPr/>
          <p:nvPr/>
        </p:nvSpPr>
        <p:spPr>
          <a:xfrm>
            <a:off x="4101084" y="2157984"/>
            <a:ext cx="1769364" cy="182880"/>
          </a:xfrm>
          <a:prstGeom prst="roundRect">
            <a:avLst>
              <a:gd name="adj" fmla="val 45000"/>
            </a:avLst>
          </a:prstGeom>
          <a:solidFill>
            <a:srgbClr val="E6F2F4"/>
          </a:solidFill>
          <a:ln w="9525">
            <a:solidFill>
              <a:srgbClr val="9FC6CC"/>
            </a:solidFill>
            <a:prstDash val="dash"/>
          </a:ln>
        </p:spPr>
      </p:sp>
      <p:sp>
        <p:nvSpPr>
          <p:cNvPr id="34" name="Text 32"/>
          <p:cNvSpPr/>
          <p:nvPr/>
        </p:nvSpPr>
        <p:spPr>
          <a:xfrm>
            <a:off x="3826764" y="1938528"/>
            <a:ext cx="2318004" cy="201168"/>
          </a:xfrm>
          <a:prstGeom prst="rect">
            <a:avLst/>
          </a:prstGeom>
          <a:noFill/>
          <a:ln/>
        </p:spPr>
        <p:txBody>
          <a:bodyPr wrap="square" lIns="0" tIns="0" rIns="0" bIns="0" rtlCol="0" anchor="ctr"/>
          <a:lstStyle/>
          <a:p>
            <a:pPr algn="ctr" indent="0" marL="0">
              <a:buNone/>
            </a:pPr>
            <a:r>
              <a:rPr lang="en-US" sz="800" i="1" dirty="0">
                <a:solidFill>
                  <a:srgbClr val="007C8C"/>
                </a:solidFill>
                <a:latin typeface="Calibri" pitchFamily="34" charset="0"/>
                <a:ea typeface="Calibri" pitchFamily="34" charset="-122"/>
                <a:cs typeface="Calibri" pitchFamily="34" charset="-120"/>
              </a:rPr>
              <a:t>MDR / Model Validation · Dec–Feb</a:t>
            </a:r>
            <a:endParaRPr lang="en-US" sz="800" dirty="0"/>
          </a:p>
        </p:txBody>
      </p:sp>
      <p:sp>
        <p:nvSpPr>
          <p:cNvPr id="35" name="Shape 33"/>
          <p:cNvSpPr/>
          <p:nvPr/>
        </p:nvSpPr>
        <p:spPr>
          <a:xfrm>
            <a:off x="8229600" y="4535424"/>
            <a:ext cx="1769364" cy="182880"/>
          </a:xfrm>
          <a:prstGeom prst="roundRect">
            <a:avLst>
              <a:gd name="adj" fmla="val 45000"/>
            </a:avLst>
          </a:prstGeom>
          <a:solidFill>
            <a:srgbClr val="E6F2F4"/>
          </a:solidFill>
          <a:ln w="9525">
            <a:solidFill>
              <a:srgbClr val="9FC6CC"/>
            </a:solidFill>
            <a:prstDash val="dash"/>
          </a:ln>
        </p:spPr>
      </p:sp>
      <p:sp>
        <p:nvSpPr>
          <p:cNvPr id="36" name="Text 34"/>
          <p:cNvSpPr/>
          <p:nvPr/>
        </p:nvSpPr>
        <p:spPr>
          <a:xfrm>
            <a:off x="7955280" y="4315968"/>
            <a:ext cx="2318004" cy="201168"/>
          </a:xfrm>
          <a:prstGeom prst="rect">
            <a:avLst/>
          </a:prstGeom>
          <a:noFill/>
          <a:ln/>
        </p:spPr>
        <p:txBody>
          <a:bodyPr wrap="square" lIns="0" tIns="0" rIns="0" bIns="0" rtlCol="0" anchor="ctr"/>
          <a:lstStyle/>
          <a:p>
            <a:pPr algn="ctr" indent="0" marL="0">
              <a:buNone/>
            </a:pPr>
            <a:r>
              <a:rPr lang="en-US" sz="800" i="1" dirty="0">
                <a:solidFill>
                  <a:srgbClr val="007C8C"/>
                </a:solidFill>
                <a:latin typeface="Calibri" pitchFamily="34" charset="0"/>
                <a:ea typeface="Calibri" pitchFamily="34" charset="-122"/>
                <a:cs typeface="Calibri" pitchFamily="34" charset="-120"/>
              </a:rPr>
              <a:t>Model Validation · Jul–Sep</a:t>
            </a:r>
            <a:endParaRPr lang="en-US" sz="800" dirty="0"/>
          </a:p>
        </p:txBody>
      </p:sp>
      <p:sp>
        <p:nvSpPr>
          <p:cNvPr id="37" name="Shape 35"/>
          <p:cNvSpPr/>
          <p:nvPr/>
        </p:nvSpPr>
        <p:spPr>
          <a:xfrm>
            <a:off x="2167128" y="2084832"/>
            <a:ext cx="329184" cy="329184"/>
          </a:xfrm>
          <a:prstGeom prst="ellipse">
            <a:avLst/>
          </a:prstGeom>
          <a:solidFill>
            <a:srgbClr val="00843D"/>
          </a:solidFill>
          <a:ln w="25400">
            <a:solidFill>
              <a:srgbClr val="00843D"/>
            </a:solidFill>
            <a:prstDash val="solid"/>
          </a:ln>
        </p:spPr>
      </p:sp>
      <p:sp>
        <p:nvSpPr>
          <p:cNvPr id="38" name="Text 36"/>
          <p:cNvSpPr/>
          <p:nvPr/>
        </p:nvSpPr>
        <p:spPr>
          <a:xfrm>
            <a:off x="2167128" y="20848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9" name="Shape 37"/>
          <p:cNvSpPr/>
          <p:nvPr/>
        </p:nvSpPr>
        <p:spPr>
          <a:xfrm>
            <a:off x="3936492" y="2084832"/>
            <a:ext cx="329184" cy="329184"/>
          </a:xfrm>
          <a:prstGeom prst="ellipse">
            <a:avLst/>
          </a:prstGeom>
          <a:solidFill>
            <a:srgbClr val="FFFFFF"/>
          </a:solidFill>
          <a:ln w="25400">
            <a:solidFill>
              <a:srgbClr val="00843D"/>
            </a:solidFill>
            <a:prstDash val="solid"/>
          </a:ln>
        </p:spPr>
      </p:sp>
      <p:sp>
        <p:nvSpPr>
          <p:cNvPr id="40" name="Shape 38"/>
          <p:cNvSpPr/>
          <p:nvPr/>
        </p:nvSpPr>
        <p:spPr>
          <a:xfrm>
            <a:off x="6000750" y="2084832"/>
            <a:ext cx="329184" cy="329184"/>
          </a:xfrm>
          <a:prstGeom prst="ellipse">
            <a:avLst/>
          </a:prstGeom>
          <a:solidFill>
            <a:srgbClr val="FFFFFF"/>
          </a:solidFill>
          <a:ln w="25400">
            <a:solidFill>
              <a:srgbClr val="007C8C"/>
            </a:solidFill>
            <a:prstDash val="solid"/>
          </a:ln>
        </p:spPr>
      </p:sp>
      <p:sp>
        <p:nvSpPr>
          <p:cNvPr id="41" name="Shape 39"/>
          <p:cNvSpPr/>
          <p:nvPr/>
        </p:nvSpPr>
        <p:spPr>
          <a:xfrm>
            <a:off x="2756916" y="4462272"/>
            <a:ext cx="329184" cy="329184"/>
          </a:xfrm>
          <a:prstGeom prst="ellipse">
            <a:avLst/>
          </a:prstGeom>
          <a:solidFill>
            <a:srgbClr val="FFFFFF"/>
          </a:solidFill>
          <a:ln w="25400">
            <a:solidFill>
              <a:srgbClr val="00843D"/>
            </a:solidFill>
            <a:prstDash val="solid"/>
          </a:ln>
        </p:spPr>
      </p:sp>
      <p:sp>
        <p:nvSpPr>
          <p:cNvPr id="42" name="Shape 40"/>
          <p:cNvSpPr/>
          <p:nvPr/>
        </p:nvSpPr>
        <p:spPr>
          <a:xfrm>
            <a:off x="5116068" y="4462272"/>
            <a:ext cx="329184" cy="329184"/>
          </a:xfrm>
          <a:prstGeom prst="ellipse">
            <a:avLst/>
          </a:prstGeom>
          <a:solidFill>
            <a:srgbClr val="FFFFFF"/>
          </a:solidFill>
          <a:ln w="25400">
            <a:solidFill>
              <a:srgbClr val="00843D"/>
            </a:solidFill>
            <a:prstDash val="solid"/>
          </a:ln>
        </p:spPr>
      </p:sp>
      <p:sp>
        <p:nvSpPr>
          <p:cNvPr id="43" name="Shape 41"/>
          <p:cNvSpPr/>
          <p:nvPr/>
        </p:nvSpPr>
        <p:spPr>
          <a:xfrm>
            <a:off x="8065008" y="4462272"/>
            <a:ext cx="329184" cy="329184"/>
          </a:xfrm>
          <a:prstGeom prst="ellipse">
            <a:avLst/>
          </a:prstGeom>
          <a:solidFill>
            <a:srgbClr val="FFFFFF"/>
          </a:solidFill>
          <a:ln w="25400">
            <a:solidFill>
              <a:srgbClr val="00843D"/>
            </a:solidFill>
            <a:prstDash val="solid"/>
          </a:ln>
        </p:spPr>
      </p:sp>
      <p:sp>
        <p:nvSpPr>
          <p:cNvPr id="44" name="Shape 42"/>
          <p:cNvSpPr/>
          <p:nvPr/>
        </p:nvSpPr>
        <p:spPr>
          <a:xfrm>
            <a:off x="10129266" y="4462272"/>
            <a:ext cx="329184" cy="329184"/>
          </a:xfrm>
          <a:prstGeom prst="ellipse">
            <a:avLst/>
          </a:prstGeom>
          <a:solidFill>
            <a:srgbClr val="FFFFFF"/>
          </a:solidFill>
          <a:ln w="25400">
            <a:solidFill>
              <a:srgbClr val="007C8C"/>
            </a:solidFill>
            <a:prstDash val="solid"/>
          </a:ln>
        </p:spPr>
      </p:sp>
      <p:sp>
        <p:nvSpPr>
          <p:cNvPr id="45" name="Text 43"/>
          <p:cNvSpPr/>
          <p:nvPr/>
        </p:nvSpPr>
        <p:spPr>
          <a:xfrm>
            <a:off x="2221992" y="2487168"/>
            <a:ext cx="1298448" cy="1005840"/>
          </a:xfrm>
          <a:prstGeom prst="rect">
            <a:avLst/>
          </a:prstGeom>
          <a:noFill/>
          <a:ln/>
        </p:spPr>
        <p:txBody>
          <a:bodyPr wrap="square" lIns="0" tIns="0" rIns="0" bIns="0" rtlCol="0" anchor="t"/>
          <a:lstStyle/>
          <a:p>
            <a:pPr algn="l" indent="0" marL="0">
              <a:buNone/>
            </a:pPr>
            <a:r>
              <a:rPr lang="en-US" sz="1050" b="1" dirty="0">
                <a:solidFill>
                  <a:srgbClr val="0B5D2E"/>
                </a:solidFill>
                <a:latin typeface="Calibri" pitchFamily="34" charset="0"/>
                <a:ea typeface="Calibri" pitchFamily="34" charset="-122"/>
                <a:cs typeface="Calibri" pitchFamily="34" charset="-120"/>
              </a:rPr>
              <a:t>✓ Delivered Aug '26</a:t>
            </a:r>
            <a:endParaRPr lang="en-US" sz="1050" dirty="0"/>
          </a:p>
          <a:p>
            <a:pPr algn="l" indent="0" marL="0">
              <a:buNone/>
            </a:pPr>
            <a:r>
              <a:rPr lang="en-US" sz="1000" b="1" dirty="0">
                <a:solidFill>
                  <a:srgbClr val="263238"/>
                </a:solidFill>
                <a:latin typeface="Calibri" pitchFamily="34" charset="0"/>
                <a:ea typeface="Calibri" pitchFamily="34" charset="-122"/>
                <a:cs typeface="Calibri" pitchFamily="34" charset="-120"/>
              </a:rPr>
              <a:t>P·V1 — XGB + DR uplift</a:t>
            </a:r>
            <a:endParaRPr lang="en-US" sz="1050" dirty="0"/>
          </a:p>
          <a:p>
            <a:pPr algn="l" indent="0" marL="0">
              <a:buNone/>
            </a:pPr>
            <a:r>
              <a:rPr lang="en-US" sz="850" dirty="0">
                <a:solidFill>
                  <a:srgbClr val="6B7680"/>
                </a:solidFill>
                <a:latin typeface="Calibri" pitchFamily="34" charset="0"/>
                <a:ea typeface="Calibri" pitchFamily="34" charset="-122"/>
                <a:cs typeface="Calibri" pitchFamily="34" charset="-120"/>
              </a:rPr>
              <a:t>baseline; codebase reused for attribution V1</a:t>
            </a:r>
            <a:endParaRPr lang="en-US" sz="1050" dirty="0"/>
          </a:p>
        </p:txBody>
      </p:sp>
      <p:sp>
        <p:nvSpPr>
          <p:cNvPr id="46" name="Text 44"/>
          <p:cNvSpPr/>
          <p:nvPr/>
        </p:nvSpPr>
        <p:spPr>
          <a:xfrm>
            <a:off x="3598164" y="2487168"/>
            <a:ext cx="1920240" cy="1097280"/>
          </a:xfrm>
          <a:prstGeom prst="rect">
            <a:avLst/>
          </a:prstGeom>
          <a:noFill/>
          <a:ln/>
        </p:spPr>
        <p:txBody>
          <a:bodyPr wrap="square" lIns="0" tIns="0" rIns="0" bIns="0" rtlCol="0" anchor="t"/>
          <a:lstStyle/>
          <a:p>
            <a:pPr algn="l" indent="0" marL="0">
              <a:buNone/>
            </a:pPr>
            <a:r>
              <a:rPr lang="en-US" sz="1050" b="1" dirty="0">
                <a:solidFill>
                  <a:srgbClr val="0B5D2E"/>
                </a:solidFill>
                <a:latin typeface="Calibri" pitchFamily="34" charset="0"/>
                <a:ea typeface="Calibri" pitchFamily="34" charset="-122"/>
                <a:cs typeface="Calibri" pitchFamily="34" charset="-120"/>
              </a:rPr>
              <a:t>Nov 30, 2026 </a:t>
            </a:r>
            <a:pPr algn="l" indent="0" marL="0">
              <a:buNone/>
            </a:pPr>
            <a:r>
              <a:rPr lang="en-US" sz="850" dirty="0">
                <a:solidFill>
                  <a:srgbClr val="6B7680"/>
                </a:solidFill>
                <a:latin typeface="Calibri" pitchFamily="34" charset="0"/>
                <a:ea typeface="Calibri" pitchFamily="34" charset="-122"/>
                <a:cs typeface="Calibri" pitchFamily="34" charset="-120"/>
              </a:rPr>
              <a:t>(target Oct 31)</a:t>
            </a:r>
            <a:endParaRPr lang="en-US" sz="1050" dirty="0"/>
          </a:p>
          <a:p>
            <a:pPr algn="l" indent="0" marL="0">
              <a:buNone/>
            </a:pPr>
            <a:r>
              <a:rPr lang="en-US" sz="1000" b="1" dirty="0">
                <a:solidFill>
                  <a:srgbClr val="263238"/>
                </a:solidFill>
                <a:latin typeface="Calibri" pitchFamily="34" charset="0"/>
                <a:ea typeface="Calibri" pitchFamily="34" charset="-122"/>
                <a:cs typeface="Calibri" pitchFamily="34" charset="-120"/>
              </a:rPr>
              <a:t>P·V2 — Transformer next-best-journey</a:t>
            </a:r>
            <a:endParaRPr lang="en-US" sz="1050" dirty="0"/>
          </a:p>
          <a:p>
            <a:pPr algn="l" indent="0" marL="0">
              <a:buNone/>
            </a:pPr>
            <a:r>
              <a:rPr lang="en-US" sz="850" dirty="0">
                <a:solidFill>
                  <a:srgbClr val="6B7680"/>
                </a:solidFill>
                <a:latin typeface="Calibri" pitchFamily="34" charset="0"/>
                <a:ea typeface="Calibri" pitchFamily="34" charset="-122"/>
                <a:cs typeface="Calibri" pitchFamily="34" charset="-120"/>
              </a:rPr>
              <a:t>no XGB V2 — we jump straight to the transformer; holds team priority through Oct</a:t>
            </a:r>
            <a:endParaRPr lang="en-US" sz="1050" dirty="0"/>
          </a:p>
        </p:txBody>
      </p:sp>
      <p:sp>
        <p:nvSpPr>
          <p:cNvPr id="47" name="Text 45"/>
          <p:cNvSpPr/>
          <p:nvPr/>
        </p:nvSpPr>
        <p:spPr>
          <a:xfrm>
            <a:off x="5845302" y="2487168"/>
            <a:ext cx="1600200" cy="1005840"/>
          </a:xfrm>
          <a:prstGeom prst="rect">
            <a:avLst/>
          </a:prstGeom>
          <a:noFill/>
          <a:ln/>
        </p:spPr>
        <p:txBody>
          <a:bodyPr wrap="square" lIns="0" tIns="0" rIns="0" bIns="0" rtlCol="0" anchor="t"/>
          <a:lstStyle/>
          <a:p>
            <a:pPr algn="l" indent="0" marL="0">
              <a:buNone/>
            </a:pPr>
            <a:r>
              <a:rPr lang="en-US" sz="1050" b="1" dirty="0">
                <a:solidFill>
                  <a:srgbClr val="007C8C"/>
                </a:solidFill>
                <a:latin typeface="Calibri" pitchFamily="34" charset="0"/>
                <a:ea typeface="Calibri" pitchFamily="34" charset="-122"/>
                <a:cs typeface="Calibri" pitchFamily="34" charset="-120"/>
              </a:rPr>
              <a:t>Mar 2027</a:t>
            </a:r>
            <a:endParaRPr lang="en-US" sz="1050" dirty="0"/>
          </a:p>
          <a:p>
            <a:pPr algn="l" indent="0" marL="0">
              <a:buNone/>
            </a:pPr>
            <a:r>
              <a:rPr lang="en-US" sz="1000" b="1" dirty="0">
                <a:solidFill>
                  <a:srgbClr val="263238"/>
                </a:solidFill>
                <a:latin typeface="Calibri" pitchFamily="34" charset="0"/>
                <a:ea typeface="Calibri" pitchFamily="34" charset="-122"/>
                <a:cs typeface="Calibri" pitchFamily="34" charset="-120"/>
              </a:rPr>
              <a:t>Production</a:t>
            </a:r>
            <a:endParaRPr lang="en-US" sz="1050" dirty="0"/>
          </a:p>
          <a:p>
            <a:pPr algn="l" indent="0" marL="0">
              <a:buNone/>
            </a:pPr>
            <a:r>
              <a:rPr lang="en-US" sz="850" dirty="0">
                <a:solidFill>
                  <a:srgbClr val="6B7680"/>
                </a:solidFill>
                <a:latin typeface="Calibri" pitchFamily="34" charset="0"/>
                <a:ea typeface="Calibri" pitchFamily="34" charset="-122"/>
                <a:cs typeface="Calibri" pitchFamily="34" charset="-120"/>
              </a:rPr>
              <a:t>campaign uses it from Apr 2027</a:t>
            </a:r>
            <a:endParaRPr lang="en-US" sz="1050" dirty="0"/>
          </a:p>
        </p:txBody>
      </p:sp>
      <p:sp>
        <p:nvSpPr>
          <p:cNvPr id="48" name="Text 46"/>
          <p:cNvSpPr/>
          <p:nvPr/>
        </p:nvSpPr>
        <p:spPr>
          <a:xfrm>
            <a:off x="2784348" y="4864608"/>
            <a:ext cx="1417320" cy="1280160"/>
          </a:xfrm>
          <a:prstGeom prst="rect">
            <a:avLst/>
          </a:prstGeom>
          <a:noFill/>
          <a:ln/>
        </p:spPr>
        <p:txBody>
          <a:bodyPr wrap="square" lIns="0" tIns="0" rIns="0" bIns="0" rtlCol="0" anchor="t"/>
          <a:lstStyle/>
          <a:p>
            <a:pPr algn="l" indent="0" marL="0">
              <a:buNone/>
            </a:pPr>
            <a:r>
              <a:rPr lang="en-US" sz="1050" b="1" dirty="0">
                <a:solidFill>
                  <a:srgbClr val="0B5D2E"/>
                </a:solidFill>
                <a:latin typeface="Calibri" pitchFamily="34" charset="0"/>
                <a:ea typeface="Calibri" pitchFamily="34" charset="-122"/>
                <a:cs typeface="Calibri" pitchFamily="34" charset="-120"/>
              </a:rPr>
              <a:t>Sep 30, 2026</a:t>
            </a:r>
            <a:endParaRPr lang="en-US" sz="1050" dirty="0"/>
          </a:p>
          <a:p>
            <a:pPr algn="l" indent="0" marL="0">
              <a:buNone/>
            </a:pPr>
            <a:r>
              <a:rPr lang="en-US" sz="1000" b="1" dirty="0">
                <a:solidFill>
                  <a:srgbClr val="263238"/>
                </a:solidFill>
                <a:latin typeface="Calibri" pitchFamily="34" charset="0"/>
                <a:ea typeface="Calibri" pitchFamily="34" charset="-122"/>
                <a:cs typeface="Calibri" pitchFamily="34" charset="-120"/>
              </a:rPr>
              <a:t>A·V1 — Fractional attribution (their AZ)</a:t>
            </a:r>
            <a:endParaRPr lang="en-US" sz="1050" dirty="0"/>
          </a:p>
          <a:p>
            <a:pPr algn="l" indent="0" marL="0">
              <a:buNone/>
            </a:pPr>
            <a:r>
              <a:rPr lang="en-US" sz="850" dirty="0">
                <a:solidFill>
                  <a:srgbClr val="6B7680"/>
                </a:solidFill>
                <a:latin typeface="Calibri" pitchFamily="34" charset="0"/>
                <a:ea typeface="Calibri" pitchFamily="34" charset="-122"/>
                <a:cs typeface="Calibri" pitchFamily="34" charset="-120"/>
              </a:rPr>
              <a:t>XGB + DR code exists (~2 wk); used directly — no approval delay</a:t>
            </a:r>
            <a:endParaRPr lang="en-US" sz="1050" dirty="0"/>
          </a:p>
        </p:txBody>
      </p:sp>
      <p:sp>
        <p:nvSpPr>
          <p:cNvPr id="49" name="Text 47"/>
          <p:cNvSpPr/>
          <p:nvPr/>
        </p:nvSpPr>
        <p:spPr>
          <a:xfrm>
            <a:off x="4549140" y="4864608"/>
            <a:ext cx="2606040" cy="621792"/>
          </a:xfrm>
          <a:prstGeom prst="rect">
            <a:avLst/>
          </a:prstGeom>
          <a:noFill/>
          <a:ln/>
        </p:spPr>
        <p:txBody>
          <a:bodyPr wrap="square" lIns="0" tIns="0" rIns="0" bIns="0" rtlCol="0" anchor="t"/>
          <a:lstStyle/>
          <a:p>
            <a:pPr algn="l" indent="0" marL="0">
              <a:buNone/>
            </a:pPr>
            <a:r>
              <a:rPr lang="en-US" sz="1000" b="1" dirty="0">
                <a:solidFill>
                  <a:srgbClr val="263238"/>
                </a:solidFill>
                <a:latin typeface="Calibri" pitchFamily="34" charset="0"/>
                <a:ea typeface="Calibri" pitchFamily="34" charset="-122"/>
                <a:cs typeface="Calibri" pitchFamily="34" charset="-120"/>
              </a:rPr>
              <a:t>A·V2 — MMM-informed attribution (XGB + DR, their AZ)</a:t>
            </a:r>
            <a:endParaRPr lang="en-US" sz="1000" dirty="0"/>
          </a:p>
          <a:p>
            <a:pPr algn="l" indent="0" marL="0">
              <a:buNone/>
            </a:pPr>
            <a:r>
              <a:rPr lang="en-US" sz="850" dirty="0">
                <a:solidFill>
                  <a:srgbClr val="6B7680"/>
                </a:solidFill>
                <a:latin typeface="Calibri" pitchFamily="34" charset="0"/>
                <a:ea typeface="Calibri" pitchFamily="34" charset="-122"/>
                <a:cs typeface="Calibri" pitchFamily="34" charset="-120"/>
              </a:rPr>
              <a:t>starts Nov, once the transformer enters MDR · needs MMM ROI extracts + incrementality results</a:t>
            </a:r>
            <a:endParaRPr lang="en-US" sz="1000" dirty="0"/>
          </a:p>
        </p:txBody>
      </p:sp>
      <p:sp>
        <p:nvSpPr>
          <p:cNvPr id="50" name="Shape 48"/>
          <p:cNvSpPr/>
          <p:nvPr/>
        </p:nvSpPr>
        <p:spPr>
          <a:xfrm>
            <a:off x="4549140" y="5541264"/>
            <a:ext cx="2697480" cy="420624"/>
          </a:xfrm>
          <a:prstGeom prst="roundRect">
            <a:avLst>
              <a:gd name="adj" fmla="val 15217"/>
            </a:avLst>
          </a:prstGeom>
          <a:solidFill>
            <a:srgbClr val="F5F7F6"/>
          </a:solidFill>
          <a:ln w="9525">
            <a:solidFill>
              <a:srgbClr val="C9D2CC"/>
            </a:solidFill>
            <a:prstDash val="solid"/>
          </a:ln>
        </p:spPr>
      </p:sp>
      <p:sp>
        <p:nvSpPr>
          <p:cNvPr id="51" name="Shape 49"/>
          <p:cNvSpPr/>
          <p:nvPr/>
        </p:nvSpPr>
        <p:spPr>
          <a:xfrm>
            <a:off x="4640580" y="5641848"/>
            <a:ext cx="713232" cy="219456"/>
          </a:xfrm>
          <a:prstGeom prst="roundRect">
            <a:avLst>
              <a:gd name="adj" fmla="val 33333"/>
            </a:avLst>
          </a:prstGeom>
          <a:solidFill>
            <a:srgbClr val="00843D"/>
          </a:solidFill>
          <a:ln/>
        </p:spPr>
      </p:sp>
      <p:sp>
        <p:nvSpPr>
          <p:cNvPr id="52" name="Text 50"/>
          <p:cNvSpPr/>
          <p:nvPr/>
        </p:nvSpPr>
        <p:spPr>
          <a:xfrm>
            <a:off x="4640580" y="5641848"/>
            <a:ext cx="713232"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SIMPLE</a:t>
            </a:r>
            <a:endParaRPr lang="en-US" sz="850" dirty="0"/>
          </a:p>
        </p:txBody>
      </p:sp>
      <p:sp>
        <p:nvSpPr>
          <p:cNvPr id="53" name="Text 51"/>
          <p:cNvSpPr/>
          <p:nvPr/>
        </p:nvSpPr>
        <p:spPr>
          <a:xfrm>
            <a:off x="5426964" y="5541264"/>
            <a:ext cx="1783080" cy="420624"/>
          </a:xfrm>
          <a:prstGeom prst="rect">
            <a:avLst/>
          </a:prstGeom>
          <a:noFill/>
          <a:ln/>
        </p:spPr>
        <p:txBody>
          <a:bodyPr wrap="square" lIns="0" tIns="0" rIns="0" bIns="0" rtlCol="0" anchor="ctr"/>
          <a:lstStyle/>
          <a:p>
            <a:pPr algn="l" indent="0" marL="0">
              <a:buNone/>
            </a:pPr>
            <a:r>
              <a:rPr lang="en-US" sz="900" dirty="0">
                <a:solidFill>
                  <a:srgbClr val="263238"/>
                </a:solidFill>
                <a:latin typeface="Calibri" pitchFamily="34" charset="0"/>
                <a:ea typeface="Calibri" pitchFamily="34" charset="-122"/>
                <a:cs typeface="Calibri" pitchFamily="34" charset="-120"/>
              </a:rPr>
              <a:t>Calibration  </a:t>
            </a:r>
            <a:pPr algn="l" indent="0" marL="0">
              <a:buNone/>
            </a:pPr>
            <a:r>
              <a:rPr lang="en-US" sz="950" b="1" dirty="0">
                <a:solidFill>
                  <a:srgbClr val="0B5D2E"/>
                </a:solidFill>
                <a:latin typeface="Calibri" pitchFamily="34" charset="0"/>
                <a:ea typeface="Calibri" pitchFamily="34" charset="-122"/>
                <a:cs typeface="Calibri" pitchFamily="34" charset="-120"/>
              </a:rPr>
              <a:t>Jan 29, 2027</a:t>
            </a:r>
            <a:endParaRPr lang="en-US" sz="900" dirty="0"/>
          </a:p>
        </p:txBody>
      </p:sp>
      <p:sp>
        <p:nvSpPr>
          <p:cNvPr id="54" name="Shape 52"/>
          <p:cNvSpPr/>
          <p:nvPr/>
        </p:nvSpPr>
        <p:spPr>
          <a:xfrm>
            <a:off x="4549140" y="5961888"/>
            <a:ext cx="2697480" cy="420624"/>
          </a:xfrm>
          <a:prstGeom prst="roundRect">
            <a:avLst>
              <a:gd name="adj" fmla="val 15217"/>
            </a:avLst>
          </a:prstGeom>
          <a:solidFill>
            <a:srgbClr val="F5F7F6"/>
          </a:solidFill>
          <a:ln w="9525">
            <a:solidFill>
              <a:srgbClr val="C9D2CC"/>
            </a:solidFill>
            <a:prstDash val="solid"/>
          </a:ln>
        </p:spPr>
      </p:sp>
      <p:sp>
        <p:nvSpPr>
          <p:cNvPr id="55" name="Shape 53"/>
          <p:cNvSpPr/>
          <p:nvPr/>
        </p:nvSpPr>
        <p:spPr>
          <a:xfrm>
            <a:off x="4640580" y="6062472"/>
            <a:ext cx="713232" cy="219456"/>
          </a:xfrm>
          <a:prstGeom prst="roundRect">
            <a:avLst>
              <a:gd name="adj" fmla="val 33333"/>
            </a:avLst>
          </a:prstGeom>
          <a:solidFill>
            <a:srgbClr val="007C8C"/>
          </a:solidFill>
          <a:ln/>
        </p:spPr>
      </p:sp>
      <p:sp>
        <p:nvSpPr>
          <p:cNvPr id="56" name="Text 54"/>
          <p:cNvSpPr/>
          <p:nvPr/>
        </p:nvSpPr>
        <p:spPr>
          <a:xfrm>
            <a:off x="4640580" y="6062472"/>
            <a:ext cx="713232"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BAYESIAN</a:t>
            </a:r>
            <a:endParaRPr lang="en-US" sz="850" dirty="0"/>
          </a:p>
        </p:txBody>
      </p:sp>
      <p:sp>
        <p:nvSpPr>
          <p:cNvPr id="57" name="Text 55"/>
          <p:cNvSpPr/>
          <p:nvPr/>
        </p:nvSpPr>
        <p:spPr>
          <a:xfrm>
            <a:off x="5426964" y="5961888"/>
            <a:ext cx="1783080" cy="420624"/>
          </a:xfrm>
          <a:prstGeom prst="rect">
            <a:avLst/>
          </a:prstGeom>
          <a:noFill/>
          <a:ln/>
        </p:spPr>
        <p:txBody>
          <a:bodyPr wrap="square" lIns="0" tIns="0" rIns="0" bIns="0" rtlCol="0" anchor="ctr"/>
          <a:lstStyle/>
          <a:p>
            <a:pPr algn="l" indent="0" marL="0">
              <a:buNone/>
            </a:pPr>
            <a:r>
              <a:rPr lang="en-US" sz="900" dirty="0">
                <a:solidFill>
                  <a:srgbClr val="263238"/>
                </a:solidFill>
                <a:latin typeface="Calibri" pitchFamily="34" charset="0"/>
                <a:ea typeface="Calibri" pitchFamily="34" charset="-122"/>
                <a:cs typeface="Calibri" pitchFamily="34" charset="-120"/>
              </a:rPr>
              <a:t>Priors  </a:t>
            </a:r>
            <a:pPr algn="l" indent="0" marL="0">
              <a:buNone/>
            </a:pPr>
            <a:r>
              <a:rPr lang="en-US" sz="950" b="1" dirty="0">
                <a:solidFill>
                  <a:srgbClr val="007C8C"/>
                </a:solidFill>
                <a:latin typeface="Calibri" pitchFamily="34" charset="0"/>
                <a:ea typeface="Calibri" pitchFamily="34" charset="-122"/>
                <a:cs typeface="Calibri" pitchFamily="34" charset="-120"/>
              </a:rPr>
              <a:t>Mar 31, 2027</a:t>
            </a:r>
            <a:endParaRPr lang="en-US" sz="900" dirty="0"/>
          </a:p>
        </p:txBody>
      </p:sp>
      <p:sp>
        <p:nvSpPr>
          <p:cNvPr id="58" name="Text 56"/>
          <p:cNvSpPr/>
          <p:nvPr/>
        </p:nvSpPr>
        <p:spPr>
          <a:xfrm>
            <a:off x="7726680" y="4864608"/>
            <a:ext cx="1874520" cy="1188720"/>
          </a:xfrm>
          <a:prstGeom prst="rect">
            <a:avLst/>
          </a:prstGeom>
          <a:noFill/>
          <a:ln/>
        </p:spPr>
        <p:txBody>
          <a:bodyPr wrap="square" lIns="0" tIns="0" rIns="0" bIns="0" rtlCol="0" anchor="t"/>
          <a:lstStyle/>
          <a:p>
            <a:pPr algn="l" indent="0" marL="0">
              <a:buNone/>
            </a:pPr>
            <a:r>
              <a:rPr lang="en-US" sz="1050" b="1" dirty="0">
                <a:solidFill>
                  <a:srgbClr val="0B5D2E"/>
                </a:solidFill>
                <a:latin typeface="Calibri" pitchFamily="34" charset="0"/>
                <a:ea typeface="Calibri" pitchFamily="34" charset="-122"/>
                <a:cs typeface="Calibri" pitchFamily="34" charset="-120"/>
              </a:rPr>
              <a:t>Jun 30, 2027</a:t>
            </a:r>
            <a:endParaRPr lang="en-US" sz="1050" dirty="0"/>
          </a:p>
          <a:p>
            <a:pPr algn="l" indent="0" marL="0">
              <a:buNone/>
            </a:pPr>
            <a:r>
              <a:rPr lang="en-US" sz="1000" b="1" dirty="0">
                <a:solidFill>
                  <a:srgbClr val="263238"/>
                </a:solidFill>
                <a:latin typeface="Calibri" pitchFamily="34" charset="0"/>
                <a:ea typeface="Calibri" pitchFamily="34" charset="-122"/>
                <a:cs typeface="Calibri" pitchFamily="34" charset="-120"/>
              </a:rPr>
              <a:t>A·V3 — Transformer attribution, on our end</a:t>
            </a:r>
            <a:endParaRPr lang="en-US" sz="1050" dirty="0"/>
          </a:p>
          <a:p>
            <a:pPr algn="l" indent="0" marL="0">
              <a:buNone/>
            </a:pPr>
            <a:r>
              <a:rPr lang="en-US" sz="850" dirty="0">
                <a:solidFill>
                  <a:srgbClr val="6B7680"/>
                </a:solidFill>
                <a:latin typeface="Calibri" pitchFamily="34" charset="0"/>
                <a:ea typeface="Calibri" pitchFamily="34" charset="-122"/>
                <a:cs typeface="Calibri" pitchFamily="34" charset="-120"/>
              </a:rPr>
              <a:t>needs GPU (their AZ has none); reuses the predictive data pipeline + infra</a:t>
            </a:r>
            <a:endParaRPr lang="en-US" sz="1050" dirty="0"/>
          </a:p>
        </p:txBody>
      </p:sp>
      <p:sp>
        <p:nvSpPr>
          <p:cNvPr id="59" name="Text 57"/>
          <p:cNvSpPr/>
          <p:nvPr/>
        </p:nvSpPr>
        <p:spPr>
          <a:xfrm>
            <a:off x="9973818" y="4864608"/>
            <a:ext cx="1600200" cy="1005840"/>
          </a:xfrm>
          <a:prstGeom prst="rect">
            <a:avLst/>
          </a:prstGeom>
          <a:noFill/>
          <a:ln/>
        </p:spPr>
        <p:txBody>
          <a:bodyPr wrap="square" lIns="0" tIns="0" rIns="0" bIns="0" rtlCol="0" anchor="t"/>
          <a:lstStyle/>
          <a:p>
            <a:pPr algn="l" indent="0" marL="0">
              <a:buNone/>
            </a:pPr>
            <a:r>
              <a:rPr lang="en-US" sz="1050" b="1" dirty="0">
                <a:solidFill>
                  <a:srgbClr val="007C8C"/>
                </a:solidFill>
                <a:latin typeface="Calibri" pitchFamily="34" charset="0"/>
                <a:ea typeface="Calibri" pitchFamily="34" charset="-122"/>
                <a:cs typeface="Calibri" pitchFamily="34" charset="-120"/>
              </a:rPr>
              <a:t>Target Q4 2027</a:t>
            </a:r>
            <a:endParaRPr lang="en-US" sz="1050" dirty="0"/>
          </a:p>
          <a:p>
            <a:pPr algn="l" indent="0" marL="0">
              <a:buNone/>
            </a:pPr>
            <a:r>
              <a:rPr lang="en-US" sz="1000" b="1" dirty="0">
                <a:solidFill>
                  <a:srgbClr val="263238"/>
                </a:solidFill>
                <a:latin typeface="Calibri" pitchFamily="34" charset="0"/>
                <a:ea typeface="Calibri" pitchFamily="34" charset="-122"/>
                <a:cs typeface="Calibri" pitchFamily="34" charset="-120"/>
              </a:rPr>
              <a:t>Deployment</a:t>
            </a:r>
            <a:endParaRPr lang="en-US" sz="1050" dirty="0"/>
          </a:p>
          <a:p>
            <a:pPr algn="l" indent="0" marL="0">
              <a:buNone/>
            </a:pPr>
            <a:r>
              <a:rPr lang="en-US" sz="850" dirty="0">
                <a:solidFill>
                  <a:srgbClr val="6B7680"/>
                </a:solidFill>
                <a:latin typeface="Calibri" pitchFamily="34" charset="0"/>
                <a:ea typeface="Calibri" pitchFamily="34" charset="-122"/>
                <a:cs typeface="Calibri" pitchFamily="34" charset="-120"/>
              </a:rPr>
              <a:t>after Model Validation (Jul–Sep)</a:t>
            </a:r>
            <a:endParaRPr lang="en-US" sz="1050" dirty="0"/>
          </a:p>
        </p:txBody>
      </p:sp>
      <p:sp>
        <p:nvSpPr>
          <p:cNvPr id="60" name="Text 58"/>
          <p:cNvSpPr/>
          <p:nvPr/>
        </p:nvSpPr>
        <p:spPr>
          <a:xfrm>
            <a:off x="411480" y="6382512"/>
            <a:ext cx="11384280" cy="438912"/>
          </a:xfrm>
          <a:prstGeom prst="rect">
            <a:avLst/>
          </a:prstGeom>
          <a:noFill/>
          <a:ln/>
        </p:spPr>
        <p:txBody>
          <a:bodyPr wrap="square" lIns="0" tIns="0" rIns="0" bIns="0" rtlCol="0" anchor="ctr"/>
          <a:lstStyle/>
          <a:p>
            <a:pPr algn="l" indent="0" marL="0">
              <a:buNone/>
            </a:pPr>
            <a:r>
              <a:rPr lang="en-US" sz="900" i="1" dirty="0">
                <a:solidFill>
                  <a:srgbClr val="6B7680"/>
                </a:solidFill>
                <a:latin typeface="Calibri" pitchFamily="34" charset="0"/>
                <a:ea typeface="Calibri" pitchFamily="34" charset="-122"/>
                <a:cs typeface="Calibri" pitchFamily="34" charset="-120"/>
              </a:rPr>
              <a:t>Committed dates include buffer · 2 FTEs across both streams — the prediction transformer holds priority through Oct 2026, then attribution takes the freed capacity while the MDR runs · Attribution V1–V2 run as analytics on the measurement team's AZ, so no production-model approval is needed; V3 is trained on our end and follows the validation path, which is why it reaches them later · External inputs: MMM ROI extracts, incrementality test results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475488"/>
          </a:xfrm>
          <a:prstGeom prst="rect">
            <a:avLst/>
          </a:prstGeom>
          <a:noFill/>
          <a:ln/>
        </p:spPr>
        <p:txBody>
          <a:bodyPr wrap="square" lIns="0" tIns="0" rIns="0" bIns="0" rtlCol="0" anchor="ctr"/>
          <a:lstStyle/>
          <a:p>
            <a:pPr indent="0" marL="0">
              <a:buNone/>
            </a:pPr>
            <a:r>
              <a:rPr lang="en-US" sz="2400" b="1" dirty="0">
                <a:solidFill>
                  <a:srgbClr val="263238"/>
                </a:solidFill>
                <a:latin typeface="Calibri" pitchFamily="34" charset="0"/>
                <a:ea typeface="Calibri" pitchFamily="34" charset="-122"/>
                <a:cs typeface="Calibri" pitchFamily="34" charset="-120"/>
              </a:rPr>
              <a:t>Basis of Estimates — Where Built, Who Uses It, What's Reused</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896112"/>
          <a:ext cx="11064240" cy="914400"/>
        </p:xfrm>
        <a:graphic>
          <a:graphicData uri="http://schemas.openxmlformats.org/drawingml/2006/table">
            <a:tbl>
              <a:tblPr/>
              <a:tblGrid>
                <a:gridCol w="1737360"/>
                <a:gridCol w="1554480"/>
                <a:gridCol w="777240"/>
                <a:gridCol w="1691640"/>
                <a:gridCol w="530352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Milestone</a:t>
                      </a:r>
                      <a:endParaRPr lang="en-US" sz="105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solidFill>
                      <a:srgbClr val="0B5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Built where</a:t>
                      </a:r>
                      <a:endParaRPr lang="en-US" sz="105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solidFill>
                      <a:srgbClr val="0B5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Effort</a:t>
                      </a:r>
                      <a:endParaRPr lang="en-US" sz="105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solidFill>
                      <a:srgbClr val="0B5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Committed date</a:t>
                      </a:r>
                      <a:endParaRPr lang="en-US" sz="105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solidFill>
                      <a:srgbClr val="0B5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Who uses it · notes &amp; reuse</a:t>
                      </a:r>
                      <a:endParaRPr lang="en-US" sz="105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solidFill>
                      <a:srgbClr val="0B5D2E"/>
                    </a:solidFill>
                  </a:tcPr>
                </a:tc>
              </a:tr>
              <a:tr h="457200">
                <a:tc>
                  <a:txBody>
                    <a:bodyPr/>
                    <a:lstStyle/>
                    <a:p>
                      <a:pPr indent="0" marL="0">
                        <a:buNone/>
                      </a:pPr>
                      <a:r>
                        <a:rPr lang="en-US" sz="1000" b="1" dirty="0">
                          <a:solidFill>
                            <a:srgbClr val="0B5D2E"/>
                          </a:solidFill>
                          <a:latin typeface="Calibri" pitchFamily="34" charset="0"/>
                          <a:ea typeface="Calibri" pitchFamily="34" charset="-122"/>
                          <a:cs typeface="Calibri" pitchFamily="34" charset="-120"/>
                        </a:rPr>
                        <a:t>P·V1 — uplift model (done)</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Our AZ</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2 wk</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Delivered Aug 2026</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6B7680"/>
                          </a:solidFill>
                          <a:latin typeface="Calibri" pitchFamily="34" charset="0"/>
                          <a:ea typeface="Calibri" pitchFamily="34" charset="-122"/>
                          <a:cs typeface="Calibri" pitchFamily="34" charset="-120"/>
                        </a:rPr>
                        <a:t>Team-internal baseline (XGB + DR, uplift training). Codebase is reused for attribution V1.</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r>
              <a:tr h="457200">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P·V2 — transformer next-best-journey</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Our end (GPU)</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~8 wk</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Nov 30, 2026 (target Oct 31)</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6B7680"/>
                          </a:solidFill>
                          <a:latin typeface="Calibri" pitchFamily="34" charset="0"/>
                          <a:ea typeface="Calibri" pitchFamily="34" charset="-122"/>
                          <a:cs typeface="Calibri" pitchFamily="34" charset="-120"/>
                        </a:rPr>
                        <a:t>CLIP campaign, after approval. No XGB V2 — we jump straight to the transformer; it holds team priority through Oct.</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r>
              <a:tr h="457200">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P — production</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MDR → prod</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Dec–Feb</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Mar 2027 · campaign use Apr</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6B7680"/>
                          </a:solidFill>
                          <a:latin typeface="Calibri" pitchFamily="34" charset="0"/>
                          <a:ea typeface="Calibri" pitchFamily="34" charset="-122"/>
                          <a:cs typeface="Calibri" pitchFamily="34" charset="-120"/>
                        </a:rPr>
                        <a:t>MDR opens once the model is finalized; extension possible with justification.</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r>
              <a:tr h="457200">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A·V1 — fractional attribution</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Measurement team's AZ</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2 wk</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Sep 30, 2026</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6B7680"/>
                          </a:solidFill>
                          <a:latin typeface="Calibri" pitchFamily="34" charset="0"/>
                          <a:ea typeface="Calibri" pitchFamily="34" charset="-122"/>
                          <a:cs typeface="Calibri" pitchFamily="34" charset="-120"/>
                        </a:rPr>
                        <a:t>Measurement team, directly. Runs as analytics on their AZ (access in hand) — no production-model approval, no deployment delay. Building on our end instead would require the full data pipeline + validation (≈ +8–10 wk).</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r>
              <a:tr h="457200">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A·V2 — MMM-informed attribution</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Measurement team's AZ (XGB + DR)</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4–6 wk</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Simple: Jan 29, 2027</a:t>
                      </a:r>
                      <a:endParaRPr lang="en-US" sz="1000" dirty="0">
                        <a:latin typeface="Calibri" charset="0"/>
                        <a:ea typeface="Calibri" charset="0"/>
                        <a:cs typeface="Calibri" charset="0"/>
                      </a:endParaRPr>
                    </a:p>
                    <a:p>
                      <a:pPr indent="0" marL="0">
                        <a:buNone/>
                      </a:pPr>
                      <a:r>
                        <a:rPr lang="en-US" sz="1000" b="1" dirty="0">
                          <a:solidFill>
                            <a:srgbClr val="263238"/>
                          </a:solidFill>
                          <a:latin typeface="Calibri" pitchFamily="34" charset="0"/>
                          <a:ea typeface="Calibri" pitchFamily="34" charset="-122"/>
                          <a:cs typeface="Calibri" pitchFamily="34" charset="-120"/>
                        </a:rPr>
                        <a:t>Bayesian: Mar 31, 2027</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6B7680"/>
                          </a:solidFill>
                          <a:latin typeface="Calibri" pitchFamily="34" charset="0"/>
                          <a:ea typeface="Calibri" pitchFamily="34" charset="-122"/>
                          <a:cs typeface="Calibri" pitchFamily="34" charset="-120"/>
                        </a:rPr>
                        <a:t>Measurement team. Starts Nov, once the transformer is in MDR. Needs MMM ROI extracts + incrementality test results. Calibration logic later reusable as priors/regularizer for the transformer.</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r>
              <a:tr h="457200">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A·V3 — transformer attribution</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Our end (GPU — their AZ has none)</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~8 wk</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Model: Jun 30, 2027</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6B7680"/>
                          </a:solidFill>
                          <a:latin typeface="Calibri" pitchFamily="34" charset="0"/>
                          <a:ea typeface="Calibri" pitchFamily="34" charset="-122"/>
                          <a:cs typeface="Calibri" pitchFamily="34" charset="-120"/>
                        </a:rPr>
                        <a:t>Reuses the predictive model's data pipeline + GPU infra, so it is a build, not a research project. Add ~8 wk if the MMM must be built in-house first.</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r>
              <a:tr h="457200">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A — deployment</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Model Validation → prod</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263238"/>
                          </a:solidFill>
                          <a:latin typeface="Calibri" pitchFamily="34" charset="0"/>
                          <a:ea typeface="Calibri" pitchFamily="34" charset="-122"/>
                          <a:cs typeface="Calibri" pitchFamily="34" charset="-120"/>
                        </a:rPr>
                        <a:t>Jul–Sep</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b="1" dirty="0">
                          <a:solidFill>
                            <a:srgbClr val="263238"/>
                          </a:solidFill>
                          <a:latin typeface="Calibri" pitchFamily="34" charset="0"/>
                          <a:ea typeface="Calibri" pitchFamily="34" charset="-122"/>
                          <a:cs typeface="Calibri" pitchFamily="34" charset="-120"/>
                        </a:rPr>
                        <a:t>Target Q4 2027</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c>
                  <a:txBody>
                    <a:bodyPr/>
                    <a:lstStyle/>
                    <a:p>
                      <a:pPr indent="0" marL="0">
                        <a:buNone/>
                      </a:pPr>
                      <a:r>
                        <a:rPr lang="en-US" sz="1000" dirty="0">
                          <a:solidFill>
                            <a:srgbClr val="6B7680"/>
                          </a:solidFill>
                          <a:latin typeface="Calibri" pitchFamily="34" charset="0"/>
                          <a:ea typeface="Calibri" pitchFamily="34" charset="-122"/>
                          <a:cs typeface="Calibri" pitchFamily="34" charset="-120"/>
                        </a:rPr>
                        <a:t>Measurement team + downstream reporting. Lands later because prediction is prioritized and V3 must pass validation (new architecture ⇒ new approval path).</a:t>
                      </a:r>
                      <a:endParaRPr lang="en-US" sz="1000" dirty="0">
                        <a:latin typeface="Calibri" charset="0"/>
                        <a:ea typeface="Calibri" charset="0"/>
                        <a:cs typeface="Calibri" charset="0"/>
                      </a:endParaRPr>
                    </a:p>
                  </a:txBody>
                  <a:tcPr marL="54864" marR="54864" marT="54864" marB="54864" anchor="ctr">
                    <a:lnL w="9525" cap="flat" cmpd="sng" algn="ctr">
                      <a:solidFill>
                        <a:srgbClr val="C9D2CC"/>
                      </a:solidFill>
                      <a:prstDash val="solid"/>
                      <a:round/>
                      <a:headEnd type="none" w="med" len="med"/>
                      <a:tailEnd type="none" w="med" len="med"/>
                    </a:lnL>
                    <a:lnR w="9525" cap="flat" cmpd="sng" algn="ctr">
                      <a:solidFill>
                        <a:srgbClr val="C9D2CC"/>
                      </a:solidFill>
                      <a:prstDash val="solid"/>
                      <a:round/>
                      <a:headEnd type="none" w="med" len="med"/>
                      <a:tailEnd type="none" w="med" len="med"/>
                    </a:lnR>
                    <a:lnT w="9525" cap="flat" cmpd="sng" algn="ctr">
                      <a:solidFill>
                        <a:srgbClr val="C9D2CC"/>
                      </a:solidFill>
                      <a:prstDash val="solid"/>
                      <a:round/>
                      <a:headEnd type="none" w="med" len="med"/>
                      <a:tailEnd type="none" w="med" len="med"/>
                    </a:lnT>
                    <a:lnB w="9525" cap="flat" cmpd="sng" algn="ctr">
                      <a:solidFill>
                        <a:srgbClr val="C9D2CC"/>
                      </a:solidFill>
                      <a:prstDash val="solid"/>
                      <a:round/>
                      <a:headEnd type="none" w="med" len="med"/>
                      <a:tailEnd type="none" w="med" len="med"/>
                    </a:lnB>
                  </a:tcPr>
                </a:tc>
              </a:tr>
            </a:tbl>
          </a:graphicData>
        </a:graphic>
      </p:graphicFrame>
      <p:sp>
        <p:nvSpPr>
          <p:cNvPr id="4" name="Shape 1"/>
          <p:cNvSpPr/>
          <p:nvPr/>
        </p:nvSpPr>
        <p:spPr>
          <a:xfrm>
            <a:off x="548640" y="5138928"/>
            <a:ext cx="11064240" cy="914400"/>
          </a:xfrm>
          <a:prstGeom prst="roundRect">
            <a:avLst>
              <a:gd name="adj" fmla="val 10000"/>
            </a:avLst>
          </a:prstGeom>
          <a:solidFill>
            <a:srgbClr val="E6F2F4"/>
          </a:solidFill>
          <a:ln w="9525">
            <a:solidFill>
              <a:srgbClr val="BFD9DD"/>
            </a:solidFill>
            <a:prstDash val="solid"/>
          </a:ln>
        </p:spPr>
      </p:sp>
      <p:sp>
        <p:nvSpPr>
          <p:cNvPr id="5" name="Text 2"/>
          <p:cNvSpPr/>
          <p:nvPr/>
        </p:nvSpPr>
        <p:spPr>
          <a:xfrm>
            <a:off x="777240" y="5138928"/>
            <a:ext cx="10607040" cy="914400"/>
          </a:xfrm>
          <a:prstGeom prst="rect">
            <a:avLst/>
          </a:prstGeom>
          <a:noFill/>
          <a:ln/>
        </p:spPr>
        <p:txBody>
          <a:bodyPr wrap="square" lIns="0" tIns="0" rIns="0" bIns="0" rtlCol="0" anchor="ctr"/>
          <a:lstStyle/>
          <a:p>
            <a:pPr algn="l" indent="0" marL="0">
              <a:buNone/>
            </a:pPr>
            <a:r>
              <a:rPr lang="en-US" sz="1050" b="1" dirty="0">
                <a:solidFill>
                  <a:srgbClr val="263238"/>
                </a:solidFill>
                <a:latin typeface="Calibri" pitchFamily="34" charset="0"/>
                <a:ea typeface="Calibri" pitchFamily="34" charset="-122"/>
                <a:cs typeface="Calibri" pitchFamily="34" charset="-120"/>
              </a:rPr>
              <a:t>Sequencing rationale.  </a:t>
            </a:r>
            <a:pPr algn="l" indent="0" marL="0">
              <a:buNone/>
            </a:pPr>
            <a:r>
              <a:rPr lang="en-US" sz="1050" dirty="0">
                <a:solidFill>
                  <a:srgbClr val="263238"/>
                </a:solidFill>
                <a:latin typeface="Calibri" pitchFamily="34" charset="0"/>
                <a:ea typeface="Calibri" pitchFamily="34" charset="-122"/>
                <a:cs typeface="Calibri" pitchFamily="34" charset="-120"/>
              </a:rPr>
              <a:t>Anything built on our end must pass Model Validation before a partner can use it, so attribution V1–V2 are deliberately built on the measurement team's AZ for immediate use, and the approval path is reserved for the transformer versions. The prediction transformer holds priority through October; attribution work interleaves (V1) and then absorbs the freed capacity while the MDR runs. Dates are commitments with buffer, not best-case estimates.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2026-08-19T15:44:03Z</dcterms:created>
  <dcterms:modified xsi:type="dcterms:W3CDTF">2026-08-19T15:44:03Z</dcterms:modified>
</cp:coreProperties>
</file>